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417320"/>
            <a:ext cx="2011680" cy="3200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C4A35A"/>
                </a:solidFill>
                <a:latin typeface="Calibri"/>
              </a:rPr>
              <a:t>FUTURE CFO_DP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097280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Before Ten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880360"/>
            <a:ext cx="100584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0">
                <a:solidFill>
                  <a:srgbClr val="F7F4EE"/>
                </a:solidFill>
                <a:latin typeface="Calibri"/>
              </a:rPr>
              <a:t>The statement has not landed.
The website still says 5.25%.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97680"/>
            <a:ext cx="100584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C4A35A"/>
                </a:solidFill>
                <a:latin typeface="Calibri"/>
              </a:rPr>
              <a:t>Decision morning  ·  7 October 2026  ·  before the 10:00 IST statement
Teaching case for business students  ·  labelled composite firm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80644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Created and Copyright by Dr. Debasis Pahi  ·  Model Degree College Malkangiri  ·  Ph.D., IIT Kharagpur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6583680"/>
            <a:ext cx="932688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Future CFO_DP  |  Created and Copyright by Dr. Debasis Pahi  |  7 October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583680"/>
            <a:ext cx="146304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C4A35A"/>
                </a:solidFill>
                <a:latin typeface="Calibri"/>
              </a:rPr>
              <a:t>1  / 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C4A35A"/>
                </a:solidFill>
                <a:latin typeface="Calibri"/>
              </a:rPr>
              <a:t>THE RULE FOR THIS MORNING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0B1F33"/>
                </a:solidFill>
                <a:latin typeface="Calibri"/>
              </a:rPr>
              <a:t>Five lines. Do not shuffle them.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828800" cy="3200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08760"/>
            <a:ext cx="1124712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18488"/>
            <a:ext cx="47548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0B1F33"/>
                </a:solidFill>
                <a:latin typeface="Calibri"/>
              </a:rPr>
              <a:t>AI generates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0" y="1673351"/>
            <a:ext cx="58521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1C2430"/>
                </a:solidFill>
                <a:latin typeface="Calibri"/>
              </a:rPr>
              <a:t>the three columns, before breakfast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377439"/>
            <a:ext cx="1124712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487168"/>
            <a:ext cx="47548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0B1F33"/>
                </a:solidFill>
                <a:latin typeface="Calibri"/>
              </a:rPr>
              <a:t>DATA informs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0" y="2542032"/>
            <a:ext cx="58521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1C2430"/>
                </a:solidFill>
                <a:latin typeface="Calibri"/>
              </a:rPr>
              <a:t>the poll, the print, the bond, the rupee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246120"/>
            <a:ext cx="1124712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355848"/>
            <a:ext cx="47548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0B1F33"/>
                </a:solidFill>
                <a:latin typeface="Calibri"/>
              </a:rPr>
              <a:t>FINANCE measures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3410712"/>
            <a:ext cx="58521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1C2430"/>
                </a:solidFill>
                <a:latin typeface="Calibri"/>
              </a:rPr>
              <a:t>25 bp on Rs 480 crore = Rs 1.20 crore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114800"/>
            <a:ext cx="1124712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224528"/>
            <a:ext cx="47548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0B1F33"/>
                </a:solidFill>
                <a:latin typeface="Calibri"/>
              </a:rPr>
              <a:t>ACCOUNTING verifies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0" y="4279392"/>
            <a:ext cx="58521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1C2430"/>
                </a:solidFill>
                <a:latin typeface="Calibri"/>
              </a:rPr>
              <a:t>Ind AS 109 does not remeasure a speech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983479"/>
            <a:ext cx="1124712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5093207"/>
            <a:ext cx="47548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0B1F33"/>
                </a:solidFill>
                <a:latin typeface="Calibri"/>
              </a:rPr>
              <a:t>HUMAN JUDGMENT decides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0" y="5148071"/>
            <a:ext cx="58521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1C2430"/>
                </a:solidFill>
                <a:latin typeface="Calibri"/>
              </a:rPr>
              <a:t>which risk the chair owns at noon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6583680"/>
            <a:ext cx="932688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Future CFO_DP  |  Created and Copyright by Dr. Debasis Pahi  |  7 October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0" y="6583680"/>
            <a:ext cx="146304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C4A35A"/>
                </a:solidFill>
                <a:latin typeface="Calibri"/>
              </a:rPr>
              <a:t>2  / 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C4A35A"/>
                </a:solidFill>
                <a:latin typeface="Calibri"/>
              </a:rPr>
              <a:t>PUBLIC RECORD  ·  MORNING OF 7 OCTOBER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0972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>
                <a:solidFill>
                  <a:srgbClr val="0B1F33"/>
                </a:solidFill>
                <a:latin typeface="Calibri"/>
              </a:rPr>
              <a:t>What is known. What is not.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21031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0B1F33"/>
                </a:solidFill>
                <a:latin typeface="Calibri"/>
              </a:rPr>
              <a:t>5.25%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1399032"/>
            <a:ext cx="89611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1C2430"/>
                </a:solidFill>
                <a:latin typeface="Calibri"/>
              </a:rPr>
              <a:t>Policy repo still on the RBI home page. SDF 5.00%. MSF and Bank Rate 5.50%.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21031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0B1F33"/>
                </a:solidFill>
                <a:latin typeface="Calibri"/>
              </a:rPr>
              <a:t>10:00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2359152"/>
            <a:ext cx="89611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1C2430"/>
                </a:solidFill>
                <a:latin typeface="Calibri"/>
              </a:rPr>
              <a:t>Governor Sanjay Malhotra’s statement. Press conference at noon. Not yet delivered.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46120"/>
            <a:ext cx="21031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0B1F33"/>
                </a:solidFill>
                <a:latin typeface="Calibri"/>
              </a:rPr>
              <a:t>35 of 61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3319272"/>
            <a:ext cx="89611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1C2430"/>
                </a:solidFill>
                <a:latin typeface="Calibri"/>
              </a:rPr>
              <a:t>Reuters poll, 18–28 Sep 2026, expected +25 bp to 5.50%. First hike since Feb 2023 if it happens.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206240"/>
            <a:ext cx="21031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0B1F33"/>
                </a:solidFill>
                <a:latin typeface="Calibri"/>
              </a:rPr>
              <a:t>4.82%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4279392"/>
            <a:ext cx="89611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1C2430"/>
                </a:solidFill>
                <a:latin typeface="Calibri"/>
              </a:rPr>
              <a:t>August CPI, Reuters 14 Sep. July was 4.45%. Food 5.95%. Inside the 2–6% band.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166360"/>
            <a:ext cx="21031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0B1F33"/>
                </a:solidFill>
                <a:latin typeface="Calibri"/>
              </a:rPr>
              <a:t>96.4348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5239512"/>
            <a:ext cx="89611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1C2430"/>
                </a:solidFill>
                <a:latin typeface="Calibri"/>
              </a:rPr>
              <a:t>USD/INR, FBIL, 13:00 on 6 Oct. 6.94% GS 2036 at 7.2150%.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6583680"/>
            <a:ext cx="932688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Future CFO_DP  |  Created and Copyright by Dr. Debasis Pahi  |  7 October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0" y="6583680"/>
            <a:ext cx="146304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C4A35A"/>
                </a:solidFill>
                <a:latin typeface="Calibri"/>
              </a:rPr>
              <a:t>3  / 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C4A35A"/>
                </a:solidFill>
                <a:latin typeface="Calibri"/>
              </a:rPr>
              <a:t>THE POLL IS A DISTRIBUTION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>
                <a:solidFill>
                  <a:srgbClr val="0B1F33"/>
                </a:solidFill>
                <a:latin typeface="Calibri"/>
              </a:rPr>
              <a:t>Do not promote it to a fact.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463040"/>
            <a:ext cx="5577840" cy="1874519"/>
          </a:xfrm>
          <a:prstGeom prst="round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50292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C4A35A"/>
                </a:solidFill>
                <a:latin typeface="Calibri"/>
              </a:rPr>
              <a:t>35 / 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423160"/>
            <a:ext cx="502920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Expected +25 bp at this meeting. Reuters, 28 Sep 2026.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463040"/>
            <a:ext cx="5577840" cy="1874519"/>
          </a:xfrm>
          <a:prstGeom prst="round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737360"/>
            <a:ext cx="50292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C4A35A"/>
                </a:solidFill>
                <a:latin typeface="Calibri"/>
              </a:rPr>
              <a:t>26 / 61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423160"/>
            <a:ext cx="502920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Were not in that hike camp. A hold is inside the poll.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3566160"/>
            <a:ext cx="5577840" cy="1874519"/>
          </a:xfrm>
          <a:prstGeom prst="round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840480"/>
            <a:ext cx="50292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C4A35A"/>
                </a:solidFill>
                <a:latin typeface="Calibri"/>
              </a:rPr>
              <a:t>29 / 53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526280"/>
            <a:ext cx="502920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Looked for at least one further hike by December.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3566160"/>
            <a:ext cx="5577840" cy="1874519"/>
          </a:xfrm>
          <a:prstGeom prst="round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3840480"/>
            <a:ext cx="50292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C4A35A"/>
                </a:solidFill>
                <a:latin typeface="Calibri"/>
              </a:rPr>
              <a:t>Not October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4526280"/>
            <a:ext cx="502920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ICRA’s Aditi Nayar, 14 Sep: December still her base case.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6583680"/>
            <a:ext cx="932688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Future CFO_DP  |  Created and Copyright by Dr. Debasis Pahi  |  7 October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4160" y="6583680"/>
            <a:ext cx="146304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C4A35A"/>
                </a:solidFill>
                <a:latin typeface="Calibri"/>
              </a:rPr>
              <a:t>4  / 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C4A35A"/>
                </a:solidFill>
                <a:latin typeface="Calibri"/>
              </a:rPr>
              <a:t>OPERATIONS AS ON 5 OCTOBER  ·  RELEASED 6 OCTOBER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0B1F33"/>
                </a:solidFill>
                <a:latin typeface="Calibri"/>
              </a:rPr>
              <a:t>The system was long. The sign matters.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1124712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90472"/>
            <a:ext cx="4114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B1F33"/>
                </a:solidFill>
                <a:latin typeface="Calibri"/>
              </a:rPr>
              <a:t>Overnight volume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1490472"/>
            <a:ext cx="6400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1C2430"/>
                </a:solidFill>
                <a:latin typeface="Calibri"/>
              </a:rPr>
              <a:t>Rs 7,30,002.71 crore at 5.07%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94560"/>
            <a:ext cx="1124712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359152"/>
            <a:ext cx="4114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B1F33"/>
                </a:solidFill>
                <a:latin typeface="Calibri"/>
              </a:rPr>
              <a:t>Call money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2359152"/>
            <a:ext cx="6400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1C2430"/>
                </a:solidFill>
                <a:latin typeface="Calibri"/>
              </a:rPr>
              <a:t>Rs 12,896 crore, range 4.30–5.25%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063239"/>
            <a:ext cx="1124712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227832"/>
            <a:ext cx="4114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B1F33"/>
                </a:solidFill>
                <a:latin typeface="Calibri"/>
              </a:rPr>
              <a:t>VRRR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3227832"/>
            <a:ext cx="6400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1C2430"/>
                </a:solidFill>
                <a:latin typeface="Calibri"/>
              </a:rPr>
              <a:t>Rs 2,00,050 crore at 5.24%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931920"/>
            <a:ext cx="1124712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096511"/>
            <a:ext cx="4114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B1F33"/>
                </a:solidFill>
                <a:latin typeface="Calibri"/>
              </a:rPr>
              <a:t>SDF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4096511"/>
            <a:ext cx="6400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1C2430"/>
                </a:solidFill>
                <a:latin typeface="Calibri"/>
              </a:rPr>
              <a:t>Rs 1,81,091 crore at 5.00%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800600"/>
            <a:ext cx="1124712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965192"/>
            <a:ext cx="4114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B1F33"/>
                </a:solidFill>
                <a:latin typeface="Calibri"/>
              </a:rPr>
              <a:t>Net, incl. outstanding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4965192"/>
            <a:ext cx="6400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1C2430"/>
                </a:solidFill>
                <a:latin typeface="Calibri"/>
              </a:rPr>
              <a:t>−Rs 5,30,096 crore  ·  minus is absorption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6583680"/>
            <a:ext cx="932688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Future CFO_DP  |  Created and Copyright by Dr. Debasis Pahi  |  7 October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0" y="6583680"/>
            <a:ext cx="146304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C4A35A"/>
                </a:solidFill>
                <a:latin typeface="Calibri"/>
              </a:rPr>
              <a:t>5  / 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C4A35A"/>
                </a:solidFill>
                <a:latin typeface="Calibri"/>
              </a:rPr>
              <a:t>LABELLED COMPOSITE  ·  NOT A REAL ISSUER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0B1F33"/>
                </a:solidFill>
                <a:latin typeface="Calibri"/>
              </a:rPr>
              <a:t>Mahanadi Alloys  ·  CFO Arjun Mehta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11155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1C2430"/>
                </a:solidFill>
                <a:latin typeface="Calibri"/>
              </a:rPr>
              <a:t>▸  Revenue Rs 2,400 crore. EBITDA margin 11%. PAT Rs 96 crore.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C2430"/>
                </a:solidFill>
                <a:latin typeface="Calibri"/>
              </a:rPr>
              <a:t>▸  Gross debt Rs 920 crore. Term loan Rs 440 crore fixed at 8.10% to March 2028.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C2430"/>
                </a:solidFill>
                <a:latin typeface="Calibri"/>
              </a:rPr>
              <a:t>▸  Floating working capital Rs 480 crore. Reset 15 October. Utilisation 86%.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C2430"/>
                </a:solidFill>
                <a:latin typeface="Calibri"/>
              </a:rPr>
              <a:t>▸  August street model: FY27 interest Rs 74 crore, built on a hold.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C2430"/>
                </a:solidFill>
                <a:latin typeface="Calibri"/>
              </a:rPr>
              <a:t>▸  Treasury policy: guidance moves when the contract moves, or the board adopts a scenario.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C2430"/>
                </a:solidFill>
                <a:latin typeface="Calibri"/>
              </a:rPr>
              <a:t>▸  Do not search for this firm. The rates around it are real. The company is not.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83680"/>
            <a:ext cx="932688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Future CFO_DP  |  Created and Copyright by Dr. Debasis Pahi  |  7 October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83680"/>
            <a:ext cx="146304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C4A35A"/>
                </a:solidFill>
                <a:latin typeface="Calibri"/>
              </a:rPr>
              <a:t>6  / 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C4A35A"/>
                </a:solidFill>
                <a:latin typeface="Calibri"/>
              </a:rPr>
              <a:t>CHECK THE DECIMAL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0B1F33"/>
                </a:solidFill>
                <a:latin typeface="Calibri"/>
              </a:rPr>
              <a:t>25 bp on Rs 480 crore is Rs 1.20 crore.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1C2430"/>
                </a:solidFill>
                <a:latin typeface="Calibri"/>
              </a:rPr>
              <a:t>0.25 percent, not 2.5 percent. Students who brief Rs 12 crore have moved a zero.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2194560"/>
            <a:ext cx="2743200" cy="2377440"/>
          </a:xfrm>
          <a:prstGeom prst="round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468880"/>
            <a:ext cx="24688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1">
                <a:solidFill>
                  <a:srgbClr val="C4A35A"/>
                </a:solidFill>
                <a:latin typeface="Calibri"/>
              </a:rPr>
              <a:t>Rs 1.20 cr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383280"/>
            <a:ext cx="24688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Full book, annualised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2194560"/>
            <a:ext cx="2743200" cy="2377440"/>
          </a:xfrm>
          <a:prstGeom prst="round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2468880"/>
            <a:ext cx="24688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1">
                <a:solidFill>
                  <a:srgbClr val="C4A35A"/>
                </a:solidFill>
                <a:latin typeface="Calibri"/>
              </a:rPr>
              <a:t>Rs 1.03 cr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3383280"/>
            <a:ext cx="24688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At 86% utilisation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194560"/>
            <a:ext cx="2743200" cy="2377440"/>
          </a:xfrm>
          <a:prstGeom prst="round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468880"/>
            <a:ext cx="24688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1">
                <a:solidFill>
                  <a:srgbClr val="C4A35A"/>
                </a:solidFill>
                <a:latin typeface="Calibri"/>
              </a:rPr>
              <a:t>Rs 0.90 cr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383280"/>
            <a:ext cx="24688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FY27, if reset is 15 Oct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89720" y="2194560"/>
            <a:ext cx="2743200" cy="2377440"/>
          </a:xfrm>
          <a:prstGeom prst="round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468880"/>
            <a:ext cx="24688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1">
                <a:solidFill>
                  <a:srgbClr val="C4A35A"/>
                </a:solidFill>
                <a:latin typeface="Calibri"/>
              </a:rPr>
              <a:t>Rs 0.09 cr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383280"/>
            <a:ext cx="24688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15 bp lock premium, half book, one quarter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46320"/>
            <a:ext cx="1115568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1C2430"/>
                </a:solidFill>
                <a:latin typeface="Calibri"/>
              </a:rPr>
              <a:t>The fixed term loan does not move. Ind AS 109 does not remeasure a floating line for a speech that has not happened. Accrue at the contractual rate until 15 October.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6583680"/>
            <a:ext cx="932688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Future CFO_DP  |  Created and Copyright by Dr. Debasis Pahi  |  7 October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583680"/>
            <a:ext cx="146304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C4A35A"/>
                </a:solidFill>
                <a:latin typeface="Calibri"/>
              </a:rPr>
              <a:t>7  / 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C4A35A"/>
                </a:solidFill>
                <a:latin typeface="Calibri"/>
              </a:rPr>
              <a:t>THREE CHOICES AT 7:40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09728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0B1F33"/>
                </a:solidFill>
                <a:latin typeface="Calibri"/>
              </a:rPr>
              <a:t>Waiting is a position.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371600"/>
            <a:ext cx="3703320" cy="4023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00200"/>
            <a:ext cx="324612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0B1F33"/>
                </a:solidFill>
                <a:latin typeface="Calibri"/>
              </a:rPr>
              <a:t>A  ·  Lock half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651760"/>
            <a:ext cx="3246120" cy="2377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1C2430"/>
                </a:solidFill>
                <a:latin typeface="Calibri"/>
              </a:rPr>
              <a:t>Ask for a three-month fixed on Rs 240 crore before 9:30. Policy allows half without a fresh board approval. You buy the bank’s price of the poll.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1371600"/>
            <a:ext cx="3703320" cy="4023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600200"/>
            <a:ext cx="324612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0B1F33"/>
                </a:solidFill>
                <a:latin typeface="Calibri"/>
              </a:rPr>
              <a:t>B  ·  Wait for noon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2651760"/>
            <a:ext cx="3246120" cy="2377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1C2430"/>
                </a:solidFill>
                <a:latin typeface="Calibri"/>
              </a:rPr>
              <a:t>No quote until after the press conference. Optionality stays. So does the queue at 12:15 if the statement is hawkish.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371600"/>
            <a:ext cx="3703320" cy="4023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1600200"/>
            <a:ext cx="324612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0B1F33"/>
                </a:solidFill>
                <a:latin typeface="Calibri"/>
              </a:rPr>
              <a:t>C  ·  Range, then stop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2651760"/>
            <a:ext cx="3246120" cy="2377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1C2430"/>
                </a:solidFill>
                <a:latin typeface="Calibri"/>
              </a:rPr>
              <a:t>One-page note. Three columns. No street refresh until pass-through is in writing. Do not say “in line with consensus.”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6583680"/>
            <a:ext cx="932688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Future CFO_DP  |  Created and Copyright by Dr. Debasis Pahi  |  7 October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583680"/>
            <a:ext cx="146304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C4A35A"/>
                </a:solidFill>
                <a:latin typeface="Calibri"/>
              </a:rPr>
              <a:t>8  / 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C4A35A"/>
                </a:solidFill>
                <a:latin typeface="Calibri"/>
              </a:rPr>
              <a:t>WHAT YOU WILL NOT 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Polls are not policy.
Policy is not your term sheet.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0"/>
            <a:ext cx="10972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F7F4EE"/>
                </a:solidFill>
                <a:latin typeface="Calibri"/>
              </a:rPr>
              <a:t>No sentence that says the hike is done. The home page still says 5.25%.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F7F4EE"/>
                </a:solidFill>
                <a:latin typeface="Calibri"/>
              </a:rPr>
              <a:t>No exchange filing that forecasts the repo rate.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F7F4EE"/>
                </a:solidFill>
                <a:latin typeface="Calibri"/>
              </a:rPr>
              <a:t>No journal entry that remeasures the floating book at 10:00.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F7F4EE"/>
                </a:solidFill>
                <a:latin typeface="Calibri"/>
              </a:rPr>
              <a:t>No mixing of the rupee column into the interest bridge.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F7F4EE"/>
                </a:solidFill>
                <a:latin typeface="Calibri"/>
              </a:rPr>
              <a:t>A blank line under the repo rate, filled by hand after the Governor speaks.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83680"/>
            <a:ext cx="932688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Future CFO_DP  |  Created and Copyright by Dr. Debasis Pahi  |  7 October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83680"/>
            <a:ext cx="146304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C4A35A"/>
                </a:solidFill>
                <a:latin typeface="Calibri"/>
              </a:rPr>
              <a:t>9  / 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C4A35A"/>
                </a:solidFill>
                <a:latin typeface="Calibri"/>
              </a:rPr>
              <a:t>THE ASSIGNMENT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>
                <a:solidFill>
                  <a:srgbClr val="0B1F33"/>
                </a:solidFill>
                <a:latin typeface="Calibri"/>
              </a:rPr>
              <a:t>One page. Before ten.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0">
                <a:solidFill>
                  <a:srgbClr val="1C2430"/>
                </a:solidFill>
                <a:latin typeface="Calibri"/>
              </a:rPr>
              <a:t>1    State the last published repo, with the page and the morning.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1C2430"/>
                </a:solidFill>
                <a:latin typeface="Calibri"/>
              </a:rPr>
              <a:t>2    State the poll as a split, with the date. Name one house that did not have October.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1C2430"/>
                </a:solidFill>
                <a:latin typeface="Calibri"/>
              </a:rPr>
              <a:t>3    Put Rs 1.20 crore on the full floating book. Show 86 percent. Show FY27 capture.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1C2430"/>
                </a:solidFill>
                <a:latin typeface="Calibri"/>
              </a:rPr>
              <a:t>4    Sign one choice. Name its cost. Cite the clause, or mark the clause as invented.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1C2430"/>
                </a:solidFill>
                <a:latin typeface="Calibri"/>
              </a:rPr>
              <a:t>5    Leave the repo line blank.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83680"/>
            <a:ext cx="932688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Future CFO_DP  |  Created and Copyright by Dr. Debasis Pahi  |  7 October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83680"/>
            <a:ext cx="146304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C4A35A"/>
                </a:solidFill>
                <a:latin typeface="Calibri"/>
              </a:rPr>
              <a:t>10  / 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C4A35A"/>
                </a:solidFill>
                <a:latin typeface="Calibri"/>
              </a:rPr>
              <a:t>SOURCES  ·  DATED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09728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0B1F33"/>
                </a:solidFill>
                <a:latin typeface="Calibri"/>
              </a:rPr>
              <a:t>If it is not dated, it is not in the case.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1C2430"/>
                </a:solidFill>
                <a:latin typeface="Calibri"/>
              </a:rPr>
              <a:t>RBI home page, morning of 7 Oct 2026 — repo 5.25%, SDF, MSF, CRR, SLR, FBIL 96.4348 as at 13:00 on 6 Oct.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C2430"/>
                </a:solidFill>
                <a:latin typeface="Calibri"/>
              </a:rPr>
              <a:t>Reuters, Pranoy Krishna, 28 Sep 2026 — 35 of 61; 29 of 53 by December.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C2430"/>
                </a:solidFill>
                <a:latin typeface="Calibri"/>
              </a:rPr>
              <a:t>Reuters, 14 Sep 2026 — August CPI 4.82%; ICRA and Kotak quoted.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C2430"/>
                </a:solidFill>
                <a:latin typeface="Calibri"/>
              </a:rPr>
              <a:t>RBI press release, 6 Oct 2026 — money-market operations as on 5 Oct; VRRR noticed for 7 Oct.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C2430"/>
                </a:solidFill>
                <a:latin typeface="Calibri"/>
              </a:rPr>
              <a:t>The Hindu BusinessLine, 5 Oct 2026 — meeting opens; Union Bank path; Brent near $101.26.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C2430"/>
                </a:solidFill>
                <a:latin typeface="Calibri"/>
              </a:rPr>
              <a:t>Economic Times, 7 Oct 2026 preview — statement at 10:00, press conference at noon.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83680"/>
            <a:ext cx="932688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Future CFO_DP  |  Created and Copyright by Dr. Debasis Pahi  |  7 October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83680"/>
            <a:ext cx="146304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C4A35A"/>
                </a:solidFill>
                <a:latin typeface="Calibri"/>
              </a:rPr>
              <a:t>11  / 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18872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C4A35A"/>
                </a:solidFill>
                <a:latin typeface="Calibri"/>
              </a:rPr>
              <a:t>FUTURE CFO_DP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097280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Leave the line blank
until he fills 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0"/>
            <a:ext cx="109728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F7F4EE"/>
                </a:solidFill>
                <a:latin typeface="Calibri"/>
              </a:rPr>
              <a:t>Preparing Business Students for the AI-Powered Economy
https://viralgyandk-lang.github.io/future-cfo-2035/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120640"/>
            <a:ext cx="109728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C4A35A"/>
                </a:solidFill>
                <a:latin typeface="Calibri"/>
              </a:rPr>
              <a:t>Created and Copyright by Dr. Debasis Pahi
Assistant Professor, Model Degree College Malkangiri  ·  Ph.D., IIT Kharagpur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583680"/>
            <a:ext cx="932688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Future CFO_DP  |  Created and Copyright by Dr. Debasis Pahi  |  7 October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83680"/>
            <a:ext cx="146304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C4A35A"/>
                </a:solidFill>
                <a:latin typeface="Calibri"/>
              </a:rPr>
              <a:t>12  / 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Future CFO_DP Daily — 7 October 2026 — Before Ten</dc:title>
  <dc:subject/>
  <dc:creator>Dr. Debasis Pahi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