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4A35A"/>
                </a:solidFill>
                <a:latin typeface="Calibri"/>
              </a:rPr>
              <a:t>FUTURE CFO_DP   ·   DAILY  ·   3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Who holds the kill switch?</a:t>
            </a:r>
          </a:p>
          <a:p>
            <a:r>
              <a:rPr sz="2200" b="0">
                <a:solidFill>
                  <a:srgbClr val="C4A35A"/>
                </a:solidFill>
                <a:latin typeface="Calibri"/>
              </a:rPr>
              <a:t>RBI’s draft Model Risk Management Guidance, and the CFO who still signs.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Press Release 2026-2027/528  ·  24 June 2026  ·  Comments closed 24 July 2026
Still a draft on 3 October 2026. Not a final Master Direction.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7F4EE"/>
                </a:solidFill>
                <a:latin typeface="Calibri"/>
              </a:rPr>
              <a:t>Created and Copyright by Dr. Debasis Pahi
Assistant Professor, Model Degree College Malkangiri  ·  Ph.D., IIT Kharagpur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56248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C4A35A"/>
                </a:solidFill>
                <a:latin typeface="Calibri"/>
              </a:rPr>
              <a:t>Future CFO_DP  |  Created and Copyright by Dr. Debasis Pahi  |  AI generates. DATA informs. FINANCE measures. ACCOUNTING verifies. HUMAN JUDGMENT decides.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5624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  <a:latin typeface="Calibri"/>
              </a:rPr>
              <a:t>Why this draft is still on the CFO desk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51560"/>
            <a:ext cx="11338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16151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6F6A"/>
                </a:solidFill>
                <a:latin typeface="Calibri"/>
              </a:rPr>
              <a:t>24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1848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1C1C"/>
                </a:solidFill>
                <a:latin typeface="Calibri"/>
              </a:rPr>
              <a:t>RBI releases the draft Guidance on Regulatory Principles for Model Risk Management. Signed by Brij Raj, Chief General Manager, Department of Regulation.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743200"/>
            <a:ext cx="11338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907792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6F6A"/>
                </a:solidFill>
                <a:latin typeface="Calibri"/>
              </a:rPr>
              <a:t>24 July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1012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1C1C"/>
                </a:solidFill>
                <a:latin typeface="Calibri"/>
              </a:rPr>
              <a:t>Comment window closes. Feedback via Connect 2 Regulate, or to the Operational Risk Group, Department of Regulation, Fort, Mumbai.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434840"/>
            <a:ext cx="1133856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99431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6F6A"/>
                </a:solidFill>
                <a:latin typeface="Calibri"/>
              </a:rPr>
              <a:t>3 October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0176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1C1C"/>
                </a:solidFill>
                <a:latin typeface="Calibri"/>
              </a:rPr>
              <a:t>BW Legal World still describes the paper as a draft expected to be finalised and folded into the credit-risk framework. No final circular is on the public record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556248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C4A35A"/>
                </a:solidFill>
                <a:latin typeface="Calibri"/>
              </a:rPr>
              <a:t>Future CFO_DP  |  Created and Copyright by Dr. Debasis Pahi  |  AI generates. DATA informs. FINANCE measures. ACCOUNTING verifies. HUMAN JUDGMENT decides.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5624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Calibri"/>
              </a:rPr>
              <a:t>A model is defined by consequence, not by the label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C1C1C"/>
                </a:solidFill>
                <a:latin typeface="Calibri"/>
              </a:rPr>
              <a:t>Public summaries of the draft, including nasscom and Mint, describe a model as any system — built in-house or bought — that takes data in, applies calculation or decision logic, and produces an output that influences a business decision. A spreadsheet can qualify. So can a vendor score. So can a generative assistant.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194560"/>
            <a:ext cx="2743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6F6A"/>
                </a:solidFill>
                <a:latin typeface="Calibri"/>
              </a:rPr>
              <a:t>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Data: bureau, GST, bank statements, collection notes, prompts.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194560"/>
            <a:ext cx="2743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33172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6F6A"/>
                </a:solidFill>
                <a:latin typeface="Calibri"/>
              </a:rPr>
              <a:t>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8803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Statistics, rules, machine learning, or a large language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94560"/>
            <a:ext cx="2743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6F6A"/>
                </a:solidFill>
                <a:latin typeface="Calibri"/>
              </a:rPr>
              <a:t>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803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A score, a limit, a provision, a message, a yes or a 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2194560"/>
            <a:ext cx="2743200" cy="2286000"/>
          </a:xfrm>
          <a:prstGeom prst="roundRect">
            <a:avLst/>
          </a:prstGeom>
          <a:solidFill>
            <a:srgbClr val="0B1F3A"/>
          </a:solidFill>
          <a:ln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2331720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4A35A"/>
                </a:solidFill>
                <a:latin typeface="Calibri"/>
              </a:rPr>
              <a:t>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88036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Financial, operational, compliance, reputational — RBI’s own words.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70916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4A5568"/>
                </a:solidFill>
                <a:latin typeface="Calibri"/>
              </a:rPr>
              <a:t>The June draft extends the 5 August 2024 credit-model paper and the FREE-AI committee report of 13 August 2025. It covers the full life cycle, including third-party models and models that use AI or machine learning. Scope: commercial banks, small finance banks, payments banks, local area banks, regional rural banks, urban and rural co-operative banks, all-India financial institutions, NBFCs, asset reconstruction companies, and credit information companies.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6556248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C4A35A"/>
                </a:solidFill>
                <a:latin typeface="Calibri"/>
              </a:rPr>
              <a:t>Future CFO_DP  |  Created and Copyright by Dr. Debasis Pahi  |  AI generates. DATA informs. FINANCE measures. ACCOUNTING verifies. HUMAN JUDGMENT decides.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5624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Calibri"/>
              </a:rPr>
              <a:t>You may rent the engine. You do not rent the signature.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109728" cy="9144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6A"/>
                </a:solidFill>
                <a:latin typeface="Calibri"/>
              </a:rPr>
              <a:t>Board-approved MRMF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A Model Risk Management Framework, reviewed periodically, covering taxonomy, governance, scope, tiering, inventory and documentation.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011680"/>
            <a:ext cx="109728" cy="9144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6A"/>
                </a:solidFill>
                <a:latin typeface="Calibri"/>
              </a:rPr>
              <a:t>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If it is not listed, it cannot be tiered, validated, or retired with notice.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063239"/>
            <a:ext cx="109728" cy="9144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63239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6A"/>
                </a:solidFill>
                <a:latin typeface="Calibri"/>
              </a:rPr>
              <a:t>Independent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7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The regulated entity validates. A vendor brochure, a demo, or a SOC report is not a back-test.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114800"/>
            <a:ext cx="109728" cy="9144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6A"/>
                </a:solidFill>
                <a:latin typeface="Calibri"/>
              </a:rPr>
              <a:t>Third-party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34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The RBI press release says the Guidance applies to third-party models. Accountability stays with the regulated entity.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166359"/>
            <a:ext cx="109728" cy="9144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66359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6F6A"/>
                </a:solidFill>
                <a:latin typeface="Calibri"/>
              </a:rPr>
              <a:t>Change and continuity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8639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Change control, business continuity, and a formal decommissioning path. Tell users before you retire a model.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556248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C4A35A"/>
                </a:solidFill>
                <a:latin typeface="Calibri"/>
              </a:rPr>
              <a:t>Future CFO_DP  |  Created and Copyright by Dr. Debasis Pahi  |  AI generates. DATA informs. FINANCE measures. ACCOUNTING verifies. HUMAN JUDGMENT decides.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5624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Calibri"/>
              </a:rPr>
              <a:t>AI-specific risks the draft asks firms to manage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27889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1F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1F3A"/>
                </a:solidFill>
                <a:latin typeface="Calibri"/>
              </a:rPr>
              <a:t>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1C1C"/>
                </a:solidFill>
                <a:latin typeface="Calibri"/>
              </a:rPr>
              <a:t>Can you tell a customer, an auditor, and the board why the output moved?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960120"/>
            <a:ext cx="27889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1F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1430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1F3A"/>
                </a:solidFill>
                <a:latin typeface="Calibri"/>
              </a:rPr>
              <a:t>Hallucination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874519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1C1C"/>
                </a:solidFill>
                <a:latin typeface="Calibri"/>
              </a:rPr>
              <a:t>Generative drafts can invent a fact. A collection script is not a poem.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960120"/>
            <a:ext cx="27889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1F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1430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1F3A"/>
                </a:solidFill>
                <a:latin typeface="Calibri"/>
              </a:rPr>
              <a:t>Bias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74519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1C1C"/>
                </a:solidFill>
                <a:latin typeface="Calibri"/>
              </a:rPr>
              <a:t>Discriminatory outcomes are a conduct risk, not a data-science footnote.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960120"/>
            <a:ext cx="27889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1F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114300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1F3A"/>
                </a:solidFill>
                <a:latin typeface="Calibri"/>
              </a:rPr>
              <a:t>Overfitting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1874519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1C1C"/>
                </a:solidFill>
                <a:latin typeface="Calibri"/>
              </a:rPr>
              <a:t>A model that memorised last year will fail this monsoon.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566160"/>
            <a:ext cx="27889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1F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4904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1F3A"/>
                </a:solidFill>
                <a:latin typeface="Calibri"/>
              </a:rPr>
              <a:t>Spurious correlation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8056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1C1C"/>
                </a:solidFill>
                <a:latin typeface="Calibri"/>
              </a:rPr>
              <a:t>A pattern is not a cause. Finance still has to price the miss.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3566160"/>
            <a:ext cx="27889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1F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374904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1F3A"/>
                </a:solidFill>
                <a:latin typeface="Calibri"/>
              </a:rPr>
              <a:t>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48056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1C1C"/>
                </a:solidFill>
                <a:latin typeface="Calibri"/>
              </a:rPr>
              <a:t>Data drift and concept drift. Yesterday’s validation is not today’s control.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66160"/>
            <a:ext cx="27889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1F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74904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1F3A"/>
                </a:solidFill>
                <a:latin typeface="Calibri"/>
              </a:rPr>
              <a:t>Output variability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48056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1C1C"/>
                </a:solidFill>
                <a:latin typeface="Calibri"/>
              </a:rPr>
              <a:t>The same prompt, a different answer. That is an audit problem.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566160"/>
            <a:ext cx="27889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1F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60" y="374904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1F3A"/>
                </a:solidFill>
                <a:latin typeface="Calibri"/>
              </a:rPr>
              <a:t>IP and vendors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448056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C1C1C"/>
                </a:solidFill>
                <a:latin typeface="Calibri"/>
              </a:rPr>
              <a:t>Whose data trained it, and who is on the hook if the vendor fails?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56248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C4A35A"/>
                </a:solidFill>
                <a:latin typeface="Calibri"/>
              </a:rPr>
              <a:t>Future CFO_DP  |  Created and Copyright by Dr. Debasis Pahi  |  AI generates. DATA informs. FINANCE measures. ACCOUNTING verifies. HUMAN JUDGMENT decides.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55624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4A35A"/>
                </a:solidFill>
                <a:latin typeface="Calibri"/>
              </a:rPr>
              <a:t>The kill switch is a control, not a slogan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840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0515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Override, suspension, or deactivation — including a kill-switch arrangement — so a human can stop a faulty model.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874519"/>
            <a:ext cx="384048" cy="384048"/>
          </a:xfrm>
          <a:prstGeom prst="ellipse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39"/>
            <a:ext cx="3840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Human review of automated decisions, including decisions that touch credit, collections, or a customer complaint.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697480"/>
            <a:ext cx="384048" cy="384048"/>
          </a:xfrm>
          <a:prstGeom prst="ellipse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3840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Watch automation bias: staff who stop checking because the model was fast last week.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520440"/>
            <a:ext cx="384048" cy="384048"/>
          </a:xfrm>
          <a:prstGeom prst="ellipse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3840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204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If a customer is talking to an AI system, say so, state the limits, and offer a human.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343400"/>
            <a:ext cx="384048" cy="384048"/>
          </a:xfrm>
          <a:prstGeom prst="ellipse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3840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3434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Red-team where it matters. Prompt injection is an operational risk if the model can move a message or a limit.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5166360"/>
            <a:ext cx="384048" cy="384048"/>
          </a:xfrm>
          <a:prstGeom prst="ellipse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212080"/>
            <a:ext cx="38404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1663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A switch that only the vendor can throw, in another time zone, is a telephone number. It is not a control.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6556248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C4A35A"/>
                </a:solidFill>
                <a:latin typeface="Calibri"/>
              </a:rPr>
              <a:t>Future CFO_DP  |  Created and Copyright by Dr. Debasis Pahi  |  AI generates. DATA informs. FINANCE measures. ACCOUNTING verifies. HUMAN JUDGMENT decides.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5624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Calibri"/>
              </a:rPr>
              <a:t>Teaching case: Mahanadi Finance Limited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1C1C"/>
                </a:solidFill>
                <a:latin typeface="Calibri"/>
              </a:rPr>
              <a:t>Composite firm. People are invented. The rule is not. An upper-layer style NBFC. CFO Leela Patnaik. Monday board pack, 6 October 2026. Two live tools sit outside the general ledger and can still move cash, complaints, and provisions.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45920"/>
            <a:ext cx="6949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6F6A"/>
                </a:solidFill>
                <a:latin typeface="Calibri"/>
              </a:rPr>
              <a:t>Tool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6583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Vendor credit score on small-business loans. Owned by risk. Contract with a Bengaluru vendor. Validation pack is the vendor’s own back-test from FY25.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749039"/>
            <a:ext cx="6949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6F6A"/>
                </a:solidFill>
                <a:latin typeface="Calibri"/>
              </a:rPr>
              <a:t>Tool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251960"/>
            <a:ext cx="6583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Generative collections assistant. Drafts messages in Odia and Hindi. Owned by operations. No customer disclosure. No logged human override after 8 pm.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645920"/>
            <a:ext cx="4114800" cy="4023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8288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4A35A"/>
                </a:solidFill>
                <a:latin typeface="Calibri"/>
              </a:rPr>
              <a:t>The board 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331720"/>
            <a:ext cx="3749039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Would these two tools survive the draft if it landed as written?
Who signs the control certificate on Friday?
What do we tell the customer in Odia?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556248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C4A35A"/>
                </a:solidFill>
                <a:latin typeface="Calibri"/>
              </a:rPr>
              <a:t>Future CFO_DP  |  Created and Copyright by Dr. Debasis Pahi  |  AI generates. DATA informs. FINANCE measures. ACCOUNTING verifies. HUMAN JUDGMENT decides.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5624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  <a:latin typeface="Calibri"/>
              </a:rPr>
              <a:t>Four questions before you 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051560"/>
            <a:ext cx="55778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6F6A"/>
                </a:solidFill>
                <a:latin typeface="Calibri"/>
              </a:rPr>
              <a:t>1 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C1C1C"/>
                </a:solidFill>
                <a:latin typeface="Calibri"/>
              </a:rPr>
              <a:t>Is every tool that can move a limit, a provision, or a customer message on one list, with an owner?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051560"/>
            <a:ext cx="55778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258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6F6A"/>
                </a:solidFill>
                <a:latin typeface="Calibri"/>
              </a:rPr>
              <a:t>2 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C1C1C"/>
                </a:solidFill>
                <a:latin typeface="Calibri"/>
              </a:rPr>
              <a:t>Who validated it, independently of the team that bought it? Show the back-test, not the brochure.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611879"/>
            <a:ext cx="55778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6F6A"/>
                </a:solidFill>
                <a:latin typeface="Calibri"/>
              </a:rPr>
              <a:t>3  Kill switch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26279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C1C1C"/>
                </a:solidFill>
                <a:latin typeface="Calibri"/>
              </a:rPr>
              <a:t>Who can suspend it at 9 pm, how is that logged, and what runs while it is off?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611879"/>
            <a:ext cx="55778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4A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6F6A"/>
                </a:solidFill>
                <a:latin typeface="Calibri"/>
              </a:rPr>
              <a:t>4  Disclosure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526279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C1C1C"/>
                </a:solidFill>
                <a:latin typeface="Calibri"/>
              </a:rPr>
              <a:t>Does the customer know a machine is in the conversation, and can they reach a person?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6556248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C4A35A"/>
                </a:solidFill>
                <a:latin typeface="Calibri"/>
              </a:rPr>
              <a:t>Future CFO_DP  |  Created and Copyright by Dr. Debasis Pahi  |  AI generates. DATA informs. FINANCE measures. ACCOUNTING verifies. HUMAN JUDGMENT decides.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5624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B1F3A"/>
                </a:solidFill>
                <a:latin typeface="Calibri"/>
              </a:rPr>
              <a:t>A Monday list — do not wait for the final circular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868680"/>
            <a:ext cx="113385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F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33271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1C1C"/>
                </a:solidFill>
                <a:latin typeface="Calibri"/>
              </a:rPr>
              <a:t>1.  Name an executive owner for the framework, with a line to the board, not only to the technology committee.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737360"/>
            <a:ext cx="113385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F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019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1C1C"/>
                </a:solidFill>
                <a:latin typeface="Calibri"/>
              </a:rPr>
              <a:t>2.  Build the inventory this quarter. Include spreadsheets that change a provision.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606039"/>
            <a:ext cx="113385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F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706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1C1C"/>
                </a:solidFill>
                <a:latin typeface="Calibri"/>
              </a:rPr>
              <a:t>3.  Tier by materiality, complexity, and autonomy. A chatbot is not a credit engine.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474720"/>
            <a:ext cx="113385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F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6393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1C1C"/>
                </a:solidFill>
                <a:latin typeface="Calibri"/>
              </a:rPr>
              <a:t>4.  Write the kill-switch procedure: who, when, the log, and business continuity.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343400"/>
            <a:ext cx="113385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F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5079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1C1C"/>
                </a:solidFill>
                <a:latin typeface="Calibri"/>
              </a:rPr>
              <a:t>5.  Put customer disclosure and a human option into every customer-facing AI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212080"/>
            <a:ext cx="113385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1F6F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3766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1C1C"/>
                </a:solidFill>
                <a:latin typeface="Calibri"/>
              </a:rPr>
              <a:t>6.  Keep the evidence. Secondary summaries of the draft speak of about ten years of decommissioned-model records. Treat that as reported, not final, until RBI publishes the 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6556248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C4A35A"/>
                </a:solidFill>
                <a:latin typeface="Calibri"/>
              </a:rPr>
              <a:t>Future CFO_DP  |  Created and Copyright by Dr. Debasis Pahi  |  AI generates. DATA informs. FINANCE measures. ACCOUNTING verifies. HUMAN JUDGMENT decides.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5624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  <a:latin typeface="Calibri"/>
              </a:rPr>
              <a:t>What a future CFO practises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6F6A"/>
                </a:solidFill>
                <a:latin typeface="Calibri"/>
              </a:rPr>
              <a:t>Read the primary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0759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1C1C"/>
                </a:solidFill>
                <a:latin typeface="Calibri"/>
              </a:rPr>
              <a:t>RBI press release of 24 June 2026, PR 2026-2027/528. Then one legal summary. Do not start with a vendor blog.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6F6A"/>
                </a:solidFill>
                <a:latin typeface="Calibri"/>
              </a:rPr>
              <a:t>Map one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87752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1C1C"/>
                </a:solidFill>
                <a:latin typeface="Calibri"/>
              </a:rPr>
              <a:t>Pick a score, a provision sheet, or a chatbot. Write owner, data, output, customer impact, and how you would switch it 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39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6F6A"/>
                </a:solidFill>
                <a:latin typeface="Calibri"/>
              </a:rPr>
              <a:t>Separate four verbs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67911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1C1C"/>
                </a:solidFill>
                <a:latin typeface="Calibri"/>
              </a:rPr>
              <a:t>AI generates. Data informs. Finance measures. Accounting verifies. You decide. Write one sentence under each verb for your map.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00599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6F6A"/>
                </a:solidFill>
                <a:latin typeface="Calibri"/>
              </a:rPr>
              <a:t>Explain it aloud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48071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1C1C"/>
                </a:solidFill>
                <a:latin typeface="Calibri"/>
              </a:rPr>
              <a:t>If you cannot explain the control in ninety seconds to a non-specialist director, you do not have the control yet.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56248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C4A35A"/>
                </a:solidFill>
                <a:latin typeface="Calibri"/>
              </a:rPr>
              <a:t>Future CFO_DP  |  Created and Copyright by Dr. Debasis Pahi  |  AI generates. DATA informs. FINANCE measures. ACCOUNTING verifies. HUMAN JUDGMENT decides.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5624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B1F3A"/>
                </a:solidFill>
                <a:latin typeface="Calibri"/>
              </a:rPr>
              <a:t>Sources you can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RBI press release, 24 June 2026, PR 2026-2027/528. Draft Guidance on Regulatory Principles for Model Risk Management. Brij Raj, CGM.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7276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RBI, draft Regulatory Principles for Management of Model Risks in Credit, 5 August 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22576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RBI, FREE-AI committee report, 13 August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72384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Mint explainer, Anshika Kayastha, 26 June 2026. Kill switch, human oversight, use-case controls.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22191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The Print, Vrinda Tulsian, 26 June 2026. A human firmly in the loop.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nasscom public-policy note on the draft, September 2026. Scope, MRMF, AI safeguards, customer disclosure.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21808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1C1C"/>
                </a:solidFill>
                <a:latin typeface="Calibri"/>
              </a:rPr>
              <a:t>BW Legal World, 3 October 2026. Draft still described as awaiting finalisation into the credit-risk framework.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56248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C4A35A"/>
                </a:solidFill>
                <a:latin typeface="Calibri"/>
              </a:rPr>
              <a:t>Future CFO_DP  |  Created and Copyright by Dr. Debasis Pahi  |  AI generates. DATA informs. FINANCE measures. ACCOUNTING verifies. HUMAN JUDGMENT decides.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5624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If you cannot detect the failure, contain the model, and explain the decision, do not sign the control certificate.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4A35A"/>
                </a:solidFill>
                <a:latin typeface="Calibri"/>
              </a:rPr>
              <a:t>AI generates. DATA informs. FINANCE measures.
ACCOUNTING verifies. HUMAN JUDGMENT decides.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7F4EE"/>
                </a:solidFill>
                <a:latin typeface="Calibri"/>
              </a:rPr>
              <a:t>Future CFO_DP  ·  Dr. Debasis Pahi  ·  future-cfo-2035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56248"/>
            <a:ext cx="10424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C4A35A"/>
                </a:solidFill>
                <a:latin typeface="Calibri"/>
              </a:rPr>
              <a:t>Future CFO_DP  |  Created and Copyright by Dr. Debasis Pahi  |  AI generates. DATA informs. FINANCE measures. ACCOUNTING verifies. HUMAN JUDGMENT decides.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5624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