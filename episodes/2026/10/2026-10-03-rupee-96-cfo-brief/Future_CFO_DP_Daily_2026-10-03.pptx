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10058400" cy="365760"/>
          </a:xfrm>
          <a:prstGeom prst="rect">
            <a:avLst/>
          </a:prstGeom>
          <a:noFill/>
        </p:spPr>
        <p:txBody>
          <a:bodyPr wrap="square">
            <a:spAutoFit/>
          </a:bodyPr>
          <a:lstStyle/>
          <a:p>
            <a:pPr algn="l"/>
            <a:r>
              <a:rPr sz="1600" b="1">
                <a:solidFill>
                  <a:srgbClr val="C4A35A"/>
                </a:solidFill>
                <a:latin typeface="Calibri"/>
              </a:rPr>
              <a:t>FUTURE CFO_DP  ·  DAILY BRIEF</a:t>
            </a:r>
          </a:p>
        </p:txBody>
      </p:sp>
      <p:sp>
        <p:nvSpPr>
          <p:cNvPr id="5" name="TextBox 4"/>
          <p:cNvSpPr txBox="1"/>
          <p:nvPr/>
        </p:nvSpPr>
        <p:spPr>
          <a:xfrm>
            <a:off x="640080" y="1737360"/>
            <a:ext cx="10515600" cy="1463040"/>
          </a:xfrm>
          <a:prstGeom prst="rect">
            <a:avLst/>
          </a:prstGeom>
          <a:noFill/>
        </p:spPr>
        <p:txBody>
          <a:bodyPr wrap="square">
            <a:spAutoFit/>
          </a:bodyPr>
          <a:lstStyle/>
          <a:p>
            <a:pPr algn="l"/>
            <a:r>
              <a:rPr sz="4000" b="1">
                <a:solidFill>
                  <a:srgbClr val="FFFFFF"/>
                </a:solidFill>
                <a:latin typeface="Calibri"/>
              </a:rPr>
              <a:t>Rupee at 96:
The CFO Brief for 3 October 2026</a:t>
            </a:r>
          </a:p>
        </p:txBody>
      </p:sp>
      <p:sp>
        <p:nvSpPr>
          <p:cNvPr id="6" name="TextBox 5"/>
          <p:cNvSpPr txBox="1"/>
          <p:nvPr/>
        </p:nvSpPr>
        <p:spPr>
          <a:xfrm>
            <a:off x="640080" y="3657600"/>
            <a:ext cx="10058400" cy="1097280"/>
          </a:xfrm>
          <a:prstGeom prst="rect">
            <a:avLst/>
          </a:prstGeom>
          <a:noFill/>
        </p:spPr>
        <p:txBody>
          <a:bodyPr wrap="square">
            <a:spAutoFit/>
          </a:bodyPr>
          <a:lstStyle/>
          <a:p>
            <a:pPr algn="l"/>
            <a:r>
              <a:rPr sz="1800" b="0">
                <a:solidFill>
                  <a:srgbClr val="E6DED0"/>
                </a:solidFill>
                <a:latin typeface="Calibri"/>
              </a:rPr>
              <a:t>A closed market, a weaker rupee, a strong GST print, and a corner-office change at HDFC Bank.
What a finance student should actually do with Saturday's numbers.</a:t>
            </a:r>
          </a:p>
        </p:txBody>
      </p:sp>
      <p:sp>
        <p:nvSpPr>
          <p:cNvPr id="7" name="TextBox 6"/>
          <p:cNvSpPr txBox="1"/>
          <p:nvPr/>
        </p:nvSpPr>
        <p:spPr>
          <a:xfrm>
            <a:off x="640080" y="5303520"/>
            <a:ext cx="10058400" cy="731520"/>
          </a:xfrm>
          <a:prstGeom prst="rect">
            <a:avLst/>
          </a:prstGeom>
          <a:noFill/>
        </p:spPr>
        <p:txBody>
          <a:bodyPr wrap="square">
            <a:spAutoFit/>
          </a:bodyPr>
          <a:lstStyle/>
          <a:p>
            <a:pPr algn="l"/>
            <a:r>
              <a:rPr sz="1400" b="0">
                <a:solidFill>
                  <a:srgbClr val="C4A35A"/>
                </a:solidFill>
                <a:latin typeface="Calibri"/>
              </a:rPr>
              <a:t>Dr. Debasis Pahi  ·  Assistant Professor, Model Degree College, Malkangiri
Ph.D., IIT Kharagpur  ·  Preparing business students for the AI-powered economy</a:t>
            </a:r>
          </a:p>
        </p:txBody>
      </p:sp>
      <p:sp>
        <p:nvSpPr>
          <p:cNvPr id="8" name="TextBox 7"/>
          <p:cNvSpPr txBox="1"/>
          <p:nvPr/>
        </p:nvSpPr>
        <p:spPr>
          <a:xfrm>
            <a:off x="365760" y="6446520"/>
            <a:ext cx="11430000" cy="292608"/>
          </a:xfrm>
          <a:prstGeom prst="rect">
            <a:avLst/>
          </a:prstGeom>
          <a:noFill/>
        </p:spPr>
        <p:txBody>
          <a:bodyPr wrap="none">
            <a:spAutoFit/>
          </a:bodyPr>
          <a:lstStyle/>
          <a:p>
            <a:pPr algn="l"/>
            <a:r>
              <a:rPr sz="1000">
                <a:solidFill>
                  <a:srgbClr val="6B6255"/>
                </a:solidFill>
                <a:latin typeface="Calibri"/>
              </a:rPr>
              <a:t>Future CFO_DP  |  Created and Copyright by Dr. Debasis Pahi  |  2026-10-03  |  1/14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10972800" cy="365760"/>
          </a:xfrm>
          <a:prstGeom prst="rect">
            <a:avLst/>
          </a:prstGeom>
          <a:noFill/>
        </p:spPr>
        <p:txBody>
          <a:bodyPr wrap="square">
            <a:spAutoFit/>
          </a:bodyPr>
          <a:lstStyle/>
          <a:p>
            <a:pPr algn="l"/>
            <a:r>
              <a:rPr sz="1400" b="1">
                <a:solidFill>
                  <a:srgbClr val="1F6F6A"/>
                </a:solidFill>
                <a:latin typeface="Calibri"/>
              </a:rPr>
              <a:t>THE BOARD QUESTION</a:t>
            </a:r>
          </a:p>
        </p:txBody>
      </p:sp>
      <p:sp>
        <p:nvSpPr>
          <p:cNvPr id="5" name="TextBox 4"/>
          <p:cNvSpPr txBox="1"/>
          <p:nvPr/>
        </p:nvSpPr>
        <p:spPr>
          <a:xfrm>
            <a:off x="502920" y="822960"/>
            <a:ext cx="10972800" cy="1097280"/>
          </a:xfrm>
          <a:prstGeom prst="rect">
            <a:avLst/>
          </a:prstGeom>
          <a:noFill/>
        </p:spPr>
        <p:txBody>
          <a:bodyPr wrap="square">
            <a:spAutoFit/>
          </a:bodyPr>
          <a:lstStyle/>
          <a:p>
            <a:pPr algn="l"/>
            <a:r>
              <a:rPr sz="2600" b="1">
                <a:solidFill>
                  <a:srgbClr val="0B1F3A"/>
                </a:solidFill>
                <a:latin typeface="Calibri"/>
              </a:rPr>
              <a:t>If the rupee is at 96.3 and GST just printed ₹2.04 lakh crore, which number do you take into Monday's forecast?</a:t>
            </a:r>
          </a:p>
        </p:txBody>
      </p:sp>
      <p:sp>
        <p:nvSpPr>
          <p:cNvPr id="6" name="TextBox 5"/>
          <p:cNvSpPr txBox="1"/>
          <p:nvPr/>
        </p:nvSpPr>
        <p:spPr>
          <a:xfrm>
            <a:off x="502920" y="2194560"/>
            <a:ext cx="457200" cy="365760"/>
          </a:xfrm>
          <a:prstGeom prst="rect">
            <a:avLst/>
          </a:prstGeom>
          <a:noFill/>
        </p:spPr>
        <p:txBody>
          <a:bodyPr wrap="square">
            <a:spAutoFit/>
          </a:bodyPr>
          <a:lstStyle/>
          <a:p>
            <a:pPr algn="l"/>
            <a:r>
              <a:rPr sz="1800" b="1">
                <a:solidFill>
                  <a:srgbClr val="C4A35A"/>
                </a:solidFill>
                <a:latin typeface="Calibri"/>
              </a:rPr>
              <a:t>01</a:t>
            </a:r>
          </a:p>
        </p:txBody>
      </p:sp>
      <p:sp>
        <p:nvSpPr>
          <p:cNvPr id="7" name="TextBox 6"/>
          <p:cNvSpPr txBox="1"/>
          <p:nvPr/>
        </p:nvSpPr>
        <p:spPr>
          <a:xfrm>
            <a:off x="1097280" y="2194560"/>
            <a:ext cx="10241280" cy="640080"/>
          </a:xfrm>
          <a:prstGeom prst="rect">
            <a:avLst/>
          </a:prstGeom>
          <a:noFill/>
        </p:spPr>
        <p:txBody>
          <a:bodyPr wrap="square">
            <a:spAutoFit/>
          </a:bodyPr>
          <a:lstStyle/>
          <a:p>
            <a:pPr algn="l"/>
            <a:r>
              <a:rPr sz="1800" b="0">
                <a:solidFill>
                  <a:srgbClr val="1A1A1A"/>
                </a:solidFill>
                <a:latin typeface="Calibri"/>
              </a:rPr>
              <a:t>Markets were shut on Friday, 2 October, for Gandhi Jayanti. Price discovery waits until Monday.</a:t>
            </a:r>
          </a:p>
        </p:txBody>
      </p:sp>
      <p:sp>
        <p:nvSpPr>
          <p:cNvPr id="8" name="TextBox 7"/>
          <p:cNvSpPr txBox="1"/>
          <p:nvPr/>
        </p:nvSpPr>
        <p:spPr>
          <a:xfrm>
            <a:off x="502920" y="3063239"/>
            <a:ext cx="457200" cy="365760"/>
          </a:xfrm>
          <a:prstGeom prst="rect">
            <a:avLst/>
          </a:prstGeom>
          <a:noFill/>
        </p:spPr>
        <p:txBody>
          <a:bodyPr wrap="square">
            <a:spAutoFit/>
          </a:bodyPr>
          <a:lstStyle/>
          <a:p>
            <a:pPr algn="l"/>
            <a:r>
              <a:rPr sz="1800" b="1">
                <a:solidFill>
                  <a:srgbClr val="C4A35A"/>
                </a:solidFill>
                <a:latin typeface="Calibri"/>
              </a:rPr>
              <a:t>02</a:t>
            </a:r>
          </a:p>
        </p:txBody>
      </p:sp>
      <p:sp>
        <p:nvSpPr>
          <p:cNvPr id="9" name="TextBox 8"/>
          <p:cNvSpPr txBox="1"/>
          <p:nvPr/>
        </p:nvSpPr>
        <p:spPr>
          <a:xfrm>
            <a:off x="1097280" y="3063239"/>
            <a:ext cx="10241280" cy="640080"/>
          </a:xfrm>
          <a:prstGeom prst="rect">
            <a:avLst/>
          </a:prstGeom>
          <a:noFill/>
        </p:spPr>
        <p:txBody>
          <a:bodyPr wrap="square">
            <a:spAutoFit/>
          </a:bodyPr>
          <a:lstStyle/>
          <a:p>
            <a:pPr algn="l"/>
            <a:r>
              <a:rPr sz="1800" b="0">
                <a:solidFill>
                  <a:srgbClr val="1A1A1A"/>
                </a:solidFill>
                <a:latin typeface="Calibri"/>
              </a:rPr>
              <a:t>The rupee's two-month low is a translation and hedge problem, not a slogan.</a:t>
            </a:r>
          </a:p>
        </p:txBody>
      </p:sp>
      <p:sp>
        <p:nvSpPr>
          <p:cNvPr id="10" name="TextBox 9"/>
          <p:cNvSpPr txBox="1"/>
          <p:nvPr/>
        </p:nvSpPr>
        <p:spPr>
          <a:xfrm>
            <a:off x="502920" y="3931920"/>
            <a:ext cx="457200" cy="365760"/>
          </a:xfrm>
          <a:prstGeom prst="rect">
            <a:avLst/>
          </a:prstGeom>
          <a:noFill/>
        </p:spPr>
        <p:txBody>
          <a:bodyPr wrap="square">
            <a:spAutoFit/>
          </a:bodyPr>
          <a:lstStyle/>
          <a:p>
            <a:pPr algn="l"/>
            <a:r>
              <a:rPr sz="1800" b="1">
                <a:solidFill>
                  <a:srgbClr val="C4A35A"/>
                </a:solidFill>
                <a:latin typeface="Calibri"/>
              </a:rPr>
              <a:t>03</a:t>
            </a:r>
          </a:p>
        </p:txBody>
      </p:sp>
      <p:sp>
        <p:nvSpPr>
          <p:cNvPr id="11" name="TextBox 10"/>
          <p:cNvSpPr txBox="1"/>
          <p:nvPr/>
        </p:nvSpPr>
        <p:spPr>
          <a:xfrm>
            <a:off x="1097280" y="3931920"/>
            <a:ext cx="10241280" cy="640080"/>
          </a:xfrm>
          <a:prstGeom prst="rect">
            <a:avLst/>
          </a:prstGeom>
          <a:noFill/>
        </p:spPr>
        <p:txBody>
          <a:bodyPr wrap="square">
            <a:spAutoFit/>
          </a:bodyPr>
          <a:lstStyle/>
          <a:p>
            <a:pPr algn="l"/>
            <a:r>
              <a:rPr sz="1800" b="0">
                <a:solidFill>
                  <a:srgbClr val="1A1A1A"/>
                </a:solidFill>
                <a:latin typeface="Calibri"/>
              </a:rPr>
              <a:t>GST strength and foreign selling can be true in the same month. A CFO holds both.</a:t>
            </a:r>
          </a:p>
        </p:txBody>
      </p:sp>
      <p:sp>
        <p:nvSpPr>
          <p:cNvPr id="12" name="TextBox 11"/>
          <p:cNvSpPr txBox="1"/>
          <p:nvPr/>
        </p:nvSpPr>
        <p:spPr>
          <a:xfrm>
            <a:off x="502920" y="4800600"/>
            <a:ext cx="457200" cy="365760"/>
          </a:xfrm>
          <a:prstGeom prst="rect">
            <a:avLst/>
          </a:prstGeom>
          <a:noFill/>
        </p:spPr>
        <p:txBody>
          <a:bodyPr wrap="square">
            <a:spAutoFit/>
          </a:bodyPr>
          <a:lstStyle/>
          <a:p>
            <a:pPr algn="l"/>
            <a:r>
              <a:rPr sz="1800" b="1">
                <a:solidFill>
                  <a:srgbClr val="C4A35A"/>
                </a:solidFill>
                <a:latin typeface="Calibri"/>
              </a:rPr>
              <a:t>04</a:t>
            </a:r>
          </a:p>
        </p:txBody>
      </p:sp>
      <p:sp>
        <p:nvSpPr>
          <p:cNvPr id="13" name="TextBox 12"/>
          <p:cNvSpPr txBox="1"/>
          <p:nvPr/>
        </p:nvSpPr>
        <p:spPr>
          <a:xfrm>
            <a:off x="1097280" y="4800600"/>
            <a:ext cx="10241280" cy="640080"/>
          </a:xfrm>
          <a:prstGeom prst="rect">
            <a:avLst/>
          </a:prstGeom>
          <a:noFill/>
        </p:spPr>
        <p:txBody>
          <a:bodyPr wrap="square">
            <a:spAutoFit/>
          </a:bodyPr>
          <a:lstStyle/>
          <a:p>
            <a:pPr algn="l"/>
            <a:r>
              <a:rPr sz="1800" b="0">
                <a:solidFill>
                  <a:srgbClr val="1A1A1A"/>
                </a:solidFill>
                <a:latin typeface="Calibri"/>
              </a:rPr>
              <a:t>Leadership news at HDFC Bank and ICICI Prudential Life changes counterparty risk, not your trial balance.</a:t>
            </a:r>
          </a:p>
        </p:txBody>
      </p:sp>
      <p:sp>
        <p:nvSpPr>
          <p:cNvPr id="14" name="TextBox 13"/>
          <p:cNvSpPr txBox="1"/>
          <p:nvPr/>
        </p:nvSpPr>
        <p:spPr>
          <a:xfrm>
            <a:off x="365760" y="6446520"/>
            <a:ext cx="11430000" cy="292608"/>
          </a:xfrm>
          <a:prstGeom prst="rect">
            <a:avLst/>
          </a:prstGeom>
          <a:noFill/>
        </p:spPr>
        <p:txBody>
          <a:bodyPr wrap="none">
            <a:spAutoFit/>
          </a:bodyPr>
          <a:lstStyle/>
          <a:p>
            <a:pPr algn="l"/>
            <a:r>
              <a:rPr sz="1000">
                <a:solidFill>
                  <a:srgbClr val="6B6255"/>
                </a:solidFill>
                <a:latin typeface="Calibri"/>
              </a:rPr>
              <a:t>Future CFO_DP  |  Created and Copyright by Dr. Debasis Pahi  |  2026-10-03  |  2/14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365760"/>
          </a:xfrm>
          <a:prstGeom prst="rect">
            <a:avLst/>
          </a:prstGeom>
          <a:noFill/>
        </p:spPr>
        <p:txBody>
          <a:bodyPr wrap="square">
            <a:spAutoFit/>
          </a:bodyPr>
          <a:lstStyle/>
          <a:p>
            <a:pPr algn="l"/>
            <a:r>
              <a:rPr sz="1400" b="1">
                <a:solidFill>
                  <a:srgbClr val="1F6F6A"/>
                </a:solidFill>
                <a:latin typeface="Calibri"/>
              </a:rPr>
              <a:t>THREE NUMBERS THAT MOVED</a:t>
            </a:r>
          </a:p>
        </p:txBody>
      </p:sp>
      <p:sp>
        <p:nvSpPr>
          <p:cNvPr id="4" name="TextBox 3"/>
          <p:cNvSpPr txBox="1"/>
          <p:nvPr/>
        </p:nvSpPr>
        <p:spPr>
          <a:xfrm>
            <a:off x="457200" y="731520"/>
            <a:ext cx="10972800" cy="457200"/>
          </a:xfrm>
          <a:prstGeom prst="rect">
            <a:avLst/>
          </a:prstGeom>
          <a:noFill/>
        </p:spPr>
        <p:txBody>
          <a:bodyPr wrap="square">
            <a:spAutoFit/>
          </a:bodyPr>
          <a:lstStyle/>
          <a:p>
            <a:pPr algn="l"/>
            <a:r>
              <a:rPr sz="2600" b="1">
                <a:solidFill>
                  <a:srgbClr val="0B1F3A"/>
                </a:solidFill>
                <a:latin typeface="Calibri"/>
              </a:rPr>
              <a:t>Read them together. Do not pick a favourite.</a:t>
            </a:r>
          </a:p>
        </p:txBody>
      </p:sp>
      <p:sp>
        <p:nvSpPr>
          <p:cNvPr id="5" name="Rectangle 4"/>
          <p:cNvSpPr/>
          <p:nvPr/>
        </p:nvSpPr>
        <p:spPr>
          <a:xfrm>
            <a:off x="411480" y="1554480"/>
            <a:ext cx="3611880" cy="420624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3200400" cy="1005840"/>
          </a:xfrm>
          <a:prstGeom prst="rect">
            <a:avLst/>
          </a:prstGeom>
          <a:noFill/>
        </p:spPr>
        <p:txBody>
          <a:bodyPr wrap="square">
            <a:spAutoFit/>
          </a:bodyPr>
          <a:lstStyle/>
          <a:p>
            <a:pPr algn="l"/>
            <a:r>
              <a:rPr sz="2800" b="1">
                <a:solidFill>
                  <a:srgbClr val="C4A35A"/>
                </a:solidFill>
                <a:latin typeface="Calibri"/>
              </a:rPr>
              <a:t>96.3150</a:t>
            </a:r>
          </a:p>
        </p:txBody>
      </p:sp>
      <p:sp>
        <p:nvSpPr>
          <p:cNvPr id="7" name="TextBox 6"/>
          <p:cNvSpPr txBox="1"/>
          <p:nvPr/>
        </p:nvSpPr>
        <p:spPr>
          <a:xfrm>
            <a:off x="640080" y="2880360"/>
            <a:ext cx="3200400" cy="365760"/>
          </a:xfrm>
          <a:prstGeom prst="rect">
            <a:avLst/>
          </a:prstGeom>
          <a:noFill/>
        </p:spPr>
        <p:txBody>
          <a:bodyPr wrap="square">
            <a:spAutoFit/>
          </a:bodyPr>
          <a:lstStyle/>
          <a:p>
            <a:pPr algn="l"/>
            <a:r>
              <a:rPr sz="1600" b="1">
                <a:solidFill>
                  <a:srgbClr val="FFFFFF"/>
                </a:solidFill>
                <a:latin typeface="Calibri"/>
              </a:rPr>
              <a:t>USD/INR</a:t>
            </a:r>
          </a:p>
        </p:txBody>
      </p:sp>
      <p:sp>
        <p:nvSpPr>
          <p:cNvPr id="8" name="TextBox 7"/>
          <p:cNvSpPr txBox="1"/>
          <p:nvPr/>
        </p:nvSpPr>
        <p:spPr>
          <a:xfrm>
            <a:off x="640080" y="3383280"/>
            <a:ext cx="3200400" cy="2011680"/>
          </a:xfrm>
          <a:prstGeom prst="rect">
            <a:avLst/>
          </a:prstGeom>
          <a:noFill/>
        </p:spPr>
        <p:txBody>
          <a:bodyPr wrap="square">
            <a:spAutoFit/>
          </a:bodyPr>
          <a:lstStyle/>
          <a:p>
            <a:pPr algn="l"/>
            <a:r>
              <a:rPr sz="1500" b="0">
                <a:solidFill>
                  <a:srgbClr val="E6DED0"/>
                </a:solidFill>
                <a:latin typeface="Calibri"/>
              </a:rPr>
              <a:t>Rupee touched a two-month low, down about 0.5%, on FPI selling and higher US yields.</a:t>
            </a:r>
          </a:p>
        </p:txBody>
      </p:sp>
      <p:sp>
        <p:nvSpPr>
          <p:cNvPr id="9" name="Rectangle 8"/>
          <p:cNvSpPr/>
          <p:nvPr/>
        </p:nvSpPr>
        <p:spPr>
          <a:xfrm>
            <a:off x="4251960" y="1554480"/>
            <a:ext cx="3611880" cy="420624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1783080"/>
            <a:ext cx="3200400" cy="1005840"/>
          </a:xfrm>
          <a:prstGeom prst="rect">
            <a:avLst/>
          </a:prstGeom>
          <a:noFill/>
        </p:spPr>
        <p:txBody>
          <a:bodyPr wrap="square">
            <a:spAutoFit/>
          </a:bodyPr>
          <a:lstStyle/>
          <a:p>
            <a:pPr algn="l"/>
            <a:r>
              <a:rPr sz="2800" b="1">
                <a:solidFill>
                  <a:srgbClr val="C4A35A"/>
                </a:solidFill>
                <a:latin typeface="Calibri"/>
              </a:rPr>
              <a:t>₹2.04 lakh cr</a:t>
            </a:r>
          </a:p>
        </p:txBody>
      </p:sp>
      <p:sp>
        <p:nvSpPr>
          <p:cNvPr id="11" name="TextBox 10"/>
          <p:cNvSpPr txBox="1"/>
          <p:nvPr/>
        </p:nvSpPr>
        <p:spPr>
          <a:xfrm>
            <a:off x="4480560" y="2880360"/>
            <a:ext cx="3200400" cy="365760"/>
          </a:xfrm>
          <a:prstGeom prst="rect">
            <a:avLst/>
          </a:prstGeom>
          <a:noFill/>
        </p:spPr>
        <p:txBody>
          <a:bodyPr wrap="square">
            <a:spAutoFit/>
          </a:bodyPr>
          <a:lstStyle/>
          <a:p>
            <a:pPr algn="l"/>
            <a:r>
              <a:rPr sz="1600" b="1">
                <a:solidFill>
                  <a:srgbClr val="FFFFFF"/>
                </a:solidFill>
                <a:latin typeface="Calibri"/>
              </a:rPr>
              <a:t>September GST</a:t>
            </a:r>
          </a:p>
        </p:txBody>
      </p:sp>
      <p:sp>
        <p:nvSpPr>
          <p:cNvPr id="12" name="TextBox 11"/>
          <p:cNvSpPr txBox="1"/>
          <p:nvPr/>
        </p:nvSpPr>
        <p:spPr>
          <a:xfrm>
            <a:off x="4480560" y="3383280"/>
            <a:ext cx="3200400" cy="2011680"/>
          </a:xfrm>
          <a:prstGeom prst="rect">
            <a:avLst/>
          </a:prstGeom>
          <a:noFill/>
        </p:spPr>
        <p:txBody>
          <a:bodyPr wrap="square">
            <a:spAutoFit/>
          </a:bodyPr>
          <a:lstStyle/>
          <a:p>
            <a:pPr algn="l"/>
            <a:r>
              <a:rPr sz="1500" b="0">
                <a:solidFill>
                  <a:srgbClr val="E6DED0"/>
                </a:solidFill>
                <a:latin typeface="Calibri"/>
              </a:rPr>
              <a:t>Gross collections up 14.7% year on year, helped by activity and pre-festive stocking.</a:t>
            </a:r>
          </a:p>
        </p:txBody>
      </p:sp>
      <p:sp>
        <p:nvSpPr>
          <p:cNvPr id="13" name="Rectangle 12"/>
          <p:cNvSpPr/>
          <p:nvPr/>
        </p:nvSpPr>
        <p:spPr>
          <a:xfrm>
            <a:off x="8092440" y="1554480"/>
            <a:ext cx="3611880" cy="420624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1783080"/>
            <a:ext cx="3200400" cy="1005840"/>
          </a:xfrm>
          <a:prstGeom prst="rect">
            <a:avLst/>
          </a:prstGeom>
          <a:noFill/>
        </p:spPr>
        <p:txBody>
          <a:bodyPr wrap="square">
            <a:spAutoFit/>
          </a:bodyPr>
          <a:lstStyle/>
          <a:p>
            <a:pPr algn="l"/>
            <a:r>
              <a:rPr sz="2800" b="1">
                <a:solidFill>
                  <a:srgbClr val="C4A35A"/>
                </a:solidFill>
                <a:latin typeface="Calibri"/>
              </a:rPr>
              <a:t>₹36,000 cr</a:t>
            </a:r>
          </a:p>
        </p:txBody>
      </p:sp>
      <p:sp>
        <p:nvSpPr>
          <p:cNvPr id="15" name="TextBox 14"/>
          <p:cNvSpPr txBox="1"/>
          <p:nvPr/>
        </p:nvSpPr>
        <p:spPr>
          <a:xfrm>
            <a:off x="8321040" y="2880360"/>
            <a:ext cx="3200400" cy="365760"/>
          </a:xfrm>
          <a:prstGeom prst="rect">
            <a:avLst/>
          </a:prstGeom>
          <a:noFill/>
        </p:spPr>
        <p:txBody>
          <a:bodyPr wrap="square">
            <a:spAutoFit/>
          </a:bodyPr>
          <a:lstStyle/>
          <a:p>
            <a:pPr algn="l"/>
            <a:r>
              <a:rPr sz="1600" b="1">
                <a:solidFill>
                  <a:srgbClr val="FFFFFF"/>
                </a:solidFill>
                <a:latin typeface="Calibri"/>
              </a:rPr>
              <a:t>September FPI sale</a:t>
            </a:r>
          </a:p>
        </p:txBody>
      </p:sp>
      <p:sp>
        <p:nvSpPr>
          <p:cNvPr id="16" name="TextBox 15"/>
          <p:cNvSpPr txBox="1"/>
          <p:nvPr/>
        </p:nvSpPr>
        <p:spPr>
          <a:xfrm>
            <a:off x="8321040" y="3383280"/>
            <a:ext cx="3200400" cy="2011680"/>
          </a:xfrm>
          <a:prstGeom prst="rect">
            <a:avLst/>
          </a:prstGeom>
          <a:noFill/>
        </p:spPr>
        <p:txBody>
          <a:bodyPr wrap="square">
            <a:spAutoFit/>
          </a:bodyPr>
          <a:lstStyle/>
          <a:p>
            <a:pPr algn="l"/>
            <a:r>
              <a:rPr sz="1500" b="0">
                <a:solidFill>
                  <a:srgbClr val="E6DED0"/>
                </a:solidFill>
                <a:latin typeface="Calibri"/>
              </a:rPr>
              <a:t>Foreign portfolio investors sold equities through the month, a risk-off rotation.</a:t>
            </a:r>
          </a:p>
        </p:txBody>
      </p:sp>
      <p:sp>
        <p:nvSpPr>
          <p:cNvPr id="17" name="TextBox 16"/>
          <p:cNvSpPr txBox="1"/>
          <p:nvPr/>
        </p:nvSpPr>
        <p:spPr>
          <a:xfrm>
            <a:off x="365760" y="6446520"/>
            <a:ext cx="11430000" cy="292608"/>
          </a:xfrm>
          <a:prstGeom prst="rect">
            <a:avLst/>
          </a:prstGeom>
          <a:noFill/>
        </p:spPr>
        <p:txBody>
          <a:bodyPr wrap="none">
            <a:spAutoFit/>
          </a:bodyPr>
          <a:lstStyle/>
          <a:p>
            <a:pPr algn="l"/>
            <a:r>
              <a:rPr sz="1000">
                <a:solidFill>
                  <a:srgbClr val="6B6255"/>
                </a:solidFill>
                <a:latin typeface="Calibri"/>
              </a:rPr>
              <a:t>Future CFO_DP  |  Created and Copyright by Dr. Debasis Pahi  |  2026-10-03  |  3/14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320040"/>
          </a:xfrm>
          <a:prstGeom prst="rect">
            <a:avLst/>
          </a:prstGeom>
          <a:noFill/>
        </p:spPr>
        <p:txBody>
          <a:bodyPr wrap="square">
            <a:spAutoFit/>
          </a:bodyPr>
          <a:lstStyle/>
          <a:p>
            <a:pPr algn="l"/>
            <a:r>
              <a:rPr sz="1400" b="1">
                <a:solidFill>
                  <a:srgbClr val="1F6F6A"/>
                </a:solidFill>
                <a:latin typeface="Calibri"/>
              </a:rPr>
              <a:t>FX  ·  VERIFY ON THE RBI REFERENCE RATE</a:t>
            </a:r>
          </a:p>
        </p:txBody>
      </p:sp>
      <p:sp>
        <p:nvSpPr>
          <p:cNvPr id="4" name="TextBox 3"/>
          <p:cNvSpPr txBox="1"/>
          <p:nvPr/>
        </p:nvSpPr>
        <p:spPr>
          <a:xfrm>
            <a:off x="457200" y="731520"/>
            <a:ext cx="10972800" cy="548640"/>
          </a:xfrm>
          <a:prstGeom prst="rect">
            <a:avLst/>
          </a:prstGeom>
          <a:noFill/>
        </p:spPr>
        <p:txBody>
          <a:bodyPr wrap="square">
            <a:spAutoFit/>
          </a:bodyPr>
          <a:lstStyle/>
          <a:p>
            <a:pPr algn="l"/>
            <a:r>
              <a:rPr sz="2600" b="1">
                <a:solidFill>
                  <a:srgbClr val="0B1F3A"/>
                </a:solidFill>
                <a:latin typeface="Calibri"/>
              </a:rPr>
              <a:t>96.3150 is a headline. The hedge book is the job.</a:t>
            </a:r>
          </a:p>
        </p:txBody>
      </p:sp>
      <p:sp>
        <p:nvSpPr>
          <p:cNvPr id="5" name="TextBox 4"/>
          <p:cNvSpPr txBox="1"/>
          <p:nvPr/>
        </p:nvSpPr>
        <p:spPr>
          <a:xfrm>
            <a:off x="548640" y="1554480"/>
            <a:ext cx="10972800" cy="777240"/>
          </a:xfrm>
          <a:prstGeom prst="rect">
            <a:avLst/>
          </a:prstGeom>
          <a:noFill/>
        </p:spPr>
        <p:txBody>
          <a:bodyPr wrap="square">
            <a:spAutoFit/>
          </a:bodyPr>
          <a:lstStyle/>
          <a:p>
            <a:pPr algn="l"/>
            <a:r>
              <a:rPr sz="1800" b="0">
                <a:solidFill>
                  <a:srgbClr val="1A1A1A"/>
                </a:solidFill>
                <a:latin typeface="Calibri"/>
              </a:rPr>
              <a:t>•  Reported move: rupee weaker by about 0.5 percent, breaching 96 per dollar, a two-month low.</a:t>
            </a:r>
          </a:p>
        </p:txBody>
      </p:sp>
      <p:sp>
        <p:nvSpPr>
          <p:cNvPr id="6" name="TextBox 5"/>
          <p:cNvSpPr txBox="1"/>
          <p:nvPr/>
        </p:nvSpPr>
        <p:spPr>
          <a:xfrm>
            <a:off x="548640" y="2423160"/>
            <a:ext cx="10972800" cy="777240"/>
          </a:xfrm>
          <a:prstGeom prst="rect">
            <a:avLst/>
          </a:prstGeom>
          <a:noFill/>
        </p:spPr>
        <p:txBody>
          <a:bodyPr wrap="square">
            <a:spAutoFit/>
          </a:bodyPr>
          <a:lstStyle/>
          <a:p>
            <a:pPr algn="l"/>
            <a:r>
              <a:rPr sz="1800" b="0">
                <a:solidFill>
                  <a:srgbClr val="1A1A1A"/>
                </a:solidFill>
                <a:latin typeface="Calibri"/>
              </a:rPr>
              <a:t>•  Drivers cited in the 2 October briefs: foreign selling and higher US Treasury yields.</a:t>
            </a:r>
          </a:p>
        </p:txBody>
      </p:sp>
      <p:sp>
        <p:nvSpPr>
          <p:cNvPr id="7" name="TextBox 6"/>
          <p:cNvSpPr txBox="1"/>
          <p:nvPr/>
        </p:nvSpPr>
        <p:spPr>
          <a:xfrm>
            <a:off x="548640" y="3291839"/>
            <a:ext cx="10972800" cy="777240"/>
          </a:xfrm>
          <a:prstGeom prst="rect">
            <a:avLst/>
          </a:prstGeom>
          <a:noFill/>
        </p:spPr>
        <p:txBody>
          <a:bodyPr wrap="square">
            <a:spAutoFit/>
          </a:bodyPr>
          <a:lstStyle/>
          <a:p>
            <a:pPr algn="l"/>
            <a:r>
              <a:rPr sz="1800" b="0">
                <a:solidFill>
                  <a:srgbClr val="1A1A1A"/>
                </a:solidFill>
                <a:latin typeface="Calibri"/>
              </a:rPr>
              <a:t>•  CFO translation: unhedged dollar payables get more expensive in rupees; dollar receivables look richer.</a:t>
            </a:r>
          </a:p>
        </p:txBody>
      </p:sp>
      <p:sp>
        <p:nvSpPr>
          <p:cNvPr id="8" name="TextBox 7"/>
          <p:cNvSpPr txBox="1"/>
          <p:nvPr/>
        </p:nvSpPr>
        <p:spPr>
          <a:xfrm>
            <a:off x="548640" y="4160520"/>
            <a:ext cx="10972800" cy="777240"/>
          </a:xfrm>
          <a:prstGeom prst="rect">
            <a:avLst/>
          </a:prstGeom>
          <a:noFill/>
        </p:spPr>
        <p:txBody>
          <a:bodyPr wrap="square">
            <a:spAutoFit/>
          </a:bodyPr>
          <a:lstStyle/>
          <a:p>
            <a:pPr algn="l"/>
            <a:r>
              <a:rPr sz="1800" b="0">
                <a:solidFill>
                  <a:srgbClr val="1A1A1A"/>
                </a:solidFill>
                <a:latin typeface="Calibri"/>
              </a:rPr>
              <a:t>•  Do not mark the whole book to one print. Use the contracted rate, the hedge rate, and the open exposure separately.</a:t>
            </a:r>
          </a:p>
        </p:txBody>
      </p:sp>
      <p:sp>
        <p:nvSpPr>
          <p:cNvPr id="9" name="TextBox 8"/>
          <p:cNvSpPr txBox="1"/>
          <p:nvPr/>
        </p:nvSpPr>
        <p:spPr>
          <a:xfrm>
            <a:off x="548640" y="5029200"/>
            <a:ext cx="10972800" cy="777240"/>
          </a:xfrm>
          <a:prstGeom prst="rect">
            <a:avLst/>
          </a:prstGeom>
          <a:noFill/>
        </p:spPr>
        <p:txBody>
          <a:bodyPr wrap="square">
            <a:spAutoFit/>
          </a:bodyPr>
          <a:lstStyle/>
          <a:p>
            <a:pPr algn="l"/>
            <a:r>
              <a:rPr sz="1800" b="0">
                <a:solidFill>
                  <a:srgbClr val="1A1A1A"/>
                </a:solidFill>
                <a:latin typeface="Calibri"/>
              </a:rPr>
              <a:t>•  Monday open can gap. A Saturday brief is a watchlist, not a journal entry.</a:t>
            </a:r>
          </a:p>
        </p:txBody>
      </p:sp>
      <p:sp>
        <p:nvSpPr>
          <p:cNvPr id="10" name="TextBox 9"/>
          <p:cNvSpPr txBox="1"/>
          <p:nvPr/>
        </p:nvSpPr>
        <p:spPr>
          <a:xfrm>
            <a:off x="365760" y="6446520"/>
            <a:ext cx="11430000" cy="292608"/>
          </a:xfrm>
          <a:prstGeom prst="rect">
            <a:avLst/>
          </a:prstGeom>
          <a:noFill/>
        </p:spPr>
        <p:txBody>
          <a:bodyPr wrap="none">
            <a:spAutoFit/>
          </a:bodyPr>
          <a:lstStyle/>
          <a:p>
            <a:pPr algn="l"/>
            <a:r>
              <a:rPr sz="1000">
                <a:solidFill>
                  <a:srgbClr val="6B6255"/>
                </a:solidFill>
                <a:latin typeface="Calibri"/>
              </a:rPr>
              <a:t>Future CFO_DP  |  Created and Copyright by Dr. Debasis Pahi  |  2026-10-03  |  4/14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320040"/>
          </a:xfrm>
          <a:prstGeom prst="rect">
            <a:avLst/>
          </a:prstGeom>
          <a:noFill/>
        </p:spPr>
        <p:txBody>
          <a:bodyPr wrap="square">
            <a:spAutoFit/>
          </a:bodyPr>
          <a:lstStyle/>
          <a:p>
            <a:pPr algn="l"/>
            <a:r>
              <a:rPr sz="1400" b="1">
                <a:solidFill>
                  <a:srgbClr val="1F6F6A"/>
                </a:solidFill>
                <a:latin typeface="Calibri"/>
              </a:rPr>
              <a:t>TAX  ·  GROSS IS NOT NET</a:t>
            </a:r>
          </a:p>
        </p:txBody>
      </p:sp>
      <p:sp>
        <p:nvSpPr>
          <p:cNvPr id="4" name="TextBox 3"/>
          <p:cNvSpPr txBox="1"/>
          <p:nvPr/>
        </p:nvSpPr>
        <p:spPr>
          <a:xfrm>
            <a:off x="457200" y="731520"/>
            <a:ext cx="10972800" cy="640080"/>
          </a:xfrm>
          <a:prstGeom prst="rect">
            <a:avLst/>
          </a:prstGeom>
          <a:noFill/>
        </p:spPr>
        <p:txBody>
          <a:bodyPr wrap="square">
            <a:spAutoFit/>
          </a:bodyPr>
          <a:lstStyle/>
          <a:p>
            <a:pPr algn="l"/>
            <a:r>
              <a:rPr sz="2800" b="1">
                <a:solidFill>
                  <a:srgbClr val="0B1F3A"/>
                </a:solidFill>
                <a:latin typeface="Calibri"/>
              </a:rPr>
              <a:t>September GST: ₹2.04 lakh crore, +14.7%</a:t>
            </a:r>
          </a:p>
        </p:txBody>
      </p:sp>
      <p:sp>
        <p:nvSpPr>
          <p:cNvPr id="5" name="TextBox 4"/>
          <p:cNvSpPr txBox="1"/>
          <p:nvPr/>
        </p:nvSpPr>
        <p:spPr>
          <a:xfrm>
            <a:off x="457200" y="1554480"/>
            <a:ext cx="10972800" cy="1188720"/>
          </a:xfrm>
          <a:prstGeom prst="rect">
            <a:avLst/>
          </a:prstGeom>
          <a:noFill/>
        </p:spPr>
        <p:txBody>
          <a:bodyPr wrap="square">
            <a:spAutoFit/>
          </a:bodyPr>
          <a:lstStyle/>
          <a:p>
            <a:pPr algn="l"/>
            <a:r>
              <a:rPr sz="1800" b="0">
                <a:solidFill>
                  <a:srgbClr val="1A1A1A"/>
                </a:solidFill>
                <a:latin typeface="Calibri"/>
              </a:rPr>
              <a:t>Press briefs link the print to steady activity and pre-festive inventory build-up. That is a demand signal, not a cash-flow guarantee for your firm.</a:t>
            </a:r>
          </a:p>
        </p:txBody>
      </p:sp>
      <p:sp>
        <p:nvSpPr>
          <p:cNvPr id="6" name="TextBox 5"/>
          <p:cNvSpPr txBox="1"/>
          <p:nvPr/>
        </p:nvSpPr>
        <p:spPr>
          <a:xfrm>
            <a:off x="502920" y="2880360"/>
            <a:ext cx="2926080" cy="365760"/>
          </a:xfrm>
          <a:prstGeom prst="rect">
            <a:avLst/>
          </a:prstGeom>
          <a:noFill/>
        </p:spPr>
        <p:txBody>
          <a:bodyPr wrap="square">
            <a:spAutoFit/>
          </a:bodyPr>
          <a:lstStyle/>
          <a:p>
            <a:pPr algn="l"/>
            <a:r>
              <a:rPr sz="1600" b="1">
                <a:solidFill>
                  <a:srgbClr val="1F6F6A"/>
                </a:solidFill>
                <a:latin typeface="Calibri"/>
              </a:rPr>
              <a:t>Gross vs net</a:t>
            </a:r>
          </a:p>
        </p:txBody>
      </p:sp>
      <p:sp>
        <p:nvSpPr>
          <p:cNvPr id="7" name="TextBox 6"/>
          <p:cNvSpPr txBox="1"/>
          <p:nvPr/>
        </p:nvSpPr>
        <p:spPr>
          <a:xfrm>
            <a:off x="3474720" y="2880360"/>
            <a:ext cx="8046720" cy="822960"/>
          </a:xfrm>
          <a:prstGeom prst="rect">
            <a:avLst/>
          </a:prstGeom>
          <a:noFill/>
        </p:spPr>
        <p:txBody>
          <a:bodyPr wrap="square">
            <a:spAutoFit/>
          </a:bodyPr>
          <a:lstStyle/>
          <a:p>
            <a:pPr algn="l"/>
            <a:r>
              <a:rPr sz="1500" b="0">
                <a:solidFill>
                  <a:srgbClr val="1A1A1A"/>
                </a:solidFill>
                <a:latin typeface="Calibri"/>
              </a:rPr>
              <a:t>Refunds and settlements come later. Do not treat gross GST as government surplus you can model as a rate cut.</a:t>
            </a:r>
          </a:p>
        </p:txBody>
      </p:sp>
      <p:sp>
        <p:nvSpPr>
          <p:cNvPr id="8" name="TextBox 7"/>
          <p:cNvSpPr txBox="1"/>
          <p:nvPr/>
        </p:nvSpPr>
        <p:spPr>
          <a:xfrm>
            <a:off x="502920" y="3931920"/>
            <a:ext cx="2926080" cy="365760"/>
          </a:xfrm>
          <a:prstGeom prst="rect">
            <a:avLst/>
          </a:prstGeom>
          <a:noFill/>
        </p:spPr>
        <p:txBody>
          <a:bodyPr wrap="square">
            <a:spAutoFit/>
          </a:bodyPr>
          <a:lstStyle/>
          <a:p>
            <a:pPr algn="l"/>
            <a:r>
              <a:rPr sz="1600" b="1">
                <a:solidFill>
                  <a:srgbClr val="1F6F6A"/>
                </a:solidFill>
                <a:latin typeface="Calibri"/>
              </a:rPr>
              <a:t>Your ledger</a:t>
            </a:r>
          </a:p>
        </p:txBody>
      </p:sp>
      <p:sp>
        <p:nvSpPr>
          <p:cNvPr id="9" name="TextBox 8"/>
          <p:cNvSpPr txBox="1"/>
          <p:nvPr/>
        </p:nvSpPr>
        <p:spPr>
          <a:xfrm>
            <a:off x="3474720" y="3931920"/>
            <a:ext cx="8046720" cy="822960"/>
          </a:xfrm>
          <a:prstGeom prst="rect">
            <a:avLst/>
          </a:prstGeom>
          <a:noFill/>
        </p:spPr>
        <p:txBody>
          <a:bodyPr wrap="square">
            <a:spAutoFit/>
          </a:bodyPr>
          <a:lstStyle/>
          <a:p>
            <a:pPr algn="l"/>
            <a:r>
              <a:rPr sz="1500" b="0">
                <a:solidFill>
                  <a:srgbClr val="1A1A1A"/>
                </a:solidFill>
                <a:latin typeface="Calibri"/>
              </a:rPr>
              <a:t>Match your GSTR-1 and GSTR-3B to dispatch, not to the national headline.</a:t>
            </a:r>
          </a:p>
        </p:txBody>
      </p:sp>
      <p:sp>
        <p:nvSpPr>
          <p:cNvPr id="10" name="TextBox 9"/>
          <p:cNvSpPr txBox="1"/>
          <p:nvPr/>
        </p:nvSpPr>
        <p:spPr>
          <a:xfrm>
            <a:off x="502920" y="4983479"/>
            <a:ext cx="2926080" cy="365760"/>
          </a:xfrm>
          <a:prstGeom prst="rect">
            <a:avLst/>
          </a:prstGeom>
          <a:noFill/>
        </p:spPr>
        <p:txBody>
          <a:bodyPr wrap="square">
            <a:spAutoFit/>
          </a:bodyPr>
          <a:lstStyle/>
          <a:p>
            <a:pPr algn="l"/>
            <a:r>
              <a:rPr sz="1600" b="1">
                <a:solidFill>
                  <a:srgbClr val="1F6F6A"/>
                </a:solidFill>
                <a:latin typeface="Calibri"/>
              </a:rPr>
              <a:t>Festive stocking</a:t>
            </a:r>
          </a:p>
        </p:txBody>
      </p:sp>
      <p:sp>
        <p:nvSpPr>
          <p:cNvPr id="11" name="TextBox 10"/>
          <p:cNvSpPr txBox="1"/>
          <p:nvPr/>
        </p:nvSpPr>
        <p:spPr>
          <a:xfrm>
            <a:off x="3474720" y="4983479"/>
            <a:ext cx="8046720" cy="822960"/>
          </a:xfrm>
          <a:prstGeom prst="rect">
            <a:avLst/>
          </a:prstGeom>
          <a:noFill/>
        </p:spPr>
        <p:txBody>
          <a:bodyPr wrap="square">
            <a:spAutoFit/>
          </a:bodyPr>
          <a:lstStyle/>
          <a:p>
            <a:pPr algn="l"/>
            <a:r>
              <a:rPr sz="1500" b="0">
                <a:solidFill>
                  <a:srgbClr val="1A1A1A"/>
                </a:solidFill>
                <a:latin typeface="Calibri"/>
              </a:rPr>
              <a:t>September auto dispatches were strong: Maruti total sales +24% to 2.36 lakh units; Hero +12% to 7.66 lakh units. Channel fill is not retail sell-through.</a:t>
            </a:r>
          </a:p>
        </p:txBody>
      </p:sp>
      <p:sp>
        <p:nvSpPr>
          <p:cNvPr id="12" name="TextBox 11"/>
          <p:cNvSpPr txBox="1"/>
          <p:nvPr/>
        </p:nvSpPr>
        <p:spPr>
          <a:xfrm>
            <a:off x="365760" y="6446520"/>
            <a:ext cx="11430000" cy="292608"/>
          </a:xfrm>
          <a:prstGeom prst="rect">
            <a:avLst/>
          </a:prstGeom>
          <a:noFill/>
        </p:spPr>
        <p:txBody>
          <a:bodyPr wrap="none">
            <a:spAutoFit/>
          </a:bodyPr>
          <a:lstStyle/>
          <a:p>
            <a:pPr algn="l"/>
            <a:r>
              <a:rPr sz="1000">
                <a:solidFill>
                  <a:srgbClr val="6B6255"/>
                </a:solidFill>
                <a:latin typeface="Calibri"/>
              </a:rPr>
              <a:t>Future CFO_DP  |  Created and Copyright by Dr. Debasis Pahi  |  2026-10-03  |  5/14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320040"/>
          </a:xfrm>
          <a:prstGeom prst="rect">
            <a:avLst/>
          </a:prstGeom>
          <a:noFill/>
        </p:spPr>
        <p:txBody>
          <a:bodyPr wrap="square">
            <a:spAutoFit/>
          </a:bodyPr>
          <a:lstStyle/>
          <a:p>
            <a:pPr algn="l"/>
            <a:r>
              <a:rPr sz="1400" b="1">
                <a:solidFill>
                  <a:srgbClr val="1F6F6A"/>
                </a:solidFill>
                <a:latin typeface="Calibri"/>
              </a:rPr>
              <a:t>FLOWS  ·  TWO PIPES, DIFFERENT OWNERS</a:t>
            </a:r>
          </a:p>
        </p:txBody>
      </p:sp>
      <p:sp>
        <p:nvSpPr>
          <p:cNvPr id="4" name="TextBox 3"/>
          <p:cNvSpPr txBox="1"/>
          <p:nvPr/>
        </p:nvSpPr>
        <p:spPr>
          <a:xfrm>
            <a:off x="457200" y="731520"/>
            <a:ext cx="10972800" cy="548640"/>
          </a:xfrm>
          <a:prstGeom prst="rect">
            <a:avLst/>
          </a:prstGeom>
          <a:noFill/>
        </p:spPr>
        <p:txBody>
          <a:bodyPr wrap="square">
            <a:spAutoFit/>
          </a:bodyPr>
          <a:lstStyle/>
          <a:p>
            <a:pPr algn="l"/>
            <a:r>
              <a:rPr sz="2600" b="1">
                <a:solidFill>
                  <a:srgbClr val="0B1F3A"/>
                </a:solidFill>
                <a:latin typeface="Calibri"/>
              </a:rPr>
              <a:t>Foreign money left equities. UPI did not.</a:t>
            </a:r>
          </a:p>
        </p:txBody>
      </p:sp>
      <p:sp>
        <p:nvSpPr>
          <p:cNvPr id="5" name="Rectangle 4"/>
          <p:cNvSpPr/>
          <p:nvPr/>
        </p:nvSpPr>
        <p:spPr>
          <a:xfrm>
            <a:off x="457200" y="1554480"/>
            <a:ext cx="5486400" cy="420624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83080"/>
            <a:ext cx="5029200" cy="365760"/>
          </a:xfrm>
          <a:prstGeom prst="rect">
            <a:avLst/>
          </a:prstGeom>
          <a:noFill/>
        </p:spPr>
        <p:txBody>
          <a:bodyPr wrap="square">
            <a:spAutoFit/>
          </a:bodyPr>
          <a:lstStyle/>
          <a:p>
            <a:pPr algn="l"/>
            <a:r>
              <a:rPr sz="1400" b="1">
                <a:solidFill>
                  <a:srgbClr val="C4A35A"/>
                </a:solidFill>
                <a:latin typeface="Calibri"/>
              </a:rPr>
              <a:t>FPI EQUITIES, SEPTEMBER</a:t>
            </a:r>
          </a:p>
        </p:txBody>
      </p:sp>
      <p:sp>
        <p:nvSpPr>
          <p:cNvPr id="7" name="TextBox 6"/>
          <p:cNvSpPr txBox="1"/>
          <p:nvPr/>
        </p:nvSpPr>
        <p:spPr>
          <a:xfrm>
            <a:off x="685800" y="2286000"/>
            <a:ext cx="5029200" cy="1097280"/>
          </a:xfrm>
          <a:prstGeom prst="rect">
            <a:avLst/>
          </a:prstGeom>
          <a:noFill/>
        </p:spPr>
        <p:txBody>
          <a:bodyPr wrap="square">
            <a:spAutoFit/>
          </a:bodyPr>
          <a:lstStyle/>
          <a:p>
            <a:pPr algn="l"/>
            <a:r>
              <a:rPr sz="2800" b="1">
                <a:solidFill>
                  <a:srgbClr val="FFFFFF"/>
                </a:solidFill>
                <a:latin typeface="Calibri"/>
              </a:rPr>
              <a:t>₹36,000 crore sold</a:t>
            </a:r>
          </a:p>
        </p:txBody>
      </p:sp>
      <p:sp>
        <p:nvSpPr>
          <p:cNvPr id="8" name="TextBox 7"/>
          <p:cNvSpPr txBox="1"/>
          <p:nvPr/>
        </p:nvSpPr>
        <p:spPr>
          <a:xfrm>
            <a:off x="685800" y="3566160"/>
            <a:ext cx="5029200" cy="1828800"/>
          </a:xfrm>
          <a:prstGeom prst="rect">
            <a:avLst/>
          </a:prstGeom>
          <a:noFill/>
        </p:spPr>
        <p:txBody>
          <a:bodyPr wrap="square">
            <a:spAutoFit/>
          </a:bodyPr>
          <a:lstStyle/>
          <a:p>
            <a:pPr algn="l"/>
            <a:r>
              <a:rPr sz="1500" b="0">
                <a:solidFill>
                  <a:srgbClr val="E6DED0"/>
                </a:solidFill>
                <a:latin typeface="Calibri"/>
              </a:rPr>
              <a:t>Risk-off toward the dollar and higher US yields. More than 25 Nifty names were reported over 20% below recent highs. Cost of equity in your DCF is not a constant.</a:t>
            </a:r>
          </a:p>
        </p:txBody>
      </p:sp>
      <p:sp>
        <p:nvSpPr>
          <p:cNvPr id="9" name="Rectangle 8"/>
          <p:cNvSpPr/>
          <p:nvPr/>
        </p:nvSpPr>
        <p:spPr>
          <a:xfrm>
            <a:off x="6217920" y="1554480"/>
            <a:ext cx="5486400" cy="4206240"/>
          </a:xfrm>
          <a:prstGeom prst="rect">
            <a:avLst/>
          </a:prstGeom>
          <a:solidFill>
            <a:srgbClr val="1F6F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783080"/>
            <a:ext cx="5029200" cy="365760"/>
          </a:xfrm>
          <a:prstGeom prst="rect">
            <a:avLst/>
          </a:prstGeom>
          <a:noFill/>
        </p:spPr>
        <p:txBody>
          <a:bodyPr wrap="square">
            <a:spAutoFit/>
          </a:bodyPr>
          <a:lstStyle/>
          <a:p>
            <a:pPr algn="l"/>
            <a:r>
              <a:rPr sz="1400" b="1">
                <a:solidFill>
                  <a:srgbClr val="C4A35A"/>
                </a:solidFill>
                <a:latin typeface="Calibri"/>
              </a:rPr>
              <a:t>UPI, SEPTEMBER</a:t>
            </a:r>
          </a:p>
        </p:txBody>
      </p:sp>
      <p:sp>
        <p:nvSpPr>
          <p:cNvPr id="11" name="TextBox 10"/>
          <p:cNvSpPr txBox="1"/>
          <p:nvPr/>
        </p:nvSpPr>
        <p:spPr>
          <a:xfrm>
            <a:off x="6446520" y="2286000"/>
            <a:ext cx="5029200" cy="1097280"/>
          </a:xfrm>
          <a:prstGeom prst="rect">
            <a:avLst/>
          </a:prstGeom>
          <a:noFill/>
        </p:spPr>
        <p:txBody>
          <a:bodyPr wrap="square">
            <a:spAutoFit/>
          </a:bodyPr>
          <a:lstStyle/>
          <a:p>
            <a:pPr algn="l"/>
            <a:r>
              <a:rPr sz="2800" b="1">
                <a:solidFill>
                  <a:srgbClr val="FFFFFF"/>
                </a:solidFill>
                <a:latin typeface="Calibri"/>
              </a:rPr>
              <a:t>24.07 billion txns</a:t>
            </a:r>
          </a:p>
        </p:txBody>
      </p:sp>
      <p:sp>
        <p:nvSpPr>
          <p:cNvPr id="12" name="TextBox 11"/>
          <p:cNvSpPr txBox="1"/>
          <p:nvPr/>
        </p:nvSpPr>
        <p:spPr>
          <a:xfrm>
            <a:off x="6446520" y="3566160"/>
            <a:ext cx="5029200" cy="1828800"/>
          </a:xfrm>
          <a:prstGeom prst="rect">
            <a:avLst/>
          </a:prstGeom>
          <a:noFill/>
        </p:spPr>
        <p:txBody>
          <a:bodyPr wrap="square">
            <a:spAutoFit/>
          </a:bodyPr>
          <a:lstStyle/>
          <a:p>
            <a:pPr algn="l"/>
            <a:r>
              <a:rPr sz="1500" b="0">
                <a:solidFill>
                  <a:srgbClr val="FFFFFF"/>
                </a:solidFill>
                <a:latin typeface="Calibri"/>
              </a:rPr>
              <a:t>Up 23% year on year. Domestic payment rails and foreign portfolio flows can diverge. A consumer CFO watches both.</a:t>
            </a:r>
          </a:p>
        </p:txBody>
      </p:sp>
      <p:sp>
        <p:nvSpPr>
          <p:cNvPr id="13" name="TextBox 12"/>
          <p:cNvSpPr txBox="1"/>
          <p:nvPr/>
        </p:nvSpPr>
        <p:spPr>
          <a:xfrm>
            <a:off x="365760" y="6446520"/>
            <a:ext cx="11430000" cy="292608"/>
          </a:xfrm>
          <a:prstGeom prst="rect">
            <a:avLst/>
          </a:prstGeom>
          <a:noFill/>
        </p:spPr>
        <p:txBody>
          <a:bodyPr wrap="none">
            <a:spAutoFit/>
          </a:bodyPr>
          <a:lstStyle/>
          <a:p>
            <a:pPr algn="l"/>
            <a:r>
              <a:rPr sz="1000">
                <a:solidFill>
                  <a:srgbClr val="6B6255"/>
                </a:solidFill>
                <a:latin typeface="Calibri"/>
              </a:rPr>
              <a:t>Future CFO_DP  |  Created and Copyright by Dr. Debasis Pahi  |  2026-10-03  |  6/14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320040"/>
          </a:xfrm>
          <a:prstGeom prst="rect">
            <a:avLst/>
          </a:prstGeom>
          <a:noFill/>
        </p:spPr>
        <p:txBody>
          <a:bodyPr wrap="square">
            <a:spAutoFit/>
          </a:bodyPr>
          <a:lstStyle/>
          <a:p>
            <a:pPr algn="l"/>
            <a:r>
              <a:rPr sz="1400" b="1">
                <a:solidFill>
                  <a:srgbClr val="1F6F6A"/>
                </a:solidFill>
                <a:latin typeface="Calibri"/>
              </a:rPr>
              <a:t>COUNTERPARTY  ·  HDFC BANK</a:t>
            </a:r>
          </a:p>
        </p:txBody>
      </p:sp>
      <p:sp>
        <p:nvSpPr>
          <p:cNvPr id="4" name="TextBox 3"/>
          <p:cNvSpPr txBox="1"/>
          <p:nvPr/>
        </p:nvSpPr>
        <p:spPr>
          <a:xfrm>
            <a:off x="457200" y="731520"/>
            <a:ext cx="10972800" cy="731520"/>
          </a:xfrm>
          <a:prstGeom prst="rect">
            <a:avLst/>
          </a:prstGeom>
          <a:noFill/>
        </p:spPr>
        <p:txBody>
          <a:bodyPr wrap="square">
            <a:spAutoFit/>
          </a:bodyPr>
          <a:lstStyle/>
          <a:p>
            <a:pPr algn="l"/>
            <a:r>
              <a:rPr sz="2800" b="1">
                <a:solidFill>
                  <a:srgbClr val="0B1F3A"/>
                </a:solidFill>
                <a:latin typeface="Calibri"/>
              </a:rPr>
              <a:t>Anup Bagchi cleared as MD and CEO</a:t>
            </a:r>
          </a:p>
        </p:txBody>
      </p:sp>
      <p:sp>
        <p:nvSpPr>
          <p:cNvPr id="5" name="TextBox 4"/>
          <p:cNvSpPr txBox="1"/>
          <p:nvPr/>
        </p:nvSpPr>
        <p:spPr>
          <a:xfrm>
            <a:off x="457200" y="1554480"/>
            <a:ext cx="10972800" cy="1280160"/>
          </a:xfrm>
          <a:prstGeom prst="rect">
            <a:avLst/>
          </a:prstGeom>
          <a:noFill/>
        </p:spPr>
        <p:txBody>
          <a:bodyPr wrap="square">
            <a:spAutoFit/>
          </a:bodyPr>
          <a:lstStyle/>
          <a:p>
            <a:pPr algn="l"/>
            <a:r>
              <a:rPr sz="1800" b="0">
                <a:solidFill>
                  <a:srgbClr val="1A1A1A"/>
                </a:solidFill>
                <a:latin typeface="Calibri"/>
              </a:rPr>
              <a:t>HDFC Bank received RBI clearance to appoint Anup Bagchi as Managing Director and Chief Executive Officer for a three-year term. He moves from ICICI Prudential Life. ADRs were reported up more than 5% after the announcement.</a:t>
            </a:r>
          </a:p>
        </p:txBody>
      </p:sp>
      <p:sp>
        <p:nvSpPr>
          <p:cNvPr id="6" name="TextBox 5"/>
          <p:cNvSpPr txBox="1"/>
          <p:nvPr/>
        </p:nvSpPr>
        <p:spPr>
          <a:xfrm>
            <a:off x="457200" y="3017520"/>
            <a:ext cx="10972800" cy="365760"/>
          </a:xfrm>
          <a:prstGeom prst="rect">
            <a:avLst/>
          </a:prstGeom>
          <a:noFill/>
        </p:spPr>
        <p:txBody>
          <a:bodyPr wrap="square">
            <a:spAutoFit/>
          </a:bodyPr>
          <a:lstStyle/>
          <a:p>
            <a:pPr algn="l"/>
            <a:r>
              <a:rPr sz="1800" b="1">
                <a:solidFill>
                  <a:srgbClr val="1F6F6A"/>
                </a:solidFill>
                <a:latin typeface="Calibri"/>
              </a:rPr>
              <a:t>What a borrower or depositor-CFO checks</a:t>
            </a:r>
          </a:p>
        </p:txBody>
      </p:sp>
      <p:sp>
        <p:nvSpPr>
          <p:cNvPr id="7" name="TextBox 6"/>
          <p:cNvSpPr txBox="1"/>
          <p:nvPr/>
        </p:nvSpPr>
        <p:spPr>
          <a:xfrm>
            <a:off x="548640" y="3566160"/>
            <a:ext cx="10972800" cy="640080"/>
          </a:xfrm>
          <a:prstGeom prst="rect">
            <a:avLst/>
          </a:prstGeom>
          <a:noFill/>
        </p:spPr>
        <p:txBody>
          <a:bodyPr wrap="square">
            <a:spAutoFit/>
          </a:bodyPr>
          <a:lstStyle/>
          <a:p>
            <a:pPr algn="l"/>
            <a:r>
              <a:rPr sz="1600" b="0">
                <a:solidFill>
                  <a:srgbClr val="1A1A1A"/>
                </a:solidFill>
                <a:latin typeface="Calibri"/>
              </a:rPr>
              <a:t>•  Facility covenants that name 'change in management' — usually CEO change alone is not a default. Read the clause.</a:t>
            </a:r>
          </a:p>
        </p:txBody>
      </p:sp>
      <p:sp>
        <p:nvSpPr>
          <p:cNvPr id="8" name="TextBox 7"/>
          <p:cNvSpPr txBox="1"/>
          <p:nvPr/>
        </p:nvSpPr>
        <p:spPr>
          <a:xfrm>
            <a:off x="548640" y="4343400"/>
            <a:ext cx="10972800" cy="640080"/>
          </a:xfrm>
          <a:prstGeom prst="rect">
            <a:avLst/>
          </a:prstGeom>
          <a:noFill/>
        </p:spPr>
        <p:txBody>
          <a:bodyPr wrap="square">
            <a:spAutoFit/>
          </a:bodyPr>
          <a:lstStyle/>
          <a:p>
            <a:pPr algn="l"/>
            <a:r>
              <a:rPr sz="1600" b="0">
                <a:solidFill>
                  <a:srgbClr val="1A1A1A"/>
                </a:solidFill>
                <a:latin typeface="Calibri"/>
              </a:rPr>
              <a:t>•  Relationship coverage: who owns your limit, and does the credit memo get refreshed.</a:t>
            </a:r>
          </a:p>
        </p:txBody>
      </p:sp>
      <p:sp>
        <p:nvSpPr>
          <p:cNvPr id="9" name="TextBox 8"/>
          <p:cNvSpPr txBox="1"/>
          <p:nvPr/>
        </p:nvSpPr>
        <p:spPr>
          <a:xfrm>
            <a:off x="548640" y="5120640"/>
            <a:ext cx="10972800" cy="640080"/>
          </a:xfrm>
          <a:prstGeom prst="rect">
            <a:avLst/>
          </a:prstGeom>
          <a:noFill/>
        </p:spPr>
        <p:txBody>
          <a:bodyPr wrap="square">
            <a:spAutoFit/>
          </a:bodyPr>
          <a:lstStyle/>
          <a:p>
            <a:pPr algn="l"/>
            <a:r>
              <a:rPr sz="1600" b="0">
                <a:solidFill>
                  <a:srgbClr val="1A1A1A"/>
                </a:solidFill>
                <a:latin typeface="Calibri"/>
              </a:rPr>
              <a:t>•  Do not rewrite your cost of funds off an ADR pop. Your spread is in the sanction letter.</a:t>
            </a:r>
          </a:p>
        </p:txBody>
      </p:sp>
      <p:sp>
        <p:nvSpPr>
          <p:cNvPr id="10" name="TextBox 9"/>
          <p:cNvSpPr txBox="1"/>
          <p:nvPr/>
        </p:nvSpPr>
        <p:spPr>
          <a:xfrm>
            <a:off x="365760" y="6446520"/>
            <a:ext cx="11430000" cy="292608"/>
          </a:xfrm>
          <a:prstGeom prst="rect">
            <a:avLst/>
          </a:prstGeom>
          <a:noFill/>
        </p:spPr>
        <p:txBody>
          <a:bodyPr wrap="none">
            <a:spAutoFit/>
          </a:bodyPr>
          <a:lstStyle/>
          <a:p>
            <a:pPr algn="l"/>
            <a:r>
              <a:rPr sz="1000">
                <a:solidFill>
                  <a:srgbClr val="6B6255"/>
                </a:solidFill>
                <a:latin typeface="Calibri"/>
              </a:rPr>
              <a:t>Future CFO_DP  |  Created and Copyright by Dr. Debasis Pahi  |  2026-10-03  |  7/14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320040"/>
          </a:xfrm>
          <a:prstGeom prst="rect">
            <a:avLst/>
          </a:prstGeom>
          <a:noFill/>
        </p:spPr>
        <p:txBody>
          <a:bodyPr wrap="square">
            <a:spAutoFit/>
          </a:bodyPr>
          <a:lstStyle/>
          <a:p>
            <a:pPr algn="l"/>
            <a:r>
              <a:rPr sz="1400" b="1">
                <a:solidFill>
                  <a:srgbClr val="1F6F6A"/>
                </a:solidFill>
                <a:latin typeface="Calibri"/>
              </a:rPr>
              <a:t>SUCCESSION  ·  A PAIR, NOT A RUMOUR</a:t>
            </a:r>
          </a:p>
        </p:txBody>
      </p:sp>
      <p:sp>
        <p:nvSpPr>
          <p:cNvPr id="4" name="TextBox 3"/>
          <p:cNvSpPr txBox="1"/>
          <p:nvPr/>
        </p:nvSpPr>
        <p:spPr>
          <a:xfrm>
            <a:off x="457200" y="731520"/>
            <a:ext cx="10972800" cy="640080"/>
          </a:xfrm>
          <a:prstGeom prst="rect">
            <a:avLst/>
          </a:prstGeom>
          <a:noFill/>
        </p:spPr>
        <p:txBody>
          <a:bodyPr wrap="square">
            <a:spAutoFit/>
          </a:bodyPr>
          <a:lstStyle/>
          <a:p>
            <a:pPr algn="l"/>
            <a:r>
              <a:rPr sz="2600" b="1">
                <a:solidFill>
                  <a:srgbClr val="0B1F3A"/>
                </a:solidFill>
                <a:latin typeface="Calibri"/>
              </a:rPr>
              <a:t>Sidharatha Mishra to ICICI Prudential Life</a:t>
            </a:r>
          </a:p>
        </p:txBody>
      </p:sp>
      <p:sp>
        <p:nvSpPr>
          <p:cNvPr id="5" name="TextBox 4"/>
          <p:cNvSpPr txBox="1"/>
          <p:nvPr/>
        </p:nvSpPr>
        <p:spPr>
          <a:xfrm>
            <a:off x="457200" y="1554480"/>
            <a:ext cx="10972800" cy="1371600"/>
          </a:xfrm>
          <a:prstGeom prst="rect">
            <a:avLst/>
          </a:prstGeom>
          <a:noFill/>
        </p:spPr>
        <p:txBody>
          <a:bodyPr wrap="square">
            <a:spAutoFit/>
          </a:bodyPr>
          <a:lstStyle/>
          <a:p>
            <a:pPr algn="l"/>
            <a:r>
              <a:rPr sz="1800" b="0">
                <a:solidFill>
                  <a:srgbClr val="1A1A1A"/>
                </a:solidFill>
                <a:latin typeface="Calibri"/>
              </a:rPr>
              <a:t>ICICI Prudential Life appointed Sidharatha Mishra, an ICICI Bank veteran, as MD and CEO for a five-year term, succeeding Bagchi. Economic Times also flagged Bagchi's test at HDFC Bank as winning back investor trust.</a:t>
            </a:r>
          </a:p>
        </p:txBody>
      </p:sp>
      <p:sp>
        <p:nvSpPr>
          <p:cNvPr id="6" name="TextBox 5"/>
          <p:cNvSpPr txBox="1"/>
          <p:nvPr/>
        </p:nvSpPr>
        <p:spPr>
          <a:xfrm>
            <a:off x="457200" y="3108960"/>
            <a:ext cx="10972800" cy="2377440"/>
          </a:xfrm>
          <a:prstGeom prst="rect">
            <a:avLst/>
          </a:prstGeom>
          <a:noFill/>
        </p:spPr>
        <p:txBody>
          <a:bodyPr wrap="square">
            <a:spAutoFit/>
          </a:bodyPr>
          <a:lstStyle/>
          <a:p>
            <a:pPr algn="l"/>
            <a:r>
              <a:rPr sz="1800" b="0">
                <a:solidFill>
                  <a:srgbClr val="1A1A1A"/>
                </a:solidFill>
                <a:latin typeface="Calibri"/>
              </a:rPr>
              <a:t>Teaching point: a group-level move creates two vacancies of attention — the bank that gains a CEO, and the insurer that must keep persistency, embedded value, and distribution steady. If your firm buys group term or credit life from either franchise, file the appointment in the counterparty memo. Do not trade the stock in the classroom.</a:t>
            </a:r>
          </a:p>
        </p:txBody>
      </p:sp>
      <p:sp>
        <p:nvSpPr>
          <p:cNvPr id="7" name="TextBox 6"/>
          <p:cNvSpPr txBox="1"/>
          <p:nvPr/>
        </p:nvSpPr>
        <p:spPr>
          <a:xfrm>
            <a:off x="365760" y="6446520"/>
            <a:ext cx="11430000" cy="292608"/>
          </a:xfrm>
          <a:prstGeom prst="rect">
            <a:avLst/>
          </a:prstGeom>
          <a:noFill/>
        </p:spPr>
        <p:txBody>
          <a:bodyPr wrap="none">
            <a:spAutoFit/>
          </a:bodyPr>
          <a:lstStyle/>
          <a:p>
            <a:pPr algn="l"/>
            <a:r>
              <a:rPr sz="1000">
                <a:solidFill>
                  <a:srgbClr val="6B6255"/>
                </a:solidFill>
                <a:latin typeface="Calibri"/>
              </a:rPr>
              <a:t>Future CFO_DP  |  Created and Copyright by Dr. Debasis Pahi  |  2026-10-03  |  8/14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320040"/>
          </a:xfrm>
          <a:prstGeom prst="rect">
            <a:avLst/>
          </a:prstGeom>
          <a:noFill/>
        </p:spPr>
        <p:txBody>
          <a:bodyPr wrap="square">
            <a:spAutoFit/>
          </a:bodyPr>
          <a:lstStyle/>
          <a:p>
            <a:pPr algn="l"/>
            <a:r>
              <a:rPr sz="1400" b="1">
                <a:solidFill>
                  <a:srgbClr val="1F6F6A"/>
                </a:solidFill>
                <a:latin typeface="Calibri"/>
              </a:rPr>
              <a:t>REGULATOR  ·  TWO RBI MOVES ON THE DESK</a:t>
            </a:r>
          </a:p>
        </p:txBody>
      </p:sp>
      <p:sp>
        <p:nvSpPr>
          <p:cNvPr id="4" name="TextBox 3"/>
          <p:cNvSpPr txBox="1"/>
          <p:nvPr/>
        </p:nvSpPr>
        <p:spPr>
          <a:xfrm>
            <a:off x="457200" y="731520"/>
            <a:ext cx="10972800" cy="548640"/>
          </a:xfrm>
          <a:prstGeom prst="rect">
            <a:avLst/>
          </a:prstGeom>
          <a:noFill/>
        </p:spPr>
        <p:txBody>
          <a:bodyPr wrap="square">
            <a:spAutoFit/>
          </a:bodyPr>
          <a:lstStyle/>
          <a:p>
            <a:pPr algn="l"/>
            <a:r>
              <a:rPr sz="2600" b="1">
                <a:solidFill>
                  <a:srgbClr val="0B1F3A"/>
                </a:solidFill>
                <a:latin typeface="Calibri"/>
              </a:rPr>
              <a:t>Rates paused. Bank-share rules eased.</a:t>
            </a:r>
          </a:p>
        </p:txBody>
      </p:sp>
      <p:sp>
        <p:nvSpPr>
          <p:cNvPr id="5" name="Rectangle 4"/>
          <p:cNvSpPr/>
          <p:nvPr/>
        </p:nvSpPr>
        <p:spPr>
          <a:xfrm>
            <a:off x="411480" y="1554480"/>
            <a:ext cx="5577840" cy="429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37360"/>
            <a:ext cx="5120640" cy="365760"/>
          </a:xfrm>
          <a:prstGeom prst="rect">
            <a:avLst/>
          </a:prstGeom>
          <a:noFill/>
        </p:spPr>
        <p:txBody>
          <a:bodyPr wrap="square">
            <a:spAutoFit/>
          </a:bodyPr>
          <a:lstStyle/>
          <a:p>
            <a:pPr algn="l"/>
            <a:r>
              <a:rPr sz="1400" b="1">
                <a:solidFill>
                  <a:srgbClr val="1F6F6A"/>
                </a:solidFill>
                <a:latin typeface="Calibri"/>
              </a:rPr>
              <a:t>POLICY RATE</a:t>
            </a:r>
          </a:p>
        </p:txBody>
      </p:sp>
      <p:sp>
        <p:nvSpPr>
          <p:cNvPr id="7" name="TextBox 6"/>
          <p:cNvSpPr txBox="1"/>
          <p:nvPr/>
        </p:nvSpPr>
        <p:spPr>
          <a:xfrm>
            <a:off x="640080" y="2194560"/>
            <a:ext cx="5120640" cy="1188720"/>
          </a:xfrm>
          <a:prstGeom prst="rect">
            <a:avLst/>
          </a:prstGeom>
          <a:noFill/>
        </p:spPr>
        <p:txBody>
          <a:bodyPr wrap="square">
            <a:spAutoFit/>
          </a:bodyPr>
          <a:lstStyle/>
          <a:p>
            <a:pPr algn="l"/>
            <a:r>
              <a:rPr sz="1800" b="1">
                <a:solidFill>
                  <a:srgbClr val="0B1F3A"/>
                </a:solidFill>
                <a:latin typeface="Calibri"/>
              </a:rPr>
              <a:t>Repo 5.25%, neutral stance. FY27 CPI cited near 4.6%.</a:t>
            </a:r>
          </a:p>
        </p:txBody>
      </p:sp>
      <p:sp>
        <p:nvSpPr>
          <p:cNvPr id="8" name="TextBox 7"/>
          <p:cNvSpPr txBox="1"/>
          <p:nvPr/>
        </p:nvSpPr>
        <p:spPr>
          <a:xfrm>
            <a:off x="640080" y="3657600"/>
            <a:ext cx="5120640" cy="1828800"/>
          </a:xfrm>
          <a:prstGeom prst="rect">
            <a:avLst/>
          </a:prstGeom>
          <a:noFill/>
        </p:spPr>
        <p:txBody>
          <a:bodyPr wrap="square">
            <a:spAutoFit/>
          </a:bodyPr>
          <a:lstStyle/>
          <a:p>
            <a:pPr algn="l"/>
            <a:r>
              <a:rPr sz="1500" b="0">
                <a:solidFill>
                  <a:srgbClr val="1A1A1A"/>
                </a:solidFill>
                <a:latin typeface="Calibri"/>
              </a:rPr>
              <a:t>Borrowing cost is predictable. It is not free. Real rates stay modestly positive if that inflation path holds. Refix floating loans off the sanction, not off a tweet.</a:t>
            </a:r>
          </a:p>
        </p:txBody>
      </p:sp>
      <p:sp>
        <p:nvSpPr>
          <p:cNvPr id="9" name="Rectangle 8"/>
          <p:cNvSpPr/>
          <p:nvPr/>
        </p:nvSpPr>
        <p:spPr>
          <a:xfrm>
            <a:off x="6217920" y="1554480"/>
            <a:ext cx="5577840" cy="429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737360"/>
            <a:ext cx="5120640" cy="365760"/>
          </a:xfrm>
          <a:prstGeom prst="rect">
            <a:avLst/>
          </a:prstGeom>
          <a:noFill/>
        </p:spPr>
        <p:txBody>
          <a:bodyPr wrap="square">
            <a:spAutoFit/>
          </a:bodyPr>
          <a:lstStyle/>
          <a:p>
            <a:pPr algn="l"/>
            <a:r>
              <a:rPr sz="1400" b="1">
                <a:solidFill>
                  <a:srgbClr val="1F6F6A"/>
                </a:solidFill>
                <a:latin typeface="Calibri"/>
              </a:rPr>
              <a:t>BANK EQUITY</a:t>
            </a:r>
          </a:p>
        </p:txBody>
      </p:sp>
      <p:sp>
        <p:nvSpPr>
          <p:cNvPr id="11" name="TextBox 10"/>
          <p:cNvSpPr txBox="1"/>
          <p:nvPr/>
        </p:nvSpPr>
        <p:spPr>
          <a:xfrm>
            <a:off x="6446520" y="2194560"/>
            <a:ext cx="5120640" cy="1188720"/>
          </a:xfrm>
          <a:prstGeom prst="rect">
            <a:avLst/>
          </a:prstGeom>
          <a:noFill/>
        </p:spPr>
        <p:txBody>
          <a:bodyPr wrap="square">
            <a:spAutoFit/>
          </a:bodyPr>
          <a:lstStyle/>
          <a:p>
            <a:pPr algn="l"/>
            <a:r>
              <a:rPr sz="1800" b="1">
                <a:solidFill>
                  <a:srgbClr val="0B1F3A"/>
                </a:solidFill>
                <a:latin typeface="Calibri"/>
              </a:rPr>
              <a:t>MFs, insurers, pension funds: one-time nod, up to 10%.</a:t>
            </a:r>
          </a:p>
        </p:txBody>
      </p:sp>
      <p:sp>
        <p:nvSpPr>
          <p:cNvPr id="12" name="TextBox 11"/>
          <p:cNvSpPr txBox="1"/>
          <p:nvPr/>
        </p:nvSpPr>
        <p:spPr>
          <a:xfrm>
            <a:off x="6446520" y="3657600"/>
            <a:ext cx="5120640" cy="1828800"/>
          </a:xfrm>
          <a:prstGeom prst="rect">
            <a:avLst/>
          </a:prstGeom>
          <a:noFill/>
        </p:spPr>
        <p:txBody>
          <a:bodyPr wrap="square">
            <a:spAutoFit/>
          </a:bodyPr>
          <a:lstStyle/>
          <a:p>
            <a:pPr algn="l"/>
            <a:r>
              <a:rPr sz="1500" b="0">
                <a:solidFill>
                  <a:srgbClr val="1A1A1A"/>
                </a:solidFill>
                <a:latin typeface="Calibri"/>
              </a:rPr>
              <a:t>RBI eased repeated permissions for later purchases. Ownership of bank equity can concentrate faster. Governance still sits with the board, not the approval letter.</a:t>
            </a:r>
          </a:p>
        </p:txBody>
      </p:sp>
      <p:sp>
        <p:nvSpPr>
          <p:cNvPr id="13" name="TextBox 12"/>
          <p:cNvSpPr txBox="1"/>
          <p:nvPr/>
        </p:nvSpPr>
        <p:spPr>
          <a:xfrm>
            <a:off x="365760" y="6446520"/>
            <a:ext cx="11430000" cy="292608"/>
          </a:xfrm>
          <a:prstGeom prst="rect">
            <a:avLst/>
          </a:prstGeom>
          <a:noFill/>
        </p:spPr>
        <p:txBody>
          <a:bodyPr wrap="none">
            <a:spAutoFit/>
          </a:bodyPr>
          <a:lstStyle/>
          <a:p>
            <a:pPr algn="l"/>
            <a:r>
              <a:rPr sz="1000">
                <a:solidFill>
                  <a:srgbClr val="6B6255"/>
                </a:solidFill>
                <a:latin typeface="Calibri"/>
              </a:rPr>
              <a:t>Future CFO_DP  |  Created and Copyright by Dr. Debasis Pahi  |  2026-10-03  |  9/14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320040"/>
          </a:xfrm>
          <a:prstGeom prst="rect">
            <a:avLst/>
          </a:prstGeom>
          <a:noFill/>
        </p:spPr>
        <p:txBody>
          <a:bodyPr wrap="square">
            <a:spAutoFit/>
          </a:bodyPr>
          <a:lstStyle/>
          <a:p>
            <a:pPr algn="l"/>
            <a:r>
              <a:rPr sz="1400" b="1">
                <a:solidFill>
                  <a:srgbClr val="1F6F6A"/>
                </a:solidFill>
                <a:latin typeface="Calibri"/>
              </a:rPr>
              <a:t>COMPLIANCE  ·  FROM 1 OCTOBER</a:t>
            </a:r>
          </a:p>
        </p:txBody>
      </p:sp>
      <p:sp>
        <p:nvSpPr>
          <p:cNvPr id="4" name="TextBox 3"/>
          <p:cNvSpPr txBox="1"/>
          <p:nvPr/>
        </p:nvSpPr>
        <p:spPr>
          <a:xfrm>
            <a:off x="457200" y="731520"/>
            <a:ext cx="10972800" cy="731520"/>
          </a:xfrm>
          <a:prstGeom prst="rect">
            <a:avLst/>
          </a:prstGeom>
          <a:noFill/>
        </p:spPr>
        <p:txBody>
          <a:bodyPr wrap="square">
            <a:spAutoFit/>
          </a:bodyPr>
          <a:lstStyle/>
          <a:p>
            <a:pPr algn="l"/>
            <a:r>
              <a:rPr sz="2600" b="1">
                <a:solidFill>
                  <a:srgbClr val="0B1F3A"/>
                </a:solidFill>
                <a:latin typeface="Calibri"/>
              </a:rPr>
              <a:t>Service exporters now file EDF every month</a:t>
            </a:r>
          </a:p>
        </p:txBody>
      </p:sp>
      <p:sp>
        <p:nvSpPr>
          <p:cNvPr id="5" name="TextBox 4"/>
          <p:cNvSpPr txBox="1"/>
          <p:nvPr/>
        </p:nvSpPr>
        <p:spPr>
          <a:xfrm>
            <a:off x="457200" y="1645920"/>
            <a:ext cx="10972800" cy="1371600"/>
          </a:xfrm>
          <a:prstGeom prst="rect">
            <a:avLst/>
          </a:prstGeom>
          <a:noFill/>
        </p:spPr>
        <p:txBody>
          <a:bodyPr wrap="square">
            <a:spAutoFit/>
          </a:bodyPr>
          <a:lstStyle/>
          <a:p>
            <a:pPr algn="l"/>
            <a:r>
              <a:rPr sz="1800" b="0">
                <a:solidFill>
                  <a:srgbClr val="1A1A1A"/>
                </a:solidFill>
                <a:latin typeface="Calibri"/>
              </a:rPr>
              <a:t>RBI has brought freelancers, consultants, and digital creators earning foreign currency under mandatory monthly Export Declaration Form filing, with the new FEMA process reported effective 1 October 2026.</a:t>
            </a:r>
          </a:p>
        </p:txBody>
      </p:sp>
      <p:sp>
        <p:nvSpPr>
          <p:cNvPr id="6" name="TextBox 5"/>
          <p:cNvSpPr txBox="1"/>
          <p:nvPr/>
        </p:nvSpPr>
        <p:spPr>
          <a:xfrm>
            <a:off x="457200" y="3200400"/>
            <a:ext cx="10972800" cy="2286000"/>
          </a:xfrm>
          <a:prstGeom prst="rect">
            <a:avLst/>
          </a:prstGeom>
          <a:noFill/>
        </p:spPr>
        <p:txBody>
          <a:bodyPr wrap="square">
            <a:spAutoFit/>
          </a:bodyPr>
          <a:lstStyle/>
          <a:p>
            <a:pPr algn="l"/>
            <a:r>
              <a:rPr sz="1800" b="0">
                <a:solidFill>
                  <a:srgbClr val="1A1A1A"/>
                </a:solidFill>
                <a:latin typeface="Calibri"/>
              </a:rPr>
              <a:t>If your campus start-up invoices in dollars, this is not a bank-only form. The authorised dealer will ask for it. Build a calendar: invoice, FIRC or equivalent credit advice, EDF, and the GST export row. A missed filing is an ops risk, not a branding issue.</a:t>
            </a:r>
          </a:p>
        </p:txBody>
      </p:sp>
      <p:sp>
        <p:nvSpPr>
          <p:cNvPr id="7" name="TextBox 6"/>
          <p:cNvSpPr txBox="1"/>
          <p:nvPr/>
        </p:nvSpPr>
        <p:spPr>
          <a:xfrm>
            <a:off x="365760" y="6446520"/>
            <a:ext cx="11430000" cy="292608"/>
          </a:xfrm>
          <a:prstGeom prst="rect">
            <a:avLst/>
          </a:prstGeom>
          <a:noFill/>
        </p:spPr>
        <p:txBody>
          <a:bodyPr wrap="none">
            <a:spAutoFit/>
          </a:bodyPr>
          <a:lstStyle/>
          <a:p>
            <a:pPr algn="l"/>
            <a:r>
              <a:rPr sz="1000">
                <a:solidFill>
                  <a:srgbClr val="6B6255"/>
                </a:solidFill>
                <a:latin typeface="Calibri"/>
              </a:rPr>
              <a:t>Future CFO_DP  |  Created and Copyright by Dr. Debasis Pahi  |  2026-10-03  |  10/14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320040"/>
          </a:xfrm>
          <a:prstGeom prst="rect">
            <a:avLst/>
          </a:prstGeom>
          <a:noFill/>
        </p:spPr>
        <p:txBody>
          <a:bodyPr wrap="square">
            <a:spAutoFit/>
          </a:bodyPr>
          <a:lstStyle/>
          <a:p>
            <a:pPr algn="l"/>
            <a:r>
              <a:rPr sz="1400" b="1">
                <a:solidFill>
                  <a:srgbClr val="1F6F6A"/>
                </a:solidFill>
                <a:latin typeface="Calibri"/>
              </a:rPr>
              <a:t>TEACHING CASE  ·  EASTERN LOOM EXPORTS</a:t>
            </a:r>
          </a:p>
        </p:txBody>
      </p:sp>
      <p:sp>
        <p:nvSpPr>
          <p:cNvPr id="4" name="TextBox 3"/>
          <p:cNvSpPr txBox="1"/>
          <p:nvPr/>
        </p:nvSpPr>
        <p:spPr>
          <a:xfrm>
            <a:off x="457200" y="731520"/>
            <a:ext cx="10972800" cy="548640"/>
          </a:xfrm>
          <a:prstGeom prst="rect">
            <a:avLst/>
          </a:prstGeom>
          <a:noFill/>
        </p:spPr>
        <p:txBody>
          <a:bodyPr wrap="square">
            <a:spAutoFit/>
          </a:bodyPr>
          <a:lstStyle/>
          <a:p>
            <a:pPr algn="l"/>
            <a:r>
              <a:rPr sz="2600" b="1">
                <a:solidFill>
                  <a:srgbClr val="0B1F3A"/>
                </a:solidFill>
                <a:latin typeface="Calibri"/>
              </a:rPr>
              <a:t>A composite, not a real company</a:t>
            </a:r>
          </a:p>
        </p:txBody>
      </p:sp>
      <p:sp>
        <p:nvSpPr>
          <p:cNvPr id="5" name="TextBox 4"/>
          <p:cNvSpPr txBox="1"/>
          <p:nvPr/>
        </p:nvSpPr>
        <p:spPr>
          <a:xfrm>
            <a:off x="457200" y="1463040"/>
            <a:ext cx="10972800" cy="4389120"/>
          </a:xfrm>
          <a:prstGeom prst="rect">
            <a:avLst/>
          </a:prstGeom>
          <a:noFill/>
        </p:spPr>
        <p:txBody>
          <a:bodyPr wrap="square">
            <a:spAutoFit/>
          </a:bodyPr>
          <a:lstStyle/>
          <a:p>
            <a:pPr algn="l"/>
            <a:r>
              <a:rPr sz="1800" b="0">
                <a:solidFill>
                  <a:srgbClr val="1A1A1A"/>
                </a:solidFill>
                <a:latin typeface="Calibri"/>
              </a:rPr>
              <a:t>Meera runs finance for a Bhubaneswar apparel exporter. Open dollar payables: $1.8 million, 45 days, unhedged. Dollar receivables: $2.4 million, 60 days, 40% forward-sold at 94.80. Working-capital line is with HDFC Bank, reset to the external benchmark.
Saturday question from the promoter: 'Rupee is 96. Should we hold the payable and celebrate GST?'
Meera's answer is no. She splits translation, transaction, and economic exposure. She does not journal a national GST print into the cash forecast. She files the CEO change in the bank memo and leaves the covenant unread-until-Monday as an open item.</a:t>
            </a:r>
          </a:p>
        </p:txBody>
      </p:sp>
      <p:sp>
        <p:nvSpPr>
          <p:cNvPr id="6" name="TextBox 5"/>
          <p:cNvSpPr txBox="1"/>
          <p:nvPr/>
        </p:nvSpPr>
        <p:spPr>
          <a:xfrm>
            <a:off x="365760" y="6446520"/>
            <a:ext cx="11430000" cy="292608"/>
          </a:xfrm>
          <a:prstGeom prst="rect">
            <a:avLst/>
          </a:prstGeom>
          <a:noFill/>
        </p:spPr>
        <p:txBody>
          <a:bodyPr wrap="none">
            <a:spAutoFit/>
          </a:bodyPr>
          <a:lstStyle/>
          <a:p>
            <a:pPr algn="l"/>
            <a:r>
              <a:rPr sz="1000">
                <a:solidFill>
                  <a:srgbClr val="6B6255"/>
                </a:solidFill>
                <a:latin typeface="Calibri"/>
              </a:rPr>
              <a:t>Future CFO_DP  |  Created and Copyright by Dr. Debasis Pahi  |  2026-10-03  |  11/14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320040"/>
          </a:xfrm>
          <a:prstGeom prst="rect">
            <a:avLst/>
          </a:prstGeom>
          <a:noFill/>
        </p:spPr>
        <p:txBody>
          <a:bodyPr wrap="square">
            <a:spAutoFit/>
          </a:bodyPr>
          <a:lstStyle/>
          <a:p>
            <a:pPr algn="l"/>
            <a:r>
              <a:rPr sz="1400" b="1">
                <a:solidFill>
                  <a:srgbClr val="1F6F6A"/>
                </a:solidFill>
                <a:latin typeface="Calibri"/>
              </a:rPr>
              <a:t>DECISION TREE FOR MONDAY</a:t>
            </a:r>
          </a:p>
        </p:txBody>
      </p:sp>
      <p:sp>
        <p:nvSpPr>
          <p:cNvPr id="4" name="TextBox 3"/>
          <p:cNvSpPr txBox="1"/>
          <p:nvPr/>
        </p:nvSpPr>
        <p:spPr>
          <a:xfrm>
            <a:off x="457200" y="731520"/>
            <a:ext cx="10972800" cy="457200"/>
          </a:xfrm>
          <a:prstGeom prst="rect">
            <a:avLst/>
          </a:prstGeom>
          <a:noFill/>
        </p:spPr>
        <p:txBody>
          <a:bodyPr wrap="square">
            <a:spAutoFit/>
          </a:bodyPr>
          <a:lstStyle/>
          <a:p>
            <a:pPr algn="l"/>
            <a:r>
              <a:rPr sz="2600" b="1">
                <a:solidFill>
                  <a:srgbClr val="0B1F3A"/>
                </a:solidFill>
                <a:latin typeface="Calibri"/>
              </a:rPr>
              <a:t>Five checks before anyone updates the model</a:t>
            </a:r>
          </a:p>
        </p:txBody>
      </p:sp>
      <p:sp>
        <p:nvSpPr>
          <p:cNvPr id="5" name="TextBox 4"/>
          <p:cNvSpPr txBox="1"/>
          <p:nvPr/>
        </p:nvSpPr>
        <p:spPr>
          <a:xfrm>
            <a:off x="457200" y="1417320"/>
            <a:ext cx="457200" cy="365760"/>
          </a:xfrm>
          <a:prstGeom prst="rect">
            <a:avLst/>
          </a:prstGeom>
          <a:noFill/>
        </p:spPr>
        <p:txBody>
          <a:bodyPr wrap="square">
            <a:spAutoFit/>
          </a:bodyPr>
          <a:lstStyle/>
          <a:p>
            <a:pPr algn="l"/>
            <a:r>
              <a:rPr sz="1800" b="1">
                <a:solidFill>
                  <a:srgbClr val="C4A35A"/>
                </a:solidFill>
                <a:latin typeface="Calibri"/>
              </a:rPr>
              <a:t>1</a:t>
            </a:r>
          </a:p>
        </p:txBody>
      </p:sp>
      <p:sp>
        <p:nvSpPr>
          <p:cNvPr id="6" name="TextBox 5"/>
          <p:cNvSpPr txBox="1"/>
          <p:nvPr/>
        </p:nvSpPr>
        <p:spPr>
          <a:xfrm>
            <a:off x="1005840" y="1417320"/>
            <a:ext cx="3108960" cy="365760"/>
          </a:xfrm>
          <a:prstGeom prst="rect">
            <a:avLst/>
          </a:prstGeom>
          <a:noFill/>
        </p:spPr>
        <p:txBody>
          <a:bodyPr wrap="square">
            <a:spAutoFit/>
          </a:bodyPr>
          <a:lstStyle/>
          <a:p>
            <a:pPr algn="l"/>
            <a:r>
              <a:rPr sz="1600" b="1">
                <a:solidFill>
                  <a:srgbClr val="0B1F3A"/>
                </a:solidFill>
                <a:latin typeface="Calibri"/>
              </a:rPr>
              <a:t>RBI reference rate</a:t>
            </a:r>
          </a:p>
        </p:txBody>
      </p:sp>
      <p:sp>
        <p:nvSpPr>
          <p:cNvPr id="7" name="TextBox 6"/>
          <p:cNvSpPr txBox="1"/>
          <p:nvPr/>
        </p:nvSpPr>
        <p:spPr>
          <a:xfrm>
            <a:off x="4206240" y="1417320"/>
            <a:ext cx="7498079" cy="457200"/>
          </a:xfrm>
          <a:prstGeom prst="rect">
            <a:avLst/>
          </a:prstGeom>
          <a:noFill/>
        </p:spPr>
        <p:txBody>
          <a:bodyPr wrap="square">
            <a:spAutoFit/>
          </a:bodyPr>
          <a:lstStyle/>
          <a:p>
            <a:pPr algn="l"/>
            <a:r>
              <a:rPr sz="1600" b="0">
                <a:solidFill>
                  <a:srgbClr val="1A1A1A"/>
                </a:solidFill>
                <a:latin typeface="Calibri"/>
              </a:rPr>
              <a:t>Quote the official rate, not only the 96.3150 wire print.</a:t>
            </a:r>
          </a:p>
        </p:txBody>
      </p:sp>
      <p:sp>
        <p:nvSpPr>
          <p:cNvPr id="8" name="TextBox 7"/>
          <p:cNvSpPr txBox="1"/>
          <p:nvPr/>
        </p:nvSpPr>
        <p:spPr>
          <a:xfrm>
            <a:off x="457200" y="2286000"/>
            <a:ext cx="457200" cy="365760"/>
          </a:xfrm>
          <a:prstGeom prst="rect">
            <a:avLst/>
          </a:prstGeom>
          <a:noFill/>
        </p:spPr>
        <p:txBody>
          <a:bodyPr wrap="square">
            <a:spAutoFit/>
          </a:bodyPr>
          <a:lstStyle/>
          <a:p>
            <a:pPr algn="l"/>
            <a:r>
              <a:rPr sz="1800" b="1">
                <a:solidFill>
                  <a:srgbClr val="C4A35A"/>
                </a:solidFill>
                <a:latin typeface="Calibri"/>
              </a:rPr>
              <a:t>2</a:t>
            </a:r>
          </a:p>
        </p:txBody>
      </p:sp>
      <p:sp>
        <p:nvSpPr>
          <p:cNvPr id="9" name="TextBox 8"/>
          <p:cNvSpPr txBox="1"/>
          <p:nvPr/>
        </p:nvSpPr>
        <p:spPr>
          <a:xfrm>
            <a:off x="1005840" y="2286000"/>
            <a:ext cx="3108960" cy="365760"/>
          </a:xfrm>
          <a:prstGeom prst="rect">
            <a:avLst/>
          </a:prstGeom>
          <a:noFill/>
        </p:spPr>
        <p:txBody>
          <a:bodyPr wrap="square">
            <a:spAutoFit/>
          </a:bodyPr>
          <a:lstStyle/>
          <a:p>
            <a:pPr algn="l"/>
            <a:r>
              <a:rPr sz="1600" b="1">
                <a:solidFill>
                  <a:srgbClr val="0B1F3A"/>
                </a:solidFill>
                <a:latin typeface="Calibri"/>
              </a:rPr>
              <a:t>Hedge ratio</a:t>
            </a:r>
          </a:p>
        </p:txBody>
      </p:sp>
      <p:sp>
        <p:nvSpPr>
          <p:cNvPr id="10" name="TextBox 9"/>
          <p:cNvSpPr txBox="1"/>
          <p:nvPr/>
        </p:nvSpPr>
        <p:spPr>
          <a:xfrm>
            <a:off x="4206240" y="2286000"/>
            <a:ext cx="7498079" cy="457200"/>
          </a:xfrm>
          <a:prstGeom prst="rect">
            <a:avLst/>
          </a:prstGeom>
          <a:noFill/>
        </p:spPr>
        <p:txBody>
          <a:bodyPr wrap="square">
            <a:spAutoFit/>
          </a:bodyPr>
          <a:lstStyle/>
          <a:p>
            <a:pPr algn="l"/>
            <a:r>
              <a:rPr sz="1600" b="0">
                <a:solidFill>
                  <a:srgbClr val="1A1A1A"/>
                </a:solidFill>
                <a:latin typeface="Calibri"/>
              </a:rPr>
              <a:t>Receivable cover versus payable cover. Netting is not a hedge.</a:t>
            </a:r>
          </a:p>
        </p:txBody>
      </p:sp>
      <p:sp>
        <p:nvSpPr>
          <p:cNvPr id="11" name="TextBox 10"/>
          <p:cNvSpPr txBox="1"/>
          <p:nvPr/>
        </p:nvSpPr>
        <p:spPr>
          <a:xfrm>
            <a:off x="457200" y="3154680"/>
            <a:ext cx="457200" cy="365760"/>
          </a:xfrm>
          <a:prstGeom prst="rect">
            <a:avLst/>
          </a:prstGeom>
          <a:noFill/>
        </p:spPr>
        <p:txBody>
          <a:bodyPr wrap="square">
            <a:spAutoFit/>
          </a:bodyPr>
          <a:lstStyle/>
          <a:p>
            <a:pPr algn="l"/>
            <a:r>
              <a:rPr sz="1800" b="1">
                <a:solidFill>
                  <a:srgbClr val="C4A35A"/>
                </a:solidFill>
                <a:latin typeface="Calibri"/>
              </a:rPr>
              <a:t>3</a:t>
            </a:r>
          </a:p>
        </p:txBody>
      </p:sp>
      <p:sp>
        <p:nvSpPr>
          <p:cNvPr id="12" name="TextBox 11"/>
          <p:cNvSpPr txBox="1"/>
          <p:nvPr/>
        </p:nvSpPr>
        <p:spPr>
          <a:xfrm>
            <a:off x="1005840" y="3154680"/>
            <a:ext cx="3108960" cy="365760"/>
          </a:xfrm>
          <a:prstGeom prst="rect">
            <a:avLst/>
          </a:prstGeom>
          <a:noFill/>
        </p:spPr>
        <p:txBody>
          <a:bodyPr wrap="square">
            <a:spAutoFit/>
          </a:bodyPr>
          <a:lstStyle/>
          <a:p>
            <a:pPr algn="l"/>
            <a:r>
              <a:rPr sz="1600" b="1">
                <a:solidFill>
                  <a:srgbClr val="0B1F3A"/>
                </a:solidFill>
                <a:latin typeface="Calibri"/>
              </a:rPr>
              <a:t>GST bridge</a:t>
            </a:r>
          </a:p>
        </p:txBody>
      </p:sp>
      <p:sp>
        <p:nvSpPr>
          <p:cNvPr id="13" name="TextBox 12"/>
          <p:cNvSpPr txBox="1"/>
          <p:nvPr/>
        </p:nvSpPr>
        <p:spPr>
          <a:xfrm>
            <a:off x="4206240" y="3154680"/>
            <a:ext cx="7498079" cy="457200"/>
          </a:xfrm>
          <a:prstGeom prst="rect">
            <a:avLst/>
          </a:prstGeom>
          <a:noFill/>
        </p:spPr>
        <p:txBody>
          <a:bodyPr wrap="square">
            <a:spAutoFit/>
          </a:bodyPr>
          <a:lstStyle/>
          <a:p>
            <a:pPr algn="l"/>
            <a:r>
              <a:rPr sz="1600" b="0">
                <a:solidFill>
                  <a:srgbClr val="1A1A1A"/>
                </a:solidFill>
                <a:latin typeface="Calibri"/>
              </a:rPr>
              <a:t>Your September GSTR versus dispatch. National +14.7% is context.</a:t>
            </a:r>
          </a:p>
        </p:txBody>
      </p:sp>
      <p:sp>
        <p:nvSpPr>
          <p:cNvPr id="14" name="TextBox 13"/>
          <p:cNvSpPr txBox="1"/>
          <p:nvPr/>
        </p:nvSpPr>
        <p:spPr>
          <a:xfrm>
            <a:off x="457200" y="4023360"/>
            <a:ext cx="457200" cy="365760"/>
          </a:xfrm>
          <a:prstGeom prst="rect">
            <a:avLst/>
          </a:prstGeom>
          <a:noFill/>
        </p:spPr>
        <p:txBody>
          <a:bodyPr wrap="square">
            <a:spAutoFit/>
          </a:bodyPr>
          <a:lstStyle/>
          <a:p>
            <a:pPr algn="l"/>
            <a:r>
              <a:rPr sz="1800" b="1">
                <a:solidFill>
                  <a:srgbClr val="C4A35A"/>
                </a:solidFill>
                <a:latin typeface="Calibri"/>
              </a:rPr>
              <a:t>4</a:t>
            </a:r>
          </a:p>
        </p:txBody>
      </p:sp>
      <p:sp>
        <p:nvSpPr>
          <p:cNvPr id="15" name="TextBox 14"/>
          <p:cNvSpPr txBox="1"/>
          <p:nvPr/>
        </p:nvSpPr>
        <p:spPr>
          <a:xfrm>
            <a:off x="1005840" y="4023360"/>
            <a:ext cx="3108960" cy="365760"/>
          </a:xfrm>
          <a:prstGeom prst="rect">
            <a:avLst/>
          </a:prstGeom>
          <a:noFill/>
        </p:spPr>
        <p:txBody>
          <a:bodyPr wrap="square">
            <a:spAutoFit/>
          </a:bodyPr>
          <a:lstStyle/>
          <a:p>
            <a:pPr algn="l"/>
            <a:r>
              <a:rPr sz="1600" b="1">
                <a:solidFill>
                  <a:srgbClr val="0B1F3A"/>
                </a:solidFill>
                <a:latin typeface="Calibri"/>
              </a:rPr>
              <a:t>Bank memo</a:t>
            </a:r>
          </a:p>
        </p:txBody>
      </p:sp>
      <p:sp>
        <p:nvSpPr>
          <p:cNvPr id="16" name="TextBox 15"/>
          <p:cNvSpPr txBox="1"/>
          <p:nvPr/>
        </p:nvSpPr>
        <p:spPr>
          <a:xfrm>
            <a:off x="4206240" y="4023360"/>
            <a:ext cx="7498079" cy="457200"/>
          </a:xfrm>
          <a:prstGeom prst="rect">
            <a:avLst/>
          </a:prstGeom>
          <a:noFill/>
        </p:spPr>
        <p:txBody>
          <a:bodyPr wrap="square">
            <a:spAutoFit/>
          </a:bodyPr>
          <a:lstStyle/>
          <a:p>
            <a:pPr algn="l"/>
            <a:r>
              <a:rPr sz="1600" b="0">
                <a:solidFill>
                  <a:srgbClr val="1A1A1A"/>
                </a:solidFill>
                <a:latin typeface="Calibri"/>
              </a:rPr>
              <a:t>HDFC relationship owner, covenant scan, no ADR-based repricing.</a:t>
            </a:r>
          </a:p>
        </p:txBody>
      </p:sp>
      <p:sp>
        <p:nvSpPr>
          <p:cNvPr id="17" name="TextBox 16"/>
          <p:cNvSpPr txBox="1"/>
          <p:nvPr/>
        </p:nvSpPr>
        <p:spPr>
          <a:xfrm>
            <a:off x="457200" y="4892040"/>
            <a:ext cx="457200" cy="365760"/>
          </a:xfrm>
          <a:prstGeom prst="rect">
            <a:avLst/>
          </a:prstGeom>
          <a:noFill/>
        </p:spPr>
        <p:txBody>
          <a:bodyPr wrap="square">
            <a:spAutoFit/>
          </a:bodyPr>
          <a:lstStyle/>
          <a:p>
            <a:pPr algn="l"/>
            <a:r>
              <a:rPr sz="1800" b="1">
                <a:solidFill>
                  <a:srgbClr val="C4A35A"/>
                </a:solidFill>
                <a:latin typeface="Calibri"/>
              </a:rPr>
              <a:t>5</a:t>
            </a:r>
          </a:p>
        </p:txBody>
      </p:sp>
      <p:sp>
        <p:nvSpPr>
          <p:cNvPr id="18" name="TextBox 17"/>
          <p:cNvSpPr txBox="1"/>
          <p:nvPr/>
        </p:nvSpPr>
        <p:spPr>
          <a:xfrm>
            <a:off x="1005840" y="4892040"/>
            <a:ext cx="3108960" cy="365760"/>
          </a:xfrm>
          <a:prstGeom prst="rect">
            <a:avLst/>
          </a:prstGeom>
          <a:noFill/>
        </p:spPr>
        <p:txBody>
          <a:bodyPr wrap="square">
            <a:spAutoFit/>
          </a:bodyPr>
          <a:lstStyle/>
          <a:p>
            <a:pPr algn="l"/>
            <a:r>
              <a:rPr sz="1600" b="1">
                <a:solidFill>
                  <a:srgbClr val="0B1F3A"/>
                </a:solidFill>
                <a:latin typeface="Calibri"/>
              </a:rPr>
              <a:t>EDF calendar</a:t>
            </a:r>
          </a:p>
        </p:txBody>
      </p:sp>
      <p:sp>
        <p:nvSpPr>
          <p:cNvPr id="19" name="TextBox 18"/>
          <p:cNvSpPr txBox="1"/>
          <p:nvPr/>
        </p:nvSpPr>
        <p:spPr>
          <a:xfrm>
            <a:off x="4206240" y="4892040"/>
            <a:ext cx="7498079" cy="457200"/>
          </a:xfrm>
          <a:prstGeom prst="rect">
            <a:avLst/>
          </a:prstGeom>
          <a:noFill/>
        </p:spPr>
        <p:txBody>
          <a:bodyPr wrap="square">
            <a:spAutoFit/>
          </a:bodyPr>
          <a:lstStyle/>
          <a:p>
            <a:pPr algn="l"/>
            <a:r>
              <a:rPr sz="1600" b="0">
                <a:solidFill>
                  <a:srgbClr val="1A1A1A"/>
                </a:solidFill>
                <a:latin typeface="Calibri"/>
              </a:rPr>
              <a:t>If you export services, the October file starts this month.</a:t>
            </a:r>
          </a:p>
        </p:txBody>
      </p:sp>
      <p:sp>
        <p:nvSpPr>
          <p:cNvPr id="20" name="TextBox 19"/>
          <p:cNvSpPr txBox="1"/>
          <p:nvPr/>
        </p:nvSpPr>
        <p:spPr>
          <a:xfrm>
            <a:off x="365760" y="6446520"/>
            <a:ext cx="11430000" cy="292608"/>
          </a:xfrm>
          <a:prstGeom prst="rect">
            <a:avLst/>
          </a:prstGeom>
          <a:noFill/>
        </p:spPr>
        <p:txBody>
          <a:bodyPr wrap="none">
            <a:spAutoFit/>
          </a:bodyPr>
          <a:lstStyle/>
          <a:p>
            <a:pPr algn="l"/>
            <a:r>
              <a:rPr sz="1000">
                <a:solidFill>
                  <a:srgbClr val="6B6255"/>
                </a:solidFill>
                <a:latin typeface="Calibri"/>
              </a:rPr>
              <a:t>Future CFO_DP  |  Created and Copyright by Dr. Debasis Pahi  |  2026-10-03  |  12/14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320040"/>
          </a:xfrm>
          <a:prstGeom prst="rect">
            <a:avLst/>
          </a:prstGeom>
          <a:noFill/>
        </p:spPr>
        <p:txBody>
          <a:bodyPr wrap="square">
            <a:spAutoFit/>
          </a:bodyPr>
          <a:lstStyle/>
          <a:p>
            <a:pPr algn="l"/>
            <a:r>
              <a:rPr sz="1400" b="1">
                <a:solidFill>
                  <a:srgbClr val="1F6F6A"/>
                </a:solidFill>
                <a:latin typeface="Calibri"/>
              </a:rPr>
              <a:t>SOURCE DISCIPLINE</a:t>
            </a:r>
          </a:p>
        </p:txBody>
      </p:sp>
      <p:sp>
        <p:nvSpPr>
          <p:cNvPr id="4" name="TextBox 3"/>
          <p:cNvSpPr txBox="1"/>
          <p:nvPr/>
        </p:nvSpPr>
        <p:spPr>
          <a:xfrm>
            <a:off x="457200" y="731520"/>
            <a:ext cx="10972800" cy="457200"/>
          </a:xfrm>
          <a:prstGeom prst="rect">
            <a:avLst/>
          </a:prstGeom>
          <a:noFill/>
        </p:spPr>
        <p:txBody>
          <a:bodyPr wrap="square">
            <a:spAutoFit/>
          </a:bodyPr>
          <a:lstStyle/>
          <a:p>
            <a:pPr algn="l"/>
            <a:r>
              <a:rPr sz="2600" b="1">
                <a:solidFill>
                  <a:srgbClr val="0B1F3A"/>
                </a:solidFill>
                <a:latin typeface="Calibri"/>
              </a:rPr>
              <a:t>What to open before you cite</a:t>
            </a:r>
          </a:p>
        </p:txBody>
      </p:sp>
      <p:sp>
        <p:nvSpPr>
          <p:cNvPr id="5" name="TextBox 4"/>
          <p:cNvSpPr txBox="1"/>
          <p:nvPr/>
        </p:nvSpPr>
        <p:spPr>
          <a:xfrm>
            <a:off x="502920" y="1417320"/>
            <a:ext cx="11155680" cy="822960"/>
          </a:xfrm>
          <a:prstGeom prst="rect">
            <a:avLst/>
          </a:prstGeom>
          <a:noFill/>
        </p:spPr>
        <p:txBody>
          <a:bodyPr wrap="square">
            <a:spAutoFit/>
          </a:bodyPr>
          <a:lstStyle/>
          <a:p>
            <a:pPr algn="l"/>
            <a:r>
              <a:rPr sz="1600" b="0">
                <a:solidFill>
                  <a:srgbClr val="1A1A1A"/>
                </a:solidFill>
                <a:latin typeface="Calibri"/>
              </a:rPr>
              <a:t>•  Economic Times banking desk, 3 October 2026: NCLT admission is a separate story; Bagchi trust piece is leadership, not a rating action.</a:t>
            </a:r>
          </a:p>
        </p:txBody>
      </p:sp>
      <p:sp>
        <p:nvSpPr>
          <p:cNvPr id="6" name="TextBox 5"/>
          <p:cNvSpPr txBox="1"/>
          <p:nvPr/>
        </p:nvSpPr>
        <p:spPr>
          <a:xfrm>
            <a:off x="502920" y="2331720"/>
            <a:ext cx="11155680" cy="822960"/>
          </a:xfrm>
          <a:prstGeom prst="rect">
            <a:avLst/>
          </a:prstGeom>
          <a:noFill/>
        </p:spPr>
        <p:txBody>
          <a:bodyPr wrap="square">
            <a:spAutoFit/>
          </a:bodyPr>
          <a:lstStyle/>
          <a:p>
            <a:pPr algn="l"/>
            <a:r>
              <a:rPr sz="1600" b="0">
                <a:solidFill>
                  <a:srgbClr val="1A1A1A"/>
                </a:solidFill>
                <a:latin typeface="Calibri"/>
              </a:rPr>
              <a:t>•  Business briefs for 2 October: rupee 96.3150, GST ₹2.04 lakh crore (+14.7%), FPI ₹36,000 crore, UPI 24.07 billion.</a:t>
            </a:r>
          </a:p>
        </p:txBody>
      </p:sp>
      <p:sp>
        <p:nvSpPr>
          <p:cNvPr id="7" name="TextBox 6"/>
          <p:cNvSpPr txBox="1"/>
          <p:nvPr/>
        </p:nvSpPr>
        <p:spPr>
          <a:xfrm>
            <a:off x="502920" y="3246120"/>
            <a:ext cx="11155680" cy="822960"/>
          </a:xfrm>
          <a:prstGeom prst="rect">
            <a:avLst/>
          </a:prstGeom>
          <a:noFill/>
        </p:spPr>
        <p:txBody>
          <a:bodyPr wrap="square">
            <a:spAutoFit/>
          </a:bodyPr>
          <a:lstStyle/>
          <a:p>
            <a:pPr algn="l"/>
            <a:r>
              <a:rPr sz="1600" b="0">
                <a:solidFill>
                  <a:srgbClr val="1A1A1A"/>
                </a:solidFill>
                <a:latin typeface="Calibri"/>
              </a:rPr>
              <a:t>•  RBI: repo path at 5.25% and the institutional bank-shareholding relaxation. Read the circular, not the summary.</a:t>
            </a:r>
          </a:p>
        </p:txBody>
      </p:sp>
      <p:sp>
        <p:nvSpPr>
          <p:cNvPr id="8" name="TextBox 7"/>
          <p:cNvSpPr txBox="1"/>
          <p:nvPr/>
        </p:nvSpPr>
        <p:spPr>
          <a:xfrm>
            <a:off x="502920" y="4160520"/>
            <a:ext cx="11155680" cy="822960"/>
          </a:xfrm>
          <a:prstGeom prst="rect">
            <a:avLst/>
          </a:prstGeom>
          <a:noFill/>
        </p:spPr>
        <p:txBody>
          <a:bodyPr wrap="square">
            <a:spAutoFit/>
          </a:bodyPr>
          <a:lstStyle/>
          <a:p>
            <a:pPr algn="l"/>
            <a:r>
              <a:rPr sz="1600" b="0">
                <a:solidFill>
                  <a:srgbClr val="1A1A1A"/>
                </a:solidFill>
                <a:latin typeface="Calibri"/>
              </a:rPr>
              <a:t>•  EDF rule for service exporters: confirm the authorised-dealer checklist before you teach the form as live.</a:t>
            </a:r>
          </a:p>
        </p:txBody>
      </p:sp>
      <p:sp>
        <p:nvSpPr>
          <p:cNvPr id="9" name="TextBox 8"/>
          <p:cNvSpPr txBox="1"/>
          <p:nvPr/>
        </p:nvSpPr>
        <p:spPr>
          <a:xfrm>
            <a:off x="502920" y="5074920"/>
            <a:ext cx="11155680" cy="822960"/>
          </a:xfrm>
          <a:prstGeom prst="rect">
            <a:avLst/>
          </a:prstGeom>
          <a:noFill/>
        </p:spPr>
        <p:txBody>
          <a:bodyPr wrap="square">
            <a:spAutoFit/>
          </a:bodyPr>
          <a:lstStyle/>
          <a:p>
            <a:pPr algn="l"/>
            <a:r>
              <a:rPr sz="1600" b="0">
                <a:solidFill>
                  <a:srgbClr val="1A1A1A"/>
                </a:solidFill>
                <a:latin typeface="Calibri"/>
              </a:rPr>
              <a:t>•  Flash-style aggregators can mis-state. Primary filing beats a roundup.</a:t>
            </a:r>
          </a:p>
        </p:txBody>
      </p:sp>
      <p:sp>
        <p:nvSpPr>
          <p:cNvPr id="10" name="TextBox 9"/>
          <p:cNvSpPr txBox="1"/>
          <p:nvPr/>
        </p:nvSpPr>
        <p:spPr>
          <a:xfrm>
            <a:off x="365760" y="6446520"/>
            <a:ext cx="11430000" cy="292608"/>
          </a:xfrm>
          <a:prstGeom prst="rect">
            <a:avLst/>
          </a:prstGeom>
          <a:noFill/>
        </p:spPr>
        <p:txBody>
          <a:bodyPr wrap="none">
            <a:spAutoFit/>
          </a:bodyPr>
          <a:lstStyle/>
          <a:p>
            <a:pPr algn="l"/>
            <a:r>
              <a:rPr sz="1000">
                <a:solidFill>
                  <a:srgbClr val="6B6255"/>
                </a:solidFill>
                <a:latin typeface="Calibri"/>
              </a:rPr>
              <a:t>Future CFO_DP  |  Created and Copyright by Dr. Debasis Pahi  |  2026-10-03  |  13/14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4A3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10515600" cy="365760"/>
          </a:xfrm>
          <a:prstGeom prst="rect">
            <a:avLst/>
          </a:prstGeom>
          <a:noFill/>
        </p:spPr>
        <p:txBody>
          <a:bodyPr wrap="square">
            <a:spAutoFit/>
          </a:bodyPr>
          <a:lstStyle/>
          <a:p>
            <a:pPr algn="l"/>
            <a:r>
              <a:rPr sz="1400" b="1">
                <a:solidFill>
                  <a:srgbClr val="C4A35A"/>
                </a:solidFill>
                <a:latin typeface="Calibri"/>
              </a:rPr>
              <a:t>THE LINE TO KEEP</a:t>
            </a:r>
          </a:p>
        </p:txBody>
      </p:sp>
      <p:sp>
        <p:nvSpPr>
          <p:cNvPr id="5" name="TextBox 4"/>
          <p:cNvSpPr txBox="1"/>
          <p:nvPr/>
        </p:nvSpPr>
        <p:spPr>
          <a:xfrm>
            <a:off x="640080" y="1737360"/>
            <a:ext cx="10515600" cy="2011680"/>
          </a:xfrm>
          <a:prstGeom prst="rect">
            <a:avLst/>
          </a:prstGeom>
          <a:noFill/>
        </p:spPr>
        <p:txBody>
          <a:bodyPr wrap="square">
            <a:spAutoFit/>
          </a:bodyPr>
          <a:lstStyle/>
          <a:p>
            <a:pPr algn="l"/>
            <a:r>
              <a:rPr sz="2800" b="1">
                <a:solidFill>
                  <a:srgbClr val="FFFFFF"/>
                </a:solidFill>
                <a:latin typeface="Calibri"/>
              </a:rPr>
              <a:t>AI generates.
Data informs.
Finance measures.
Accounting verifies.
Human judgment decides.</a:t>
            </a:r>
          </a:p>
        </p:txBody>
      </p:sp>
      <p:sp>
        <p:nvSpPr>
          <p:cNvPr id="6" name="TextBox 5"/>
          <p:cNvSpPr txBox="1"/>
          <p:nvPr/>
        </p:nvSpPr>
        <p:spPr>
          <a:xfrm>
            <a:off x="640080" y="4389120"/>
            <a:ext cx="10515600" cy="1097280"/>
          </a:xfrm>
          <a:prstGeom prst="rect">
            <a:avLst/>
          </a:prstGeom>
          <a:noFill/>
        </p:spPr>
        <p:txBody>
          <a:bodyPr wrap="square">
            <a:spAutoFit/>
          </a:bodyPr>
          <a:lstStyle/>
          <a:p>
            <a:pPr algn="l"/>
            <a:r>
              <a:rPr sz="1600" b="0">
                <a:solidFill>
                  <a:srgbClr val="C4A35A"/>
                </a:solidFill>
                <a:latin typeface="Calibri"/>
              </a:rPr>
              <a:t>Future CFO_DP  ·  Created and Copyright by Dr. Debasis Pahi
Model Degree College, Malkangiri  ·  Ph.D., IIT Kharagpur
Not investment advice. Classroom use.</a:t>
            </a:r>
          </a:p>
        </p:txBody>
      </p:sp>
      <p:sp>
        <p:nvSpPr>
          <p:cNvPr id="7" name="TextBox 6"/>
          <p:cNvSpPr txBox="1"/>
          <p:nvPr/>
        </p:nvSpPr>
        <p:spPr>
          <a:xfrm>
            <a:off x="365760" y="6446520"/>
            <a:ext cx="11430000" cy="292608"/>
          </a:xfrm>
          <a:prstGeom prst="rect">
            <a:avLst/>
          </a:prstGeom>
          <a:noFill/>
        </p:spPr>
        <p:txBody>
          <a:bodyPr wrap="none">
            <a:spAutoFit/>
          </a:bodyPr>
          <a:lstStyle/>
          <a:p>
            <a:pPr algn="l"/>
            <a:r>
              <a:rPr sz="1000">
                <a:solidFill>
                  <a:srgbClr val="6B6255"/>
                </a:solidFill>
                <a:latin typeface="Calibri"/>
              </a:rPr>
              <a:t>Future CFO_DP  |  Created and Copyright by Dr. Debasis Pahi  |  2026-10-03  |  14/14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