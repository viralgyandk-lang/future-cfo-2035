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p:spPr>
      </p:sp>
      <p:sp>
        <p:nvSpPr>
          <p:cNvPr id="3" name="Shape 1"/>
          <p:cNvSpPr/>
          <p:nvPr/>
        </p:nvSpPr>
        <p:spPr>
          <a:xfrm>
            <a:off x="0" y="0"/>
            <a:ext cx="164592" cy="6858000"/>
          </a:xfrm>
          <a:prstGeom prst="rect">
            <a:avLst/>
          </a:prstGeom>
          <a:solidFill>
            <a:srgbClr val="C4A35A"/>
          </a:solidFill>
          <a:ln/>
        </p:spPr>
      </p:sp>
      <p:sp>
        <p:nvSpPr>
          <p:cNvPr id="4" name="Text 2"/>
          <p:cNvSpPr/>
          <p:nvPr/>
        </p:nvSpPr>
        <p:spPr>
          <a:xfrm>
            <a:off x="502920" y="1325880"/>
            <a:ext cx="9144000" cy="292608"/>
          </a:xfrm>
          <a:prstGeom prst="rect">
            <a:avLst/>
          </a:prstGeom>
          <a:noFill/>
          <a:ln/>
        </p:spPr>
        <p:txBody>
          <a:bodyPr wrap="square" lIns="0" tIns="0" rIns="0" bIns="0" rtlCol="0" anchor="ctr"/>
          <a:lstStyle/>
          <a:p>
            <a:pPr indent="0" marL="0">
              <a:buNone/>
            </a:pPr>
            <a:r>
              <a:rPr lang="en-US" sz="1400" b="1" dirty="0">
                <a:solidFill>
                  <a:srgbClr val="C4A35A"/>
                </a:solidFill>
                <a:latin typeface="Calibri" pitchFamily="34" charset="0"/>
                <a:ea typeface="Calibri" pitchFamily="34" charset="-122"/>
                <a:cs typeface="Calibri" pitchFamily="34" charset="-120"/>
              </a:rPr>
              <a:t>FUTURE CFO_DP  ·  DAILY</a:t>
            </a:r>
            <a:endParaRPr lang="en-US" sz="1400" dirty="0"/>
          </a:p>
        </p:txBody>
      </p:sp>
      <p:sp>
        <p:nvSpPr>
          <p:cNvPr id="5" name="Text 3"/>
          <p:cNvSpPr/>
          <p:nvPr/>
        </p:nvSpPr>
        <p:spPr>
          <a:xfrm>
            <a:off x="502920" y="1783080"/>
            <a:ext cx="10972800" cy="182880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Today's resilience is not</a:t>
            </a:r>
            <a:endParaRPr lang="en-US" sz="4000" dirty="0"/>
          </a:p>
          <a:p>
            <a:pPr indent="0" marL="0">
              <a:buNone/>
            </a:pPr>
            <a:r>
              <a:rPr lang="en-US" sz="4000" dirty="0">
                <a:solidFill>
                  <a:srgbClr val="FFFFFF"/>
                </a:solidFill>
                <a:latin typeface="Georgia" pitchFamily="34" charset="0"/>
                <a:ea typeface="Georgia" pitchFamily="34" charset="-122"/>
                <a:cs typeface="Georgia" pitchFamily="34" charset="-120"/>
              </a:rPr>
              <a:t>tomorrow's immunity</a:t>
            </a:r>
            <a:endParaRPr lang="en-US" sz="4000" dirty="0"/>
          </a:p>
        </p:txBody>
      </p:sp>
      <p:sp>
        <p:nvSpPr>
          <p:cNvPr id="6" name="Text 4"/>
          <p:cNvSpPr/>
          <p:nvPr/>
        </p:nvSpPr>
        <p:spPr>
          <a:xfrm>
            <a:off x="502920" y="3931920"/>
            <a:ext cx="10058400" cy="731520"/>
          </a:xfrm>
          <a:prstGeom prst="rect">
            <a:avLst/>
          </a:prstGeom>
          <a:noFill/>
          <a:ln/>
        </p:spPr>
        <p:txBody>
          <a:bodyPr wrap="square" lIns="0" tIns="0" rIns="0" bIns="0" rtlCol="0" anchor="ctr"/>
          <a:lstStyle/>
          <a:p>
            <a:pPr indent="0" marL="0">
              <a:buNone/>
            </a:pPr>
            <a:r>
              <a:rPr lang="en-US" sz="1600" dirty="0">
                <a:solidFill>
                  <a:srgbClr val="D7DEE6"/>
                </a:solidFill>
                <a:latin typeface="Calibri" pitchFamily="34" charset="0"/>
                <a:ea typeface="Calibri" pitchFamily="34" charset="-122"/>
                <a:cs typeface="Calibri" pitchFamily="34" charset="-120"/>
              </a:rPr>
              <a:t>RBI Governor Sanjay Malhotra at the Fifth Kautilya Economic Conclave, read with Crisil's rate-hike maths and HDFC Bank's 30 September provisional book.</a:t>
            </a:r>
            <a:endParaRPr lang="en-US" sz="1600" dirty="0"/>
          </a:p>
        </p:txBody>
      </p:sp>
      <p:sp>
        <p:nvSpPr>
          <p:cNvPr id="7" name="Text 5"/>
          <p:cNvSpPr/>
          <p:nvPr/>
        </p:nvSpPr>
        <p:spPr>
          <a:xfrm>
            <a:off x="502920" y="4892040"/>
            <a:ext cx="9144000" cy="292608"/>
          </a:xfrm>
          <a:prstGeom prst="rect">
            <a:avLst/>
          </a:prstGeom>
          <a:noFill/>
          <a:ln/>
        </p:spPr>
        <p:txBody>
          <a:bodyPr wrap="square" lIns="0" tIns="0" rIns="0" bIns="0" rtlCol="0" anchor="ctr"/>
          <a:lstStyle/>
          <a:p>
            <a:pPr indent="0" marL="0">
              <a:buNone/>
            </a:pPr>
            <a:r>
              <a:rPr lang="en-US" sz="1400" dirty="0">
                <a:solidFill>
                  <a:srgbClr val="C4A35A"/>
                </a:solidFill>
                <a:latin typeface="Calibri" pitchFamily="34" charset="0"/>
                <a:ea typeface="Calibri" pitchFamily="34" charset="-122"/>
                <a:cs typeface="Calibri" pitchFamily="34" charset="-120"/>
              </a:rPr>
              <a:t>5 October 2026   ·   Classroom brief for business students</a:t>
            </a:r>
            <a:endParaRPr lang="en-US" sz="1400" dirty="0"/>
          </a:p>
        </p:txBody>
      </p:sp>
      <p:sp>
        <p:nvSpPr>
          <p:cNvPr id="8" name="Text 6"/>
          <p:cNvSpPr/>
          <p:nvPr/>
        </p:nvSpPr>
        <p:spPr>
          <a:xfrm>
            <a:off x="502920" y="6263640"/>
            <a:ext cx="10972800" cy="256032"/>
          </a:xfrm>
          <a:prstGeom prst="rect">
            <a:avLst/>
          </a:prstGeom>
          <a:noFill/>
          <a:ln/>
        </p:spPr>
        <p:txBody>
          <a:bodyPr wrap="square" lIns="0" tIns="0" rIns="0" bIns="0" rtlCol="0" anchor="ctr"/>
          <a:lstStyle/>
          <a:p>
            <a:pPr indent="0" marL="0">
              <a:buNone/>
            </a:pPr>
            <a:r>
              <a:rPr lang="en-US" sz="1200" dirty="0">
                <a:solidFill>
                  <a:srgbClr val="A8B4C0"/>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Text 1"/>
          <p:cNvSpPr/>
          <p:nvPr/>
        </p:nvSpPr>
        <p:spPr>
          <a:xfrm>
            <a:off x="411480" y="256032"/>
            <a:ext cx="1097280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THREE FACTS TO HOLD TOGETHER</a:t>
            </a:r>
            <a:endParaRPr lang="en-US" sz="1200" dirty="0"/>
          </a:p>
        </p:txBody>
      </p:sp>
      <p:sp>
        <p:nvSpPr>
          <p:cNvPr id="4" name="Text 2"/>
          <p:cNvSpPr/>
          <p:nvPr/>
        </p:nvSpPr>
        <p:spPr>
          <a:xfrm>
            <a:off x="411480" y="530352"/>
            <a:ext cx="10972800" cy="411480"/>
          </a:xfrm>
          <a:prstGeom prst="rect">
            <a:avLst/>
          </a:prstGeom>
          <a:noFill/>
          <a:ln/>
        </p:spPr>
        <p:txBody>
          <a:bodyPr wrap="square" lIns="0" tIns="0" rIns="0" bIns="0" rtlCol="0" anchor="ctr"/>
          <a:lstStyle/>
          <a:p>
            <a:pPr indent="0" marL="0">
              <a:buNone/>
            </a:pPr>
            <a:r>
              <a:rPr lang="en-US" sz="2600" dirty="0">
                <a:solidFill>
                  <a:srgbClr val="0B1F33"/>
                </a:solidFill>
                <a:latin typeface="Georgia" pitchFamily="34" charset="0"/>
                <a:ea typeface="Georgia" pitchFamily="34" charset="-122"/>
                <a:cs typeface="Georgia" pitchFamily="34" charset="-120"/>
              </a:rPr>
              <a:t>A speech, a sensitivity, a bank book</a:t>
            </a:r>
            <a:endParaRPr lang="en-US" sz="2600" dirty="0"/>
          </a:p>
        </p:txBody>
      </p:sp>
      <p:sp>
        <p:nvSpPr>
          <p:cNvPr id="5" name="Shape 3"/>
          <p:cNvSpPr/>
          <p:nvPr/>
        </p:nvSpPr>
        <p:spPr>
          <a:xfrm>
            <a:off x="365760" y="1234440"/>
            <a:ext cx="3703320" cy="4937760"/>
          </a:xfrm>
          <a:prstGeom prst="roundRect">
            <a:avLst>
              <a:gd name="adj" fmla="val 1975"/>
            </a:avLst>
          </a:prstGeom>
          <a:solidFill>
            <a:srgbClr val="FFFFFF"/>
          </a:solidFill>
          <a:ln/>
        </p:spPr>
      </p:sp>
      <p:sp>
        <p:nvSpPr>
          <p:cNvPr id="6" name="Text 4"/>
          <p:cNvSpPr/>
          <p:nvPr/>
        </p:nvSpPr>
        <p:spPr>
          <a:xfrm>
            <a:off x="594360" y="1463040"/>
            <a:ext cx="3246120" cy="822960"/>
          </a:xfrm>
          <a:prstGeom prst="rect">
            <a:avLst/>
          </a:prstGeom>
          <a:noFill/>
          <a:ln/>
        </p:spPr>
        <p:txBody>
          <a:bodyPr wrap="square" lIns="0" tIns="0" rIns="0" bIns="0" rtlCol="0" anchor="ctr"/>
          <a:lstStyle/>
          <a:p>
            <a:pPr indent="0" marL="0">
              <a:buNone/>
            </a:pPr>
            <a:r>
              <a:rPr lang="en-US" sz="1800" dirty="0">
                <a:solidFill>
                  <a:srgbClr val="0E7C7B"/>
                </a:solidFill>
                <a:latin typeface="Georgia" pitchFamily="34" charset="0"/>
                <a:ea typeface="Georgia" pitchFamily="34" charset="-122"/>
                <a:cs typeface="Georgia" pitchFamily="34" charset="-120"/>
              </a:rPr>
              <a:t>01  The Governor</a:t>
            </a:r>
            <a:endParaRPr lang="en-US" sz="1800" dirty="0"/>
          </a:p>
        </p:txBody>
      </p:sp>
      <p:sp>
        <p:nvSpPr>
          <p:cNvPr id="7" name="Text 5"/>
          <p:cNvSpPr/>
          <p:nvPr/>
        </p:nvSpPr>
        <p:spPr>
          <a:xfrm>
            <a:off x="594360" y="2468880"/>
            <a:ext cx="3246120" cy="32918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At the Kautilya Economic Conclave on 3 October, Sanjay Malhotra said today's resilience may not imply tomorrow's immunity. AI valuations and West Asia commodities sit on the same page.</a:t>
            </a:r>
            <a:endParaRPr lang="en-US" sz="1500" dirty="0"/>
          </a:p>
        </p:txBody>
      </p:sp>
      <p:sp>
        <p:nvSpPr>
          <p:cNvPr id="8" name="Shape 6"/>
          <p:cNvSpPr/>
          <p:nvPr/>
        </p:nvSpPr>
        <p:spPr>
          <a:xfrm>
            <a:off x="4251960" y="1234440"/>
            <a:ext cx="3703320" cy="4937760"/>
          </a:xfrm>
          <a:prstGeom prst="roundRect">
            <a:avLst>
              <a:gd name="adj" fmla="val 1975"/>
            </a:avLst>
          </a:prstGeom>
          <a:solidFill>
            <a:srgbClr val="FFFFFF"/>
          </a:solidFill>
          <a:ln/>
        </p:spPr>
      </p:sp>
      <p:sp>
        <p:nvSpPr>
          <p:cNvPr id="9" name="Text 7"/>
          <p:cNvSpPr/>
          <p:nvPr/>
        </p:nvSpPr>
        <p:spPr>
          <a:xfrm>
            <a:off x="4480560" y="1463040"/>
            <a:ext cx="3246120" cy="822960"/>
          </a:xfrm>
          <a:prstGeom prst="rect">
            <a:avLst/>
          </a:prstGeom>
          <a:noFill/>
          <a:ln/>
        </p:spPr>
        <p:txBody>
          <a:bodyPr wrap="square" lIns="0" tIns="0" rIns="0" bIns="0" rtlCol="0" anchor="ctr"/>
          <a:lstStyle/>
          <a:p>
            <a:pPr indent="0" marL="0">
              <a:buNone/>
            </a:pPr>
            <a:r>
              <a:rPr lang="en-US" sz="1800" dirty="0">
                <a:solidFill>
                  <a:srgbClr val="0E7C7B"/>
                </a:solidFill>
                <a:latin typeface="Georgia" pitchFamily="34" charset="0"/>
                <a:ea typeface="Georgia" pitchFamily="34" charset="-122"/>
                <a:cs typeface="Georgia" pitchFamily="34" charset="-120"/>
              </a:rPr>
              <a:t>02  The balance sheet</a:t>
            </a:r>
            <a:endParaRPr lang="en-US" sz="1800" dirty="0"/>
          </a:p>
        </p:txBody>
      </p:sp>
      <p:sp>
        <p:nvSpPr>
          <p:cNvPr id="10" name="Text 8"/>
          <p:cNvSpPr/>
          <p:nvPr/>
        </p:nvSpPr>
        <p:spPr>
          <a:xfrm>
            <a:off x="4480560" y="2468880"/>
            <a:ext cx="3246120" cy="32918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Crisil, reported 4 October: a hike of up to 50 basis points is largely manageable. Median gearing of rated firms is about 0.5. Coverage stays near 5 times.</a:t>
            </a:r>
            <a:endParaRPr lang="en-US" sz="1500" dirty="0"/>
          </a:p>
        </p:txBody>
      </p:sp>
      <p:sp>
        <p:nvSpPr>
          <p:cNvPr id="11" name="Shape 9"/>
          <p:cNvSpPr/>
          <p:nvPr/>
        </p:nvSpPr>
        <p:spPr>
          <a:xfrm>
            <a:off x="8138160" y="1234440"/>
            <a:ext cx="3703320" cy="4937760"/>
          </a:xfrm>
          <a:prstGeom prst="roundRect">
            <a:avLst>
              <a:gd name="adj" fmla="val 1975"/>
            </a:avLst>
          </a:prstGeom>
          <a:solidFill>
            <a:srgbClr val="FFFFFF"/>
          </a:solidFill>
          <a:ln/>
        </p:spPr>
      </p:sp>
      <p:sp>
        <p:nvSpPr>
          <p:cNvPr id="12" name="Text 10"/>
          <p:cNvSpPr/>
          <p:nvPr/>
        </p:nvSpPr>
        <p:spPr>
          <a:xfrm>
            <a:off x="8366760" y="1463040"/>
            <a:ext cx="3246120" cy="822960"/>
          </a:xfrm>
          <a:prstGeom prst="rect">
            <a:avLst/>
          </a:prstGeom>
          <a:noFill/>
          <a:ln/>
        </p:spPr>
        <p:txBody>
          <a:bodyPr wrap="square" lIns="0" tIns="0" rIns="0" bIns="0" rtlCol="0" anchor="ctr"/>
          <a:lstStyle/>
          <a:p>
            <a:pPr indent="0" marL="0">
              <a:buNone/>
            </a:pPr>
            <a:r>
              <a:rPr lang="en-US" sz="1800" dirty="0">
                <a:solidFill>
                  <a:srgbClr val="0E7C7B"/>
                </a:solidFill>
                <a:latin typeface="Georgia" pitchFamily="34" charset="0"/>
                <a:ea typeface="Georgia" pitchFamily="34" charset="-122"/>
                <a:cs typeface="Georgia" pitchFamily="34" charset="-120"/>
              </a:rPr>
              <a:t>03  The bank book</a:t>
            </a:r>
            <a:endParaRPr lang="en-US" sz="1800" dirty="0"/>
          </a:p>
        </p:txBody>
      </p:sp>
      <p:sp>
        <p:nvSpPr>
          <p:cNvPr id="13" name="Text 11"/>
          <p:cNvSpPr/>
          <p:nvPr/>
        </p:nvSpPr>
        <p:spPr>
          <a:xfrm>
            <a:off x="8366760" y="2468880"/>
            <a:ext cx="3246120" cy="32918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HDFC Bank provisional, 30 September: advances Rs 32.20 lakh crore, up 16.3%. Deposits Rs 33.28 lakh crore, up 18.8%. Deposit growth is outrunning loans.</a:t>
            </a:r>
            <a:endParaRPr lang="en-US" sz="1500" dirty="0"/>
          </a:p>
        </p:txBody>
      </p:sp>
      <p:sp>
        <p:nvSpPr>
          <p:cNvPr id="14" name="Shape 12"/>
          <p:cNvSpPr/>
          <p:nvPr/>
        </p:nvSpPr>
        <p:spPr>
          <a:xfrm>
            <a:off x="0" y="6565392"/>
            <a:ext cx="12191695" cy="292608"/>
          </a:xfrm>
          <a:prstGeom prst="rect">
            <a:avLst/>
          </a:prstGeom>
          <a:solidFill>
            <a:srgbClr val="0B1F33"/>
          </a:solidFill>
          <a:ln/>
        </p:spPr>
      </p:sp>
      <p:sp>
        <p:nvSpPr>
          <p:cNvPr id="15" name="Text 13"/>
          <p:cNvSpPr/>
          <p:nvPr/>
        </p:nvSpPr>
        <p:spPr>
          <a:xfrm>
            <a:off x="320040" y="6583680"/>
            <a:ext cx="11521440" cy="237744"/>
          </a:xfrm>
          <a:prstGeom prst="rect">
            <a:avLst/>
          </a:prstGeom>
          <a:noFill/>
          <a:ln/>
        </p:spPr>
        <p:txBody>
          <a:bodyPr wrap="square" lIns="0" tIns="0" rIns="0" bIns="0" rtlCol="0" anchor="ctr"/>
          <a:lstStyle/>
          <a:p>
            <a:pPr indent="0" marL="0">
              <a:buNone/>
            </a:pPr>
            <a:r>
              <a:rPr lang="en-US" sz="1000" dirty="0">
                <a:solidFill>
                  <a:srgbClr val="E8E2D6"/>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300" b="1" dirty="0">
                <a:solidFill>
                  <a:srgbClr val="C4A35A"/>
                </a:solidFill>
                <a:latin typeface="Calibri" pitchFamily="34" charset="0"/>
                <a:ea typeface="Calibri" pitchFamily="34" charset="-122"/>
                <a:cs typeface="Calibri" pitchFamily="34" charset="-120"/>
              </a:rPr>
              <a:t>THE LINE TO REMEMBER</a:t>
            </a:r>
            <a:endParaRPr lang="en-US" sz="1300" dirty="0"/>
          </a:p>
        </p:txBody>
      </p:sp>
      <p:sp>
        <p:nvSpPr>
          <p:cNvPr id="4" name="Text 2"/>
          <p:cNvSpPr/>
          <p:nvPr/>
        </p:nvSpPr>
        <p:spPr>
          <a:xfrm>
            <a:off x="548640" y="1645920"/>
            <a:ext cx="10972800" cy="1645920"/>
          </a:xfrm>
          <a:prstGeom prst="rect">
            <a:avLst/>
          </a:prstGeom>
          <a:noFill/>
          <a:ln/>
        </p:spPr>
        <p:txBody>
          <a:bodyPr wrap="square" lIns="0" tIns="0" rIns="0" bIns="0" rtlCol="0" anchor="ctr"/>
          <a:lstStyle/>
          <a:p>
            <a:pPr indent="0" marL="0">
              <a:buNone/>
            </a:pPr>
            <a:r>
              <a:rPr lang="en-US" sz="3200" dirty="0">
                <a:solidFill>
                  <a:srgbClr val="FFFFFF"/>
                </a:solidFill>
                <a:latin typeface="Georgia" pitchFamily="34" charset="0"/>
                <a:ea typeface="Georgia" pitchFamily="34" charset="-122"/>
                <a:cs typeface="Georgia" pitchFamily="34" charset="-120"/>
              </a:rPr>
              <a:t>Today's resilience may not necessarily imply tomorrow's immunity.</a:t>
            </a:r>
            <a:endParaRPr lang="en-US" sz="3200" dirty="0"/>
          </a:p>
        </p:txBody>
      </p:sp>
      <p:sp>
        <p:nvSpPr>
          <p:cNvPr id="5" name="Text 3"/>
          <p:cNvSpPr/>
          <p:nvPr/>
        </p:nvSpPr>
        <p:spPr>
          <a:xfrm>
            <a:off x="548640" y="3840480"/>
            <a:ext cx="10058400" cy="914400"/>
          </a:xfrm>
          <a:prstGeom prst="rect">
            <a:avLst/>
          </a:prstGeom>
          <a:noFill/>
          <a:ln/>
        </p:spPr>
        <p:txBody>
          <a:bodyPr wrap="square" lIns="0" tIns="0" rIns="0" bIns="0" rtlCol="0" anchor="ctr"/>
          <a:lstStyle/>
          <a:p>
            <a:pPr indent="0" marL="0">
              <a:buNone/>
            </a:pPr>
            <a:r>
              <a:rPr lang="en-US" sz="1600" dirty="0">
                <a:solidFill>
                  <a:srgbClr val="D5DCE3"/>
                </a:solidFill>
                <a:latin typeface="Calibri" pitchFamily="34" charset="0"/>
                <a:ea typeface="Calibri" pitchFamily="34" charset="-122"/>
                <a:cs typeface="Calibri" pitchFamily="34" charset="-120"/>
              </a:rPr>
              <a:t>Sanjay Malhotra, Governor, Reserve Bank of India. Fifth Kautilya Economic Conclave, 3 October 2026. Institute of Economic Growth and the Union finance ministry.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Text 1"/>
          <p:cNvSpPr/>
          <p:nvPr/>
        </p:nvSpPr>
        <p:spPr>
          <a:xfrm>
            <a:off x="411480" y="256032"/>
            <a:ext cx="1097280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GLOBAL MARKETS</a:t>
            </a:r>
            <a:endParaRPr lang="en-US" sz="1200" dirty="0"/>
          </a:p>
        </p:txBody>
      </p:sp>
      <p:sp>
        <p:nvSpPr>
          <p:cNvPr id="4" name="Text 2"/>
          <p:cNvSpPr/>
          <p:nvPr/>
        </p:nvSpPr>
        <p:spPr>
          <a:xfrm>
            <a:off x="411480" y="530352"/>
            <a:ext cx="10972800" cy="411480"/>
          </a:xfrm>
          <a:prstGeom prst="rect">
            <a:avLst/>
          </a:prstGeom>
          <a:noFill/>
          <a:ln/>
        </p:spPr>
        <p:txBody>
          <a:bodyPr wrap="square" lIns="0" tIns="0" rIns="0" bIns="0" rtlCol="0" anchor="ctr"/>
          <a:lstStyle/>
          <a:p>
            <a:pPr indent="0" marL="0">
              <a:buNone/>
            </a:pPr>
            <a:r>
              <a:rPr lang="en-US" sz="2600" dirty="0">
                <a:solidFill>
                  <a:srgbClr val="0B1F33"/>
                </a:solidFill>
                <a:latin typeface="Georgia" pitchFamily="34" charset="0"/>
                <a:ea typeface="Georgia" pitchFamily="34" charset="-122"/>
                <a:cs typeface="Georgia" pitchFamily="34" charset="-120"/>
              </a:rPr>
              <a:t>The AI cycle is a support and a repricing risk</a:t>
            </a:r>
            <a:endParaRPr lang="en-US" sz="2600" dirty="0"/>
          </a:p>
        </p:txBody>
      </p:sp>
      <p:sp>
        <p:nvSpPr>
          <p:cNvPr id="5" name="Shape 3"/>
          <p:cNvSpPr/>
          <p:nvPr/>
        </p:nvSpPr>
        <p:spPr>
          <a:xfrm>
            <a:off x="411480" y="1188720"/>
            <a:ext cx="11338560" cy="1508760"/>
          </a:xfrm>
          <a:prstGeom prst="roundRect">
            <a:avLst>
              <a:gd name="adj" fmla="val 3636"/>
            </a:avLst>
          </a:prstGeom>
          <a:solidFill>
            <a:srgbClr val="FFFFFF"/>
          </a:solidFill>
          <a:ln/>
        </p:spPr>
      </p:sp>
      <p:sp>
        <p:nvSpPr>
          <p:cNvPr id="6" name="Text 4"/>
          <p:cNvSpPr/>
          <p:nvPr/>
        </p:nvSpPr>
        <p:spPr>
          <a:xfrm>
            <a:off x="640080" y="1600200"/>
            <a:ext cx="2560320" cy="640080"/>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What he said</a:t>
            </a:r>
            <a:endParaRPr lang="en-US" sz="1600" dirty="0"/>
          </a:p>
        </p:txBody>
      </p:sp>
      <p:sp>
        <p:nvSpPr>
          <p:cNvPr id="7" name="Text 5"/>
          <p:cNvSpPr/>
          <p:nvPr/>
        </p:nvSpPr>
        <p:spPr>
          <a:xfrm>
            <a:off x="3291840" y="1444752"/>
            <a:ext cx="8138160" cy="105156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The AI investment cycle has been a major support for global markets. A slowdown in AI investment or earnings could trigger a sharp repricing, especially along the AI value chain.</a:t>
            </a:r>
            <a:endParaRPr lang="en-US" sz="1500" dirty="0"/>
          </a:p>
        </p:txBody>
      </p:sp>
      <p:sp>
        <p:nvSpPr>
          <p:cNvPr id="8" name="Shape 6"/>
          <p:cNvSpPr/>
          <p:nvPr/>
        </p:nvSpPr>
        <p:spPr>
          <a:xfrm>
            <a:off x="411480" y="2834640"/>
            <a:ext cx="11338560" cy="1508760"/>
          </a:xfrm>
          <a:prstGeom prst="roundRect">
            <a:avLst>
              <a:gd name="adj" fmla="val 3636"/>
            </a:avLst>
          </a:prstGeom>
          <a:solidFill>
            <a:srgbClr val="FFFFFF"/>
          </a:solidFill>
          <a:ln/>
        </p:spPr>
      </p:sp>
      <p:sp>
        <p:nvSpPr>
          <p:cNvPr id="9" name="Text 7"/>
          <p:cNvSpPr/>
          <p:nvPr/>
        </p:nvSpPr>
        <p:spPr>
          <a:xfrm>
            <a:off x="640080" y="3246120"/>
            <a:ext cx="2560320" cy="640080"/>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The spillover</a:t>
            </a:r>
            <a:endParaRPr lang="en-US" sz="1600" dirty="0"/>
          </a:p>
        </p:txBody>
      </p:sp>
      <p:sp>
        <p:nvSpPr>
          <p:cNvPr id="10" name="Text 8"/>
          <p:cNvSpPr/>
          <p:nvPr/>
        </p:nvSpPr>
        <p:spPr>
          <a:xfrm>
            <a:off x="3291840" y="3090672"/>
            <a:ext cx="8138160" cy="105156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A correction in AI-related valuations in advanced economies may help India if it redirects capital inflows. Possible is not a budget line.</a:t>
            </a:r>
            <a:endParaRPr lang="en-US" sz="1500" dirty="0"/>
          </a:p>
        </p:txBody>
      </p:sp>
      <p:sp>
        <p:nvSpPr>
          <p:cNvPr id="11" name="Shape 9"/>
          <p:cNvSpPr/>
          <p:nvPr/>
        </p:nvSpPr>
        <p:spPr>
          <a:xfrm>
            <a:off x="411480" y="4480560"/>
            <a:ext cx="11338560" cy="1508760"/>
          </a:xfrm>
          <a:prstGeom prst="roundRect">
            <a:avLst>
              <a:gd name="adj" fmla="val 3636"/>
            </a:avLst>
          </a:prstGeom>
          <a:solidFill>
            <a:srgbClr val="FFFFFF"/>
          </a:solidFill>
          <a:ln/>
        </p:spPr>
      </p:sp>
      <p:sp>
        <p:nvSpPr>
          <p:cNvPr id="12" name="Text 10"/>
          <p:cNvSpPr/>
          <p:nvPr/>
        </p:nvSpPr>
        <p:spPr>
          <a:xfrm>
            <a:off x="640080" y="4892040"/>
            <a:ext cx="2560320" cy="640080"/>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The wider list</a:t>
            </a:r>
            <a:endParaRPr lang="en-US" sz="1600" dirty="0"/>
          </a:p>
        </p:txBody>
      </p:sp>
      <p:sp>
        <p:nvSpPr>
          <p:cNvPr id="13" name="Text 11"/>
          <p:cNvSpPr/>
          <p:nvPr/>
        </p:nvSpPr>
        <p:spPr>
          <a:xfrm>
            <a:off x="3291840" y="4736592"/>
            <a:ext cx="8138160" cy="105156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Elevated global debt, stretched valuations, high leverage, private credit, and cyber threats compounded by AI. Indian equities have fallen from high valuations, but the move has been orderly.</a:t>
            </a:r>
            <a:endParaRPr lang="en-US" sz="1500" dirty="0"/>
          </a:p>
        </p:txBody>
      </p:sp>
      <p:sp>
        <p:nvSpPr>
          <p:cNvPr id="14" name="Shape 12"/>
          <p:cNvSpPr/>
          <p:nvPr/>
        </p:nvSpPr>
        <p:spPr>
          <a:xfrm>
            <a:off x="0" y="6565392"/>
            <a:ext cx="12191695" cy="292608"/>
          </a:xfrm>
          <a:prstGeom prst="rect">
            <a:avLst/>
          </a:prstGeom>
          <a:solidFill>
            <a:srgbClr val="0B1F33"/>
          </a:solidFill>
          <a:ln/>
        </p:spPr>
      </p:sp>
      <p:sp>
        <p:nvSpPr>
          <p:cNvPr id="15" name="Text 13"/>
          <p:cNvSpPr/>
          <p:nvPr/>
        </p:nvSpPr>
        <p:spPr>
          <a:xfrm>
            <a:off x="320040" y="6583680"/>
            <a:ext cx="11521440" cy="237744"/>
          </a:xfrm>
          <a:prstGeom prst="rect">
            <a:avLst/>
          </a:prstGeom>
          <a:noFill/>
          <a:ln/>
        </p:spPr>
        <p:txBody>
          <a:bodyPr wrap="square" lIns="0" tIns="0" rIns="0" bIns="0" rtlCol="0" anchor="ctr"/>
          <a:lstStyle/>
          <a:p>
            <a:pPr indent="0" marL="0">
              <a:buNone/>
            </a:pPr>
            <a:r>
              <a:rPr lang="en-US" sz="1000" dirty="0">
                <a:solidFill>
                  <a:srgbClr val="E8E2D6"/>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Text 1"/>
          <p:cNvSpPr/>
          <p:nvPr/>
        </p:nvSpPr>
        <p:spPr>
          <a:xfrm>
            <a:off x="411480" y="256032"/>
            <a:ext cx="1097280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CRISIL RATINGS  ·  4 OCTOBER 2026</a:t>
            </a:r>
            <a:endParaRPr lang="en-US" sz="1200" dirty="0"/>
          </a:p>
        </p:txBody>
      </p:sp>
      <p:sp>
        <p:nvSpPr>
          <p:cNvPr id="4" name="Text 2"/>
          <p:cNvSpPr/>
          <p:nvPr/>
        </p:nvSpPr>
        <p:spPr>
          <a:xfrm>
            <a:off x="411480" y="530352"/>
            <a:ext cx="10972800" cy="411480"/>
          </a:xfrm>
          <a:prstGeom prst="rect">
            <a:avLst/>
          </a:prstGeom>
          <a:noFill/>
          <a:ln/>
        </p:spPr>
        <p:txBody>
          <a:bodyPr wrap="square" lIns="0" tIns="0" rIns="0" bIns="0" rtlCol="0" anchor="ctr"/>
          <a:lstStyle/>
          <a:p>
            <a:pPr indent="0" marL="0">
              <a:buNone/>
            </a:pPr>
            <a:r>
              <a:rPr lang="en-US" sz="2400" dirty="0">
                <a:solidFill>
                  <a:srgbClr val="0B1F33"/>
                </a:solidFill>
                <a:latin typeface="Georgia" pitchFamily="34" charset="0"/>
                <a:ea typeface="Georgia" pitchFamily="34" charset="-122"/>
                <a:cs typeface="Georgia" pitchFamily="34" charset="-120"/>
              </a:rPr>
              <a:t>India Inc can absorb 50 basis points — at the median</a:t>
            </a:r>
            <a:endParaRPr lang="en-US" sz="2400" dirty="0"/>
          </a:p>
        </p:txBody>
      </p:sp>
      <p:sp>
        <p:nvSpPr>
          <p:cNvPr id="5" name="Shape 3"/>
          <p:cNvSpPr/>
          <p:nvPr/>
        </p:nvSpPr>
        <p:spPr>
          <a:xfrm>
            <a:off x="365760" y="1188720"/>
            <a:ext cx="2788920" cy="2468880"/>
          </a:xfrm>
          <a:prstGeom prst="roundRect">
            <a:avLst>
              <a:gd name="adj" fmla="val 2222"/>
            </a:avLst>
          </a:prstGeom>
          <a:solidFill>
            <a:srgbClr val="0B1F33"/>
          </a:solidFill>
          <a:ln/>
        </p:spPr>
      </p:sp>
      <p:sp>
        <p:nvSpPr>
          <p:cNvPr id="6" name="Text 4"/>
          <p:cNvSpPr/>
          <p:nvPr/>
        </p:nvSpPr>
        <p:spPr>
          <a:xfrm>
            <a:off x="502920" y="1371600"/>
            <a:ext cx="2514600" cy="640080"/>
          </a:xfrm>
          <a:prstGeom prst="rect">
            <a:avLst/>
          </a:prstGeom>
          <a:noFill/>
          <a:ln/>
        </p:spPr>
        <p:txBody>
          <a:bodyPr wrap="square" lIns="0" tIns="0" rIns="0" bIns="0" rtlCol="0" anchor="ctr"/>
          <a:lstStyle/>
          <a:p>
            <a:pPr indent="0" marL="0">
              <a:buNone/>
            </a:pPr>
            <a:r>
              <a:rPr lang="en-US" sz="2600" dirty="0">
                <a:solidFill>
                  <a:srgbClr val="C4A35A"/>
                </a:solidFill>
                <a:latin typeface="Georgia" pitchFamily="34" charset="0"/>
                <a:ea typeface="Georgia" pitchFamily="34" charset="-122"/>
                <a:cs typeface="Georgia" pitchFamily="34" charset="-120"/>
              </a:rPr>
              <a:t>0.5x</a:t>
            </a:r>
            <a:endParaRPr lang="en-US" sz="2600" dirty="0"/>
          </a:p>
        </p:txBody>
      </p:sp>
      <p:sp>
        <p:nvSpPr>
          <p:cNvPr id="7" name="Text 5"/>
          <p:cNvSpPr/>
          <p:nvPr/>
        </p:nvSpPr>
        <p:spPr>
          <a:xfrm>
            <a:off x="502920" y="2057400"/>
            <a:ext cx="25146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Median gearing</a:t>
            </a:r>
            <a:endParaRPr lang="en-US" sz="1400" dirty="0"/>
          </a:p>
        </p:txBody>
      </p:sp>
      <p:sp>
        <p:nvSpPr>
          <p:cNvPr id="8" name="Text 6"/>
          <p:cNvSpPr/>
          <p:nvPr/>
        </p:nvSpPr>
        <p:spPr>
          <a:xfrm>
            <a:off x="502920" y="2651760"/>
            <a:ext cx="2514600" cy="731520"/>
          </a:xfrm>
          <a:prstGeom prst="rect">
            <a:avLst/>
          </a:prstGeom>
          <a:noFill/>
          <a:ln/>
        </p:spPr>
        <p:txBody>
          <a:bodyPr wrap="square" lIns="0" tIns="0" rIns="0" bIns="0" rtlCol="0" anchor="ctr"/>
          <a:lstStyle/>
          <a:p>
            <a:pPr indent="0" marL="0">
              <a:buNone/>
            </a:pPr>
            <a:r>
              <a:rPr lang="en-US" sz="1300" dirty="0">
                <a:solidFill>
                  <a:srgbClr val="D5DCE3"/>
                </a:solidFill>
                <a:latin typeface="Calibri" pitchFamily="34" charset="0"/>
                <a:ea typeface="Calibri" pitchFamily="34" charset="-122"/>
                <a:cs typeface="Calibri" pitchFamily="34" charset="-120"/>
              </a:rPr>
              <a:t>Rated companies. The cushion.</a:t>
            </a:r>
            <a:endParaRPr lang="en-US" sz="1300" dirty="0"/>
          </a:p>
        </p:txBody>
      </p:sp>
      <p:sp>
        <p:nvSpPr>
          <p:cNvPr id="9" name="Shape 7"/>
          <p:cNvSpPr/>
          <p:nvPr/>
        </p:nvSpPr>
        <p:spPr>
          <a:xfrm>
            <a:off x="3291840" y="1188720"/>
            <a:ext cx="2788920" cy="2468880"/>
          </a:xfrm>
          <a:prstGeom prst="roundRect">
            <a:avLst>
              <a:gd name="adj" fmla="val 2222"/>
            </a:avLst>
          </a:prstGeom>
          <a:solidFill>
            <a:srgbClr val="0B1F33"/>
          </a:solidFill>
          <a:ln/>
        </p:spPr>
      </p:sp>
      <p:sp>
        <p:nvSpPr>
          <p:cNvPr id="10" name="Text 8"/>
          <p:cNvSpPr/>
          <p:nvPr/>
        </p:nvSpPr>
        <p:spPr>
          <a:xfrm>
            <a:off x="3429000" y="1371600"/>
            <a:ext cx="2514600" cy="640080"/>
          </a:xfrm>
          <a:prstGeom prst="rect">
            <a:avLst/>
          </a:prstGeom>
          <a:noFill/>
          <a:ln/>
        </p:spPr>
        <p:txBody>
          <a:bodyPr wrap="square" lIns="0" tIns="0" rIns="0" bIns="0" rtlCol="0" anchor="ctr"/>
          <a:lstStyle/>
          <a:p>
            <a:pPr indent="0" marL="0">
              <a:buNone/>
            </a:pPr>
            <a:r>
              <a:rPr lang="en-US" sz="2600" dirty="0">
                <a:solidFill>
                  <a:srgbClr val="C4A35A"/>
                </a:solidFill>
                <a:latin typeface="Georgia" pitchFamily="34" charset="0"/>
                <a:ea typeface="Georgia" pitchFamily="34" charset="-122"/>
                <a:cs typeface="Georgia" pitchFamily="34" charset="-120"/>
              </a:rPr>
              <a:t>~10 bps</a:t>
            </a:r>
            <a:endParaRPr lang="en-US" sz="2600" dirty="0"/>
          </a:p>
        </p:txBody>
      </p:sp>
      <p:sp>
        <p:nvSpPr>
          <p:cNvPr id="11" name="Text 9"/>
          <p:cNvSpPr/>
          <p:nvPr/>
        </p:nvSpPr>
        <p:spPr>
          <a:xfrm>
            <a:off x="3429000" y="2057400"/>
            <a:ext cx="25146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Coverage, +25 bps</a:t>
            </a:r>
            <a:endParaRPr lang="en-US" sz="1400" dirty="0"/>
          </a:p>
        </p:txBody>
      </p:sp>
      <p:sp>
        <p:nvSpPr>
          <p:cNvPr id="12" name="Text 10"/>
          <p:cNvSpPr/>
          <p:nvPr/>
        </p:nvSpPr>
        <p:spPr>
          <a:xfrm>
            <a:off x="3429000" y="2651760"/>
            <a:ext cx="2514600" cy="731520"/>
          </a:xfrm>
          <a:prstGeom prst="rect">
            <a:avLst/>
          </a:prstGeom>
          <a:noFill/>
          <a:ln/>
        </p:spPr>
        <p:txBody>
          <a:bodyPr wrap="square" lIns="0" tIns="0" rIns="0" bIns="0" rtlCol="0" anchor="ctr"/>
          <a:lstStyle/>
          <a:p>
            <a:pPr indent="0" marL="0">
              <a:buNone/>
            </a:pPr>
            <a:r>
              <a:rPr lang="en-US" sz="1300" dirty="0">
                <a:solidFill>
                  <a:srgbClr val="D5DCE3"/>
                </a:solidFill>
                <a:latin typeface="Calibri" pitchFamily="34" charset="0"/>
                <a:ea typeface="Calibri" pitchFamily="34" charset="-122"/>
                <a:cs typeface="Calibri" pitchFamily="34" charset="-120"/>
              </a:rPr>
              <a:t>Median interest coverage eases slightly.</a:t>
            </a:r>
            <a:endParaRPr lang="en-US" sz="1300" dirty="0"/>
          </a:p>
        </p:txBody>
      </p:sp>
      <p:sp>
        <p:nvSpPr>
          <p:cNvPr id="13" name="Shape 11"/>
          <p:cNvSpPr/>
          <p:nvPr/>
        </p:nvSpPr>
        <p:spPr>
          <a:xfrm>
            <a:off x="6217920" y="1188720"/>
            <a:ext cx="2788920" cy="2468880"/>
          </a:xfrm>
          <a:prstGeom prst="roundRect">
            <a:avLst>
              <a:gd name="adj" fmla="val 2222"/>
            </a:avLst>
          </a:prstGeom>
          <a:solidFill>
            <a:srgbClr val="0B1F33"/>
          </a:solidFill>
          <a:ln/>
        </p:spPr>
      </p:sp>
      <p:sp>
        <p:nvSpPr>
          <p:cNvPr id="14" name="Text 12"/>
          <p:cNvSpPr/>
          <p:nvPr/>
        </p:nvSpPr>
        <p:spPr>
          <a:xfrm>
            <a:off x="6355080" y="1371600"/>
            <a:ext cx="2514600" cy="640080"/>
          </a:xfrm>
          <a:prstGeom prst="rect">
            <a:avLst/>
          </a:prstGeom>
          <a:noFill/>
          <a:ln/>
        </p:spPr>
        <p:txBody>
          <a:bodyPr wrap="square" lIns="0" tIns="0" rIns="0" bIns="0" rtlCol="0" anchor="ctr"/>
          <a:lstStyle/>
          <a:p>
            <a:pPr indent="0" marL="0">
              <a:buNone/>
            </a:pPr>
            <a:r>
              <a:rPr lang="en-US" sz="2600" dirty="0">
                <a:solidFill>
                  <a:srgbClr val="C4A35A"/>
                </a:solidFill>
                <a:latin typeface="Georgia" pitchFamily="34" charset="0"/>
                <a:ea typeface="Georgia" pitchFamily="34" charset="-122"/>
                <a:cs typeface="Georgia" pitchFamily="34" charset="-120"/>
              </a:rPr>
              <a:t>~20 bps</a:t>
            </a:r>
            <a:endParaRPr lang="en-US" sz="2600" dirty="0"/>
          </a:p>
        </p:txBody>
      </p:sp>
      <p:sp>
        <p:nvSpPr>
          <p:cNvPr id="15" name="Text 13"/>
          <p:cNvSpPr/>
          <p:nvPr/>
        </p:nvSpPr>
        <p:spPr>
          <a:xfrm>
            <a:off x="6355080" y="2057400"/>
            <a:ext cx="25146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Coverage, +50 bps</a:t>
            </a:r>
            <a:endParaRPr lang="en-US" sz="1400" dirty="0"/>
          </a:p>
        </p:txBody>
      </p:sp>
      <p:sp>
        <p:nvSpPr>
          <p:cNvPr id="16" name="Text 14"/>
          <p:cNvSpPr/>
          <p:nvPr/>
        </p:nvSpPr>
        <p:spPr>
          <a:xfrm>
            <a:off x="6355080" y="2651760"/>
            <a:ext cx="2514600" cy="731520"/>
          </a:xfrm>
          <a:prstGeom prst="rect">
            <a:avLst/>
          </a:prstGeom>
          <a:noFill/>
          <a:ln/>
        </p:spPr>
        <p:txBody>
          <a:bodyPr wrap="square" lIns="0" tIns="0" rIns="0" bIns="0" rtlCol="0" anchor="ctr"/>
          <a:lstStyle/>
          <a:p>
            <a:pPr indent="0" marL="0">
              <a:buNone/>
            </a:pPr>
            <a:r>
              <a:rPr lang="en-US" sz="1300" dirty="0">
                <a:solidFill>
                  <a:srgbClr val="D5DCE3"/>
                </a:solidFill>
                <a:latin typeface="Calibri" pitchFamily="34" charset="0"/>
                <a:ea typeface="Calibri" pitchFamily="34" charset="-122"/>
                <a:cs typeface="Calibri" pitchFamily="34" charset="-120"/>
              </a:rPr>
              <a:t>Still leaves coverage near 5.0 times.</a:t>
            </a:r>
            <a:endParaRPr lang="en-US" sz="1300" dirty="0"/>
          </a:p>
        </p:txBody>
      </p:sp>
      <p:sp>
        <p:nvSpPr>
          <p:cNvPr id="17" name="Shape 15"/>
          <p:cNvSpPr/>
          <p:nvPr/>
        </p:nvSpPr>
        <p:spPr>
          <a:xfrm>
            <a:off x="9144000" y="1188720"/>
            <a:ext cx="2788920" cy="2468880"/>
          </a:xfrm>
          <a:prstGeom prst="roundRect">
            <a:avLst>
              <a:gd name="adj" fmla="val 2222"/>
            </a:avLst>
          </a:prstGeom>
          <a:solidFill>
            <a:srgbClr val="0B1F33"/>
          </a:solidFill>
          <a:ln/>
        </p:spPr>
      </p:sp>
      <p:sp>
        <p:nvSpPr>
          <p:cNvPr id="18" name="Text 16"/>
          <p:cNvSpPr/>
          <p:nvPr/>
        </p:nvSpPr>
        <p:spPr>
          <a:xfrm>
            <a:off x="9281160" y="1371600"/>
            <a:ext cx="2514600" cy="640080"/>
          </a:xfrm>
          <a:prstGeom prst="rect">
            <a:avLst/>
          </a:prstGeom>
          <a:noFill/>
          <a:ln/>
        </p:spPr>
        <p:txBody>
          <a:bodyPr wrap="square" lIns="0" tIns="0" rIns="0" bIns="0" rtlCol="0" anchor="ctr"/>
          <a:lstStyle/>
          <a:p>
            <a:pPr indent="0" marL="0">
              <a:buNone/>
            </a:pPr>
            <a:r>
              <a:rPr lang="en-US" sz="2600" dirty="0">
                <a:solidFill>
                  <a:srgbClr val="C4A35A"/>
                </a:solidFill>
                <a:latin typeface="Georgia" pitchFamily="34" charset="0"/>
                <a:ea typeface="Georgia" pitchFamily="34" charset="-122"/>
                <a:cs typeface="Georgia" pitchFamily="34" charset="-120"/>
              </a:rPr>
              <a:t>5.0-5.1x</a:t>
            </a:r>
            <a:endParaRPr lang="en-US" sz="2600" dirty="0"/>
          </a:p>
        </p:txBody>
      </p:sp>
      <p:sp>
        <p:nvSpPr>
          <p:cNvPr id="19" name="Text 17"/>
          <p:cNvSpPr/>
          <p:nvPr/>
        </p:nvSpPr>
        <p:spPr>
          <a:xfrm>
            <a:off x="9281160" y="2057400"/>
            <a:ext cx="25146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Coverage after hike</a:t>
            </a:r>
            <a:endParaRPr lang="en-US" sz="1400" dirty="0"/>
          </a:p>
        </p:txBody>
      </p:sp>
      <p:sp>
        <p:nvSpPr>
          <p:cNvPr id="20" name="Text 18"/>
          <p:cNvSpPr/>
          <p:nvPr/>
        </p:nvSpPr>
        <p:spPr>
          <a:xfrm>
            <a:off x="9281160" y="2651760"/>
            <a:ext cx="2514600" cy="731520"/>
          </a:xfrm>
          <a:prstGeom prst="rect">
            <a:avLst/>
          </a:prstGeom>
          <a:noFill/>
          <a:ln/>
        </p:spPr>
        <p:txBody>
          <a:bodyPr wrap="square" lIns="0" tIns="0" rIns="0" bIns="0" rtlCol="0" anchor="ctr"/>
          <a:lstStyle/>
          <a:p>
            <a:pPr indent="0" marL="0">
              <a:buNone/>
            </a:pPr>
            <a:r>
              <a:rPr lang="en-US" sz="1300" dirty="0">
                <a:solidFill>
                  <a:srgbClr val="D5DCE3"/>
                </a:solidFill>
                <a:latin typeface="Calibri" pitchFamily="34" charset="0"/>
                <a:ea typeface="Calibri" pitchFamily="34" charset="-122"/>
                <a:cs typeface="Calibri" pitchFamily="34" charset="-120"/>
              </a:rPr>
              <a:t>5.1x at +25 bps; about 5.0x at +50.</a:t>
            </a:r>
            <a:endParaRPr lang="en-US" sz="1300" dirty="0"/>
          </a:p>
        </p:txBody>
      </p:sp>
      <p:sp>
        <p:nvSpPr>
          <p:cNvPr id="21" name="Text 19"/>
          <p:cNvSpPr/>
          <p:nvPr/>
        </p:nvSpPr>
        <p:spPr>
          <a:xfrm>
            <a:off x="411480" y="3931920"/>
            <a:ext cx="11338560" cy="1188720"/>
          </a:xfrm>
          <a:prstGeom prst="rect">
            <a:avLst/>
          </a:prstGeom>
          <a:noFill/>
          <a:ln/>
        </p:spPr>
        <p:txBody>
          <a:bodyPr wrap="square" lIns="0" tIns="0" rIns="0" bIns="0" rtlCol="0" anchor="ctr"/>
          <a:lstStyle/>
          <a:p>
            <a:pPr indent="0" marL="0">
              <a:buNone/>
            </a:pPr>
            <a:r>
              <a:rPr lang="en-US" sz="1600" dirty="0">
                <a:solidFill>
                  <a:srgbClr val="1C2834"/>
                </a:solidFill>
                <a:latin typeface="Calibri" pitchFamily="34" charset="0"/>
                <a:ea typeface="Calibri" pitchFamily="34" charset="-122"/>
                <a:cs typeface="Calibri" pitchFamily="34" charset="-120"/>
              </a:rPr>
              <a:t>Commercial real estate: moderate debt-service impact in a 50 bps case. Bank credit growth expected at 14.5 to 15.5 percent in FY27. Stable FY27 credit outlook, with crude, geopolitics and supply chains still named. The median is not your firm.</a:t>
            </a:r>
            <a:endParaRPr lang="en-US" sz="1600" dirty="0"/>
          </a:p>
        </p:txBody>
      </p:sp>
      <p:sp>
        <p:nvSpPr>
          <p:cNvPr id="22" name="Shape 20"/>
          <p:cNvSpPr/>
          <p:nvPr/>
        </p:nvSpPr>
        <p:spPr>
          <a:xfrm>
            <a:off x="0" y="6565392"/>
            <a:ext cx="12191695" cy="292608"/>
          </a:xfrm>
          <a:prstGeom prst="rect">
            <a:avLst/>
          </a:prstGeom>
          <a:solidFill>
            <a:srgbClr val="0B1F33"/>
          </a:solidFill>
          <a:ln/>
        </p:spPr>
      </p:sp>
      <p:sp>
        <p:nvSpPr>
          <p:cNvPr id="23" name="Text 21"/>
          <p:cNvSpPr/>
          <p:nvPr/>
        </p:nvSpPr>
        <p:spPr>
          <a:xfrm>
            <a:off x="320040" y="6583680"/>
            <a:ext cx="11521440" cy="237744"/>
          </a:xfrm>
          <a:prstGeom prst="rect">
            <a:avLst/>
          </a:prstGeom>
          <a:noFill/>
          <a:ln/>
        </p:spPr>
        <p:txBody>
          <a:bodyPr wrap="square" lIns="0" tIns="0" rIns="0" bIns="0" rtlCol="0" anchor="ctr"/>
          <a:lstStyle/>
          <a:p>
            <a:pPr indent="0" marL="0">
              <a:buNone/>
            </a:pPr>
            <a:r>
              <a:rPr lang="en-US" sz="1000" dirty="0">
                <a:solidFill>
                  <a:srgbClr val="E8E2D6"/>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Text 1"/>
          <p:cNvSpPr/>
          <p:nvPr/>
        </p:nvSpPr>
        <p:spPr>
          <a:xfrm>
            <a:off x="411480" y="256032"/>
            <a:ext cx="1097280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HDFC BANK PROVISIONAL  ·  30 SEPTEMBER 2026</a:t>
            </a:r>
            <a:endParaRPr lang="en-US" sz="1200" dirty="0"/>
          </a:p>
        </p:txBody>
      </p:sp>
      <p:sp>
        <p:nvSpPr>
          <p:cNvPr id="4" name="Text 2"/>
          <p:cNvSpPr/>
          <p:nvPr/>
        </p:nvSpPr>
        <p:spPr>
          <a:xfrm>
            <a:off x="411480" y="530352"/>
            <a:ext cx="10972800" cy="384048"/>
          </a:xfrm>
          <a:prstGeom prst="rect">
            <a:avLst/>
          </a:prstGeom>
          <a:noFill/>
          <a:ln/>
        </p:spPr>
        <p:txBody>
          <a:bodyPr wrap="square" lIns="0" tIns="0" rIns="0" bIns="0" rtlCol="0" anchor="ctr"/>
          <a:lstStyle/>
          <a:p>
            <a:pPr indent="0" marL="0">
              <a:buNone/>
            </a:pPr>
            <a:r>
              <a:rPr lang="en-US" sz="2600" dirty="0">
                <a:solidFill>
                  <a:srgbClr val="0B1F33"/>
                </a:solidFill>
                <a:latin typeface="Georgia" pitchFamily="34" charset="0"/>
                <a:ea typeface="Georgia" pitchFamily="34" charset="-122"/>
                <a:cs typeface="Georgia" pitchFamily="34" charset="-120"/>
              </a:rPr>
              <a:t>Deposits are growing faster than advances</a:t>
            </a:r>
            <a:endParaRPr lang="en-US" sz="2600" dirty="0"/>
          </a:p>
        </p:txBody>
      </p:sp>
      <p:sp>
        <p:nvSpPr>
          <p:cNvPr id="5" name="Shape 3"/>
          <p:cNvSpPr/>
          <p:nvPr/>
        </p:nvSpPr>
        <p:spPr>
          <a:xfrm>
            <a:off x="411480" y="1097280"/>
            <a:ext cx="11338560" cy="731520"/>
          </a:xfrm>
          <a:prstGeom prst="rect">
            <a:avLst/>
          </a:prstGeom>
          <a:solidFill>
            <a:srgbClr val="FFFFFF"/>
          </a:solidFill>
          <a:ln/>
        </p:spPr>
      </p:sp>
      <p:sp>
        <p:nvSpPr>
          <p:cNvPr id="6" name="Text 4"/>
          <p:cNvSpPr/>
          <p:nvPr/>
        </p:nvSpPr>
        <p:spPr>
          <a:xfrm>
            <a:off x="594360" y="1280160"/>
            <a:ext cx="4389120" cy="365760"/>
          </a:xfrm>
          <a:prstGeom prst="rect">
            <a:avLst/>
          </a:prstGeom>
          <a:noFill/>
          <a:ln/>
        </p:spPr>
        <p:txBody>
          <a:bodyPr wrap="square" lIns="0" tIns="0" rIns="0" bIns="0" rtlCol="0" anchor="ctr"/>
          <a:lstStyle/>
          <a:p>
            <a:pPr indent="0" marL="0">
              <a:buNone/>
            </a:pPr>
            <a:r>
              <a:rPr lang="en-US" sz="1600" dirty="0">
                <a:solidFill>
                  <a:srgbClr val="1C2834"/>
                </a:solidFill>
                <a:latin typeface="Calibri" pitchFamily="34" charset="0"/>
                <a:ea typeface="Calibri" pitchFamily="34" charset="-122"/>
                <a:cs typeface="Calibri" pitchFamily="34" charset="-120"/>
              </a:rPr>
              <a:t>Gross advances</a:t>
            </a:r>
            <a:endParaRPr lang="en-US" sz="1600" dirty="0"/>
          </a:p>
        </p:txBody>
      </p:sp>
      <p:sp>
        <p:nvSpPr>
          <p:cNvPr id="7" name="Text 5"/>
          <p:cNvSpPr/>
          <p:nvPr/>
        </p:nvSpPr>
        <p:spPr>
          <a:xfrm>
            <a:off x="5029200" y="1280160"/>
            <a:ext cx="3657600" cy="365760"/>
          </a:xfrm>
          <a:prstGeom prst="rect">
            <a:avLst/>
          </a:prstGeom>
          <a:noFill/>
          <a:ln/>
        </p:spPr>
        <p:txBody>
          <a:bodyPr wrap="square" lIns="0" tIns="0" rIns="0" bIns="0" rtlCol="0" anchor="ctr"/>
          <a:lstStyle/>
          <a:p>
            <a:pPr indent="0" marL="0">
              <a:buNone/>
            </a:pPr>
            <a:r>
              <a:rPr lang="en-US" sz="1600" dirty="0">
                <a:solidFill>
                  <a:srgbClr val="0B1F33"/>
                </a:solidFill>
                <a:latin typeface="Georgia" pitchFamily="34" charset="0"/>
                <a:ea typeface="Georgia" pitchFamily="34" charset="-122"/>
                <a:cs typeface="Georgia" pitchFamily="34" charset="-120"/>
              </a:rPr>
              <a:t>Rs 32.20 lakh cr</a:t>
            </a:r>
            <a:endParaRPr lang="en-US" sz="1600" dirty="0"/>
          </a:p>
        </p:txBody>
      </p:sp>
      <p:sp>
        <p:nvSpPr>
          <p:cNvPr id="8" name="Text 6"/>
          <p:cNvSpPr/>
          <p:nvPr/>
        </p:nvSpPr>
        <p:spPr>
          <a:xfrm>
            <a:off x="8778240" y="1280160"/>
            <a:ext cx="2743200" cy="365760"/>
          </a:xfrm>
          <a:prstGeom prst="rect">
            <a:avLst/>
          </a:prstGeom>
          <a:noFill/>
          <a:ln/>
        </p:spPr>
        <p:txBody>
          <a:bodyPr wrap="square" lIns="0" tIns="0" rIns="0" bIns="0" rtlCol="0" anchor="ctr"/>
          <a:lstStyle/>
          <a:p>
            <a:pPr indent="0" marL="0">
              <a:buNone/>
            </a:pPr>
            <a:r>
              <a:rPr lang="en-US" sz="1600" dirty="0">
                <a:solidFill>
                  <a:srgbClr val="0E7C7B"/>
                </a:solidFill>
                <a:latin typeface="Calibri" pitchFamily="34" charset="0"/>
                <a:ea typeface="Calibri" pitchFamily="34" charset="-122"/>
                <a:cs typeface="Calibri" pitchFamily="34" charset="-120"/>
              </a:rPr>
              <a:t>+16.3% YoY</a:t>
            </a:r>
            <a:endParaRPr lang="en-US" sz="1600" dirty="0"/>
          </a:p>
        </p:txBody>
      </p:sp>
      <p:sp>
        <p:nvSpPr>
          <p:cNvPr id="9" name="Shape 7"/>
          <p:cNvSpPr/>
          <p:nvPr/>
        </p:nvSpPr>
        <p:spPr>
          <a:xfrm>
            <a:off x="411480" y="1920240"/>
            <a:ext cx="11338560" cy="731520"/>
          </a:xfrm>
          <a:prstGeom prst="rect">
            <a:avLst/>
          </a:prstGeom>
          <a:solidFill>
            <a:srgbClr val="EFEAE0"/>
          </a:solidFill>
          <a:ln/>
        </p:spPr>
      </p:sp>
      <p:sp>
        <p:nvSpPr>
          <p:cNvPr id="10" name="Text 8"/>
          <p:cNvSpPr/>
          <p:nvPr/>
        </p:nvSpPr>
        <p:spPr>
          <a:xfrm>
            <a:off x="594360" y="2103120"/>
            <a:ext cx="4389120" cy="365760"/>
          </a:xfrm>
          <a:prstGeom prst="rect">
            <a:avLst/>
          </a:prstGeom>
          <a:noFill/>
          <a:ln/>
        </p:spPr>
        <p:txBody>
          <a:bodyPr wrap="square" lIns="0" tIns="0" rIns="0" bIns="0" rtlCol="0" anchor="ctr"/>
          <a:lstStyle/>
          <a:p>
            <a:pPr indent="0" marL="0">
              <a:buNone/>
            </a:pPr>
            <a:r>
              <a:rPr lang="en-US" sz="1600" dirty="0">
                <a:solidFill>
                  <a:srgbClr val="1C2834"/>
                </a:solidFill>
                <a:latin typeface="Calibri" pitchFamily="34" charset="0"/>
                <a:ea typeface="Calibri" pitchFamily="34" charset="-122"/>
                <a:cs typeface="Calibri" pitchFamily="34" charset="-120"/>
              </a:rPr>
              <a:t>Deposits</a:t>
            </a:r>
            <a:endParaRPr lang="en-US" sz="1600" dirty="0"/>
          </a:p>
        </p:txBody>
      </p:sp>
      <p:sp>
        <p:nvSpPr>
          <p:cNvPr id="11" name="Text 9"/>
          <p:cNvSpPr/>
          <p:nvPr/>
        </p:nvSpPr>
        <p:spPr>
          <a:xfrm>
            <a:off x="5029200" y="2103120"/>
            <a:ext cx="3657600" cy="365760"/>
          </a:xfrm>
          <a:prstGeom prst="rect">
            <a:avLst/>
          </a:prstGeom>
          <a:noFill/>
          <a:ln/>
        </p:spPr>
        <p:txBody>
          <a:bodyPr wrap="square" lIns="0" tIns="0" rIns="0" bIns="0" rtlCol="0" anchor="ctr"/>
          <a:lstStyle/>
          <a:p>
            <a:pPr indent="0" marL="0">
              <a:buNone/>
            </a:pPr>
            <a:r>
              <a:rPr lang="en-US" sz="1600" dirty="0">
                <a:solidFill>
                  <a:srgbClr val="0B1F33"/>
                </a:solidFill>
                <a:latin typeface="Georgia" pitchFamily="34" charset="0"/>
                <a:ea typeface="Georgia" pitchFamily="34" charset="-122"/>
                <a:cs typeface="Georgia" pitchFamily="34" charset="-120"/>
              </a:rPr>
              <a:t>Rs 33.28 lakh cr</a:t>
            </a:r>
            <a:endParaRPr lang="en-US" sz="1600" dirty="0"/>
          </a:p>
        </p:txBody>
      </p:sp>
      <p:sp>
        <p:nvSpPr>
          <p:cNvPr id="12" name="Text 10"/>
          <p:cNvSpPr/>
          <p:nvPr/>
        </p:nvSpPr>
        <p:spPr>
          <a:xfrm>
            <a:off x="8778240" y="2103120"/>
            <a:ext cx="2743200" cy="365760"/>
          </a:xfrm>
          <a:prstGeom prst="rect">
            <a:avLst/>
          </a:prstGeom>
          <a:noFill/>
          <a:ln/>
        </p:spPr>
        <p:txBody>
          <a:bodyPr wrap="square" lIns="0" tIns="0" rIns="0" bIns="0" rtlCol="0" anchor="ctr"/>
          <a:lstStyle/>
          <a:p>
            <a:pPr indent="0" marL="0">
              <a:buNone/>
            </a:pPr>
            <a:r>
              <a:rPr lang="en-US" sz="1600" dirty="0">
                <a:solidFill>
                  <a:srgbClr val="0E7C7B"/>
                </a:solidFill>
                <a:latin typeface="Calibri" pitchFamily="34" charset="0"/>
                <a:ea typeface="Calibri" pitchFamily="34" charset="-122"/>
                <a:cs typeface="Calibri" pitchFamily="34" charset="-120"/>
              </a:rPr>
              <a:t>+18.8% YoY</a:t>
            </a:r>
            <a:endParaRPr lang="en-US" sz="1600" dirty="0"/>
          </a:p>
        </p:txBody>
      </p:sp>
      <p:sp>
        <p:nvSpPr>
          <p:cNvPr id="13" name="Shape 11"/>
          <p:cNvSpPr/>
          <p:nvPr/>
        </p:nvSpPr>
        <p:spPr>
          <a:xfrm>
            <a:off x="411480" y="2743200"/>
            <a:ext cx="11338560" cy="731520"/>
          </a:xfrm>
          <a:prstGeom prst="rect">
            <a:avLst/>
          </a:prstGeom>
          <a:solidFill>
            <a:srgbClr val="FFFFFF"/>
          </a:solidFill>
          <a:ln/>
        </p:spPr>
      </p:sp>
      <p:sp>
        <p:nvSpPr>
          <p:cNvPr id="14" name="Text 12"/>
          <p:cNvSpPr/>
          <p:nvPr/>
        </p:nvSpPr>
        <p:spPr>
          <a:xfrm>
            <a:off x="594360" y="2926080"/>
            <a:ext cx="4389120" cy="365760"/>
          </a:xfrm>
          <a:prstGeom prst="rect">
            <a:avLst/>
          </a:prstGeom>
          <a:noFill/>
          <a:ln/>
        </p:spPr>
        <p:txBody>
          <a:bodyPr wrap="square" lIns="0" tIns="0" rIns="0" bIns="0" rtlCol="0" anchor="ctr"/>
          <a:lstStyle/>
          <a:p>
            <a:pPr indent="0" marL="0">
              <a:buNone/>
            </a:pPr>
            <a:r>
              <a:rPr lang="en-US" sz="1600" dirty="0">
                <a:solidFill>
                  <a:srgbClr val="1C2834"/>
                </a:solidFill>
                <a:latin typeface="Calibri" pitchFamily="34" charset="0"/>
                <a:ea typeface="Calibri" pitchFamily="34" charset="-122"/>
                <a:cs typeface="Calibri" pitchFamily="34" charset="-120"/>
              </a:rPr>
              <a:t>Advances under management</a:t>
            </a:r>
            <a:endParaRPr lang="en-US" sz="1600" dirty="0"/>
          </a:p>
        </p:txBody>
      </p:sp>
      <p:sp>
        <p:nvSpPr>
          <p:cNvPr id="15" name="Text 13"/>
          <p:cNvSpPr/>
          <p:nvPr/>
        </p:nvSpPr>
        <p:spPr>
          <a:xfrm>
            <a:off x="5029200" y="2926080"/>
            <a:ext cx="3657600" cy="365760"/>
          </a:xfrm>
          <a:prstGeom prst="rect">
            <a:avLst/>
          </a:prstGeom>
          <a:noFill/>
          <a:ln/>
        </p:spPr>
        <p:txBody>
          <a:bodyPr wrap="square" lIns="0" tIns="0" rIns="0" bIns="0" rtlCol="0" anchor="ctr"/>
          <a:lstStyle/>
          <a:p>
            <a:pPr indent="0" marL="0">
              <a:buNone/>
            </a:pPr>
            <a:r>
              <a:rPr lang="en-US" sz="1600" dirty="0">
                <a:solidFill>
                  <a:srgbClr val="0B1F33"/>
                </a:solidFill>
                <a:latin typeface="Georgia" pitchFamily="34" charset="0"/>
                <a:ea typeface="Georgia" pitchFamily="34" charset="-122"/>
                <a:cs typeface="Georgia" pitchFamily="34" charset="-120"/>
              </a:rPr>
              <a:t>Rs 33.08 lakh cr</a:t>
            </a:r>
            <a:endParaRPr lang="en-US" sz="1600" dirty="0"/>
          </a:p>
        </p:txBody>
      </p:sp>
      <p:sp>
        <p:nvSpPr>
          <p:cNvPr id="16" name="Text 14"/>
          <p:cNvSpPr/>
          <p:nvPr/>
        </p:nvSpPr>
        <p:spPr>
          <a:xfrm>
            <a:off x="8778240" y="2926080"/>
            <a:ext cx="2743200" cy="365760"/>
          </a:xfrm>
          <a:prstGeom prst="rect">
            <a:avLst/>
          </a:prstGeom>
          <a:noFill/>
          <a:ln/>
        </p:spPr>
        <p:txBody>
          <a:bodyPr wrap="square" lIns="0" tIns="0" rIns="0" bIns="0" rtlCol="0" anchor="ctr"/>
          <a:lstStyle/>
          <a:p>
            <a:pPr indent="0" marL="0">
              <a:buNone/>
            </a:pPr>
            <a:r>
              <a:rPr lang="en-US" sz="1600" dirty="0">
                <a:solidFill>
                  <a:srgbClr val="0E7C7B"/>
                </a:solidFill>
                <a:latin typeface="Calibri" pitchFamily="34" charset="0"/>
                <a:ea typeface="Calibri" pitchFamily="34" charset="-122"/>
                <a:cs typeface="Calibri" pitchFamily="34" charset="-120"/>
              </a:rPr>
              <a:t>+15.3% YoY</a:t>
            </a:r>
            <a:endParaRPr lang="en-US" sz="1600" dirty="0"/>
          </a:p>
        </p:txBody>
      </p:sp>
      <p:sp>
        <p:nvSpPr>
          <p:cNvPr id="17" name="Shape 15"/>
          <p:cNvSpPr/>
          <p:nvPr/>
        </p:nvSpPr>
        <p:spPr>
          <a:xfrm>
            <a:off x="411480" y="3566160"/>
            <a:ext cx="11338560" cy="731520"/>
          </a:xfrm>
          <a:prstGeom prst="rect">
            <a:avLst/>
          </a:prstGeom>
          <a:solidFill>
            <a:srgbClr val="EFEAE0"/>
          </a:solidFill>
          <a:ln/>
        </p:spPr>
      </p:sp>
      <p:sp>
        <p:nvSpPr>
          <p:cNvPr id="18" name="Text 16"/>
          <p:cNvSpPr/>
          <p:nvPr/>
        </p:nvSpPr>
        <p:spPr>
          <a:xfrm>
            <a:off x="594360" y="3749040"/>
            <a:ext cx="4389120" cy="365760"/>
          </a:xfrm>
          <a:prstGeom prst="rect">
            <a:avLst/>
          </a:prstGeom>
          <a:noFill/>
          <a:ln/>
        </p:spPr>
        <p:txBody>
          <a:bodyPr wrap="square" lIns="0" tIns="0" rIns="0" bIns="0" rtlCol="0" anchor="ctr"/>
          <a:lstStyle/>
          <a:p>
            <a:pPr indent="0" marL="0">
              <a:buNone/>
            </a:pPr>
            <a:r>
              <a:rPr lang="en-US" sz="1600" dirty="0">
                <a:solidFill>
                  <a:srgbClr val="1C2834"/>
                </a:solidFill>
                <a:latin typeface="Calibri" pitchFamily="34" charset="0"/>
                <a:ea typeface="Calibri" pitchFamily="34" charset="-122"/>
                <a:cs typeface="Calibri" pitchFamily="34" charset="-120"/>
              </a:rPr>
              <a:t>Time deposits</a:t>
            </a:r>
            <a:endParaRPr lang="en-US" sz="1600" dirty="0"/>
          </a:p>
        </p:txBody>
      </p:sp>
      <p:sp>
        <p:nvSpPr>
          <p:cNvPr id="19" name="Text 17"/>
          <p:cNvSpPr/>
          <p:nvPr/>
        </p:nvSpPr>
        <p:spPr>
          <a:xfrm>
            <a:off x="5029200" y="3749040"/>
            <a:ext cx="3657600" cy="365760"/>
          </a:xfrm>
          <a:prstGeom prst="rect">
            <a:avLst/>
          </a:prstGeom>
          <a:noFill/>
          <a:ln/>
        </p:spPr>
        <p:txBody>
          <a:bodyPr wrap="square" lIns="0" tIns="0" rIns="0" bIns="0" rtlCol="0" anchor="ctr"/>
          <a:lstStyle/>
          <a:p>
            <a:pPr indent="0" marL="0">
              <a:buNone/>
            </a:pPr>
            <a:r>
              <a:rPr lang="en-US" sz="1600" dirty="0">
                <a:solidFill>
                  <a:srgbClr val="0B1F33"/>
                </a:solidFill>
                <a:latin typeface="Georgia" pitchFamily="34" charset="0"/>
                <a:ea typeface="Georgia" pitchFamily="34" charset="-122"/>
                <a:cs typeface="Georgia" pitchFamily="34" charset="-120"/>
              </a:rPr>
              <a:t>Rs 22.76 lakh cr</a:t>
            </a:r>
            <a:endParaRPr lang="en-US" sz="1600" dirty="0"/>
          </a:p>
        </p:txBody>
      </p:sp>
      <p:sp>
        <p:nvSpPr>
          <p:cNvPr id="20" name="Text 18"/>
          <p:cNvSpPr/>
          <p:nvPr/>
        </p:nvSpPr>
        <p:spPr>
          <a:xfrm>
            <a:off x="8778240" y="3749040"/>
            <a:ext cx="2743200" cy="365760"/>
          </a:xfrm>
          <a:prstGeom prst="rect">
            <a:avLst/>
          </a:prstGeom>
          <a:noFill/>
          <a:ln/>
        </p:spPr>
        <p:txBody>
          <a:bodyPr wrap="square" lIns="0" tIns="0" rIns="0" bIns="0" rtlCol="0" anchor="ctr"/>
          <a:lstStyle/>
          <a:p>
            <a:pPr indent="0" marL="0">
              <a:buNone/>
            </a:pPr>
            <a:r>
              <a:rPr lang="en-US" sz="1600" dirty="0">
                <a:solidFill>
                  <a:srgbClr val="0E7C7B"/>
                </a:solidFill>
                <a:latin typeface="Calibri" pitchFamily="34" charset="0"/>
                <a:ea typeface="Calibri" pitchFamily="34" charset="-122"/>
                <a:cs typeface="Calibri" pitchFamily="34" charset="-120"/>
              </a:rPr>
              <a:t>+22.8% YoY</a:t>
            </a:r>
            <a:endParaRPr lang="en-US" sz="1600" dirty="0"/>
          </a:p>
        </p:txBody>
      </p:sp>
      <p:sp>
        <p:nvSpPr>
          <p:cNvPr id="21" name="Shape 19"/>
          <p:cNvSpPr/>
          <p:nvPr/>
        </p:nvSpPr>
        <p:spPr>
          <a:xfrm>
            <a:off x="411480" y="4389120"/>
            <a:ext cx="11338560" cy="731520"/>
          </a:xfrm>
          <a:prstGeom prst="rect">
            <a:avLst/>
          </a:prstGeom>
          <a:solidFill>
            <a:srgbClr val="FFFFFF"/>
          </a:solidFill>
          <a:ln/>
        </p:spPr>
      </p:sp>
      <p:sp>
        <p:nvSpPr>
          <p:cNvPr id="22" name="Text 20"/>
          <p:cNvSpPr/>
          <p:nvPr/>
        </p:nvSpPr>
        <p:spPr>
          <a:xfrm>
            <a:off x="594360" y="4572000"/>
            <a:ext cx="4389120" cy="365760"/>
          </a:xfrm>
          <a:prstGeom prst="rect">
            <a:avLst/>
          </a:prstGeom>
          <a:noFill/>
          <a:ln/>
        </p:spPr>
        <p:txBody>
          <a:bodyPr wrap="square" lIns="0" tIns="0" rIns="0" bIns="0" rtlCol="0" anchor="ctr"/>
          <a:lstStyle/>
          <a:p>
            <a:pPr indent="0" marL="0">
              <a:buNone/>
            </a:pPr>
            <a:r>
              <a:rPr lang="en-US" sz="1600" dirty="0">
                <a:solidFill>
                  <a:srgbClr val="1C2834"/>
                </a:solidFill>
                <a:latin typeface="Calibri" pitchFamily="34" charset="0"/>
                <a:ea typeface="Calibri" pitchFamily="34" charset="-122"/>
                <a:cs typeface="Calibri" pitchFamily="34" charset="-120"/>
              </a:rPr>
              <a:t>CASA deposits</a:t>
            </a:r>
            <a:endParaRPr lang="en-US" sz="1600" dirty="0"/>
          </a:p>
        </p:txBody>
      </p:sp>
      <p:sp>
        <p:nvSpPr>
          <p:cNvPr id="23" name="Text 21"/>
          <p:cNvSpPr/>
          <p:nvPr/>
        </p:nvSpPr>
        <p:spPr>
          <a:xfrm>
            <a:off x="5029200" y="4572000"/>
            <a:ext cx="3657600" cy="365760"/>
          </a:xfrm>
          <a:prstGeom prst="rect">
            <a:avLst/>
          </a:prstGeom>
          <a:noFill/>
          <a:ln/>
        </p:spPr>
        <p:txBody>
          <a:bodyPr wrap="square" lIns="0" tIns="0" rIns="0" bIns="0" rtlCol="0" anchor="ctr"/>
          <a:lstStyle/>
          <a:p>
            <a:pPr indent="0" marL="0">
              <a:buNone/>
            </a:pPr>
            <a:r>
              <a:rPr lang="en-US" sz="1600" dirty="0">
                <a:solidFill>
                  <a:srgbClr val="0B1F33"/>
                </a:solidFill>
                <a:latin typeface="Georgia" pitchFamily="34" charset="0"/>
                <a:ea typeface="Georgia" pitchFamily="34" charset="-122"/>
                <a:cs typeface="Georgia" pitchFamily="34" charset="-120"/>
              </a:rPr>
              <a:t>Rs 10.52 lakh cr</a:t>
            </a:r>
            <a:endParaRPr lang="en-US" sz="1600" dirty="0"/>
          </a:p>
        </p:txBody>
      </p:sp>
      <p:sp>
        <p:nvSpPr>
          <p:cNvPr id="24" name="Text 22"/>
          <p:cNvSpPr/>
          <p:nvPr/>
        </p:nvSpPr>
        <p:spPr>
          <a:xfrm>
            <a:off x="8778240" y="4572000"/>
            <a:ext cx="2743200" cy="365760"/>
          </a:xfrm>
          <a:prstGeom prst="rect">
            <a:avLst/>
          </a:prstGeom>
          <a:noFill/>
          <a:ln/>
        </p:spPr>
        <p:txBody>
          <a:bodyPr wrap="square" lIns="0" tIns="0" rIns="0" bIns="0" rtlCol="0" anchor="ctr"/>
          <a:lstStyle/>
          <a:p>
            <a:pPr indent="0" marL="0">
              <a:buNone/>
            </a:pPr>
            <a:r>
              <a:rPr lang="en-US" sz="1600" dirty="0">
                <a:solidFill>
                  <a:srgbClr val="0E7C7B"/>
                </a:solidFill>
                <a:latin typeface="Calibri" pitchFamily="34" charset="0"/>
                <a:ea typeface="Calibri" pitchFamily="34" charset="-122"/>
                <a:cs typeface="Calibri" pitchFamily="34" charset="-120"/>
              </a:rPr>
              <a:t>+10.8% YoY</a:t>
            </a:r>
            <a:endParaRPr lang="en-US" sz="1600" dirty="0"/>
          </a:p>
        </p:txBody>
      </p:sp>
      <p:sp>
        <p:nvSpPr>
          <p:cNvPr id="25" name="Shape 23"/>
          <p:cNvSpPr/>
          <p:nvPr/>
        </p:nvSpPr>
        <p:spPr>
          <a:xfrm>
            <a:off x="411480" y="5212080"/>
            <a:ext cx="11338560" cy="731520"/>
          </a:xfrm>
          <a:prstGeom prst="rect">
            <a:avLst/>
          </a:prstGeom>
          <a:solidFill>
            <a:srgbClr val="EFEAE0"/>
          </a:solidFill>
          <a:ln/>
        </p:spPr>
      </p:sp>
      <p:sp>
        <p:nvSpPr>
          <p:cNvPr id="26" name="Text 24"/>
          <p:cNvSpPr/>
          <p:nvPr/>
        </p:nvSpPr>
        <p:spPr>
          <a:xfrm>
            <a:off x="594360" y="5394960"/>
            <a:ext cx="4389120" cy="365760"/>
          </a:xfrm>
          <a:prstGeom prst="rect">
            <a:avLst/>
          </a:prstGeom>
          <a:noFill/>
          <a:ln/>
        </p:spPr>
        <p:txBody>
          <a:bodyPr wrap="square" lIns="0" tIns="0" rIns="0" bIns="0" rtlCol="0" anchor="ctr"/>
          <a:lstStyle/>
          <a:p>
            <a:pPr indent="0" marL="0">
              <a:buNone/>
            </a:pPr>
            <a:r>
              <a:rPr lang="en-US" sz="1600" dirty="0">
                <a:solidFill>
                  <a:srgbClr val="1C2834"/>
                </a:solidFill>
                <a:latin typeface="Calibri" pitchFamily="34" charset="0"/>
                <a:ea typeface="Calibri" pitchFamily="34" charset="-122"/>
                <a:cs typeface="Calibri" pitchFamily="34" charset="-120"/>
              </a:rPr>
              <a:t>FCNR(B) mobilised</a:t>
            </a:r>
            <a:endParaRPr lang="en-US" sz="1600" dirty="0"/>
          </a:p>
        </p:txBody>
      </p:sp>
      <p:sp>
        <p:nvSpPr>
          <p:cNvPr id="27" name="Text 25"/>
          <p:cNvSpPr/>
          <p:nvPr/>
        </p:nvSpPr>
        <p:spPr>
          <a:xfrm>
            <a:off x="5029200" y="5394960"/>
            <a:ext cx="3657600" cy="365760"/>
          </a:xfrm>
          <a:prstGeom prst="rect">
            <a:avLst/>
          </a:prstGeom>
          <a:noFill/>
          <a:ln/>
        </p:spPr>
        <p:txBody>
          <a:bodyPr wrap="square" lIns="0" tIns="0" rIns="0" bIns="0" rtlCol="0" anchor="ctr"/>
          <a:lstStyle/>
          <a:p>
            <a:pPr indent="0" marL="0">
              <a:buNone/>
            </a:pPr>
            <a:r>
              <a:rPr lang="en-US" sz="1600" dirty="0">
                <a:solidFill>
                  <a:srgbClr val="0B1F33"/>
                </a:solidFill>
                <a:latin typeface="Georgia" pitchFamily="34" charset="0"/>
                <a:ea typeface="Georgia" pitchFamily="34" charset="-122"/>
                <a:cs typeface="Georgia" pitchFamily="34" charset="-120"/>
              </a:rPr>
              <a:t>$11.5 billion</a:t>
            </a:r>
            <a:endParaRPr lang="en-US" sz="1600" dirty="0"/>
          </a:p>
        </p:txBody>
      </p:sp>
      <p:sp>
        <p:nvSpPr>
          <p:cNvPr id="28" name="Text 26"/>
          <p:cNvSpPr/>
          <p:nvPr/>
        </p:nvSpPr>
        <p:spPr>
          <a:xfrm>
            <a:off x="8778240" y="5394960"/>
            <a:ext cx="2743200" cy="365760"/>
          </a:xfrm>
          <a:prstGeom prst="rect">
            <a:avLst/>
          </a:prstGeom>
          <a:noFill/>
          <a:ln/>
        </p:spPr>
        <p:txBody>
          <a:bodyPr wrap="square" lIns="0" tIns="0" rIns="0" bIns="0" rtlCol="0" anchor="ctr"/>
          <a:lstStyle/>
          <a:p>
            <a:pPr indent="0" marL="0">
              <a:buNone/>
            </a:pPr>
            <a:r>
              <a:rPr lang="en-US" sz="1600" dirty="0">
                <a:solidFill>
                  <a:srgbClr val="0E7C7B"/>
                </a:solidFill>
                <a:latin typeface="Calibri" pitchFamily="34" charset="0"/>
                <a:ea typeface="Calibri" pitchFamily="34" charset="-122"/>
                <a:cs typeface="Calibri" pitchFamily="34" charset="-120"/>
              </a:rPr>
              <a:t>RBI swap window, from June</a:t>
            </a:r>
            <a:endParaRPr lang="en-US" sz="1600" dirty="0"/>
          </a:p>
        </p:txBody>
      </p:sp>
      <p:sp>
        <p:nvSpPr>
          <p:cNvPr id="29" name="Shape 27"/>
          <p:cNvSpPr/>
          <p:nvPr/>
        </p:nvSpPr>
        <p:spPr>
          <a:xfrm>
            <a:off x="0" y="6565392"/>
            <a:ext cx="12191695" cy="292608"/>
          </a:xfrm>
          <a:prstGeom prst="rect">
            <a:avLst/>
          </a:prstGeom>
          <a:solidFill>
            <a:srgbClr val="0B1F33"/>
          </a:solidFill>
          <a:ln/>
        </p:spPr>
      </p:sp>
      <p:sp>
        <p:nvSpPr>
          <p:cNvPr id="30" name="Text 28"/>
          <p:cNvSpPr/>
          <p:nvPr/>
        </p:nvSpPr>
        <p:spPr>
          <a:xfrm>
            <a:off x="320040" y="6583680"/>
            <a:ext cx="11521440" cy="237744"/>
          </a:xfrm>
          <a:prstGeom prst="rect">
            <a:avLst/>
          </a:prstGeom>
          <a:noFill/>
          <a:ln/>
        </p:spPr>
        <p:txBody>
          <a:bodyPr wrap="square" lIns="0" tIns="0" rIns="0" bIns="0" rtlCol="0" anchor="ctr"/>
          <a:lstStyle/>
          <a:p>
            <a:pPr indent="0" marL="0">
              <a:buNone/>
            </a:pPr>
            <a:r>
              <a:rPr lang="en-US" sz="1000" dirty="0">
                <a:solidFill>
                  <a:srgbClr val="E8E2D6"/>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Text 1"/>
          <p:cNvSpPr/>
          <p:nvPr/>
        </p:nvSpPr>
        <p:spPr>
          <a:xfrm>
            <a:off x="411480" y="256032"/>
            <a:ext cx="1097280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TREASURY READING</a:t>
            </a:r>
            <a:endParaRPr lang="en-US" sz="1200" dirty="0"/>
          </a:p>
        </p:txBody>
      </p:sp>
      <p:sp>
        <p:nvSpPr>
          <p:cNvPr id="4" name="Text 2"/>
          <p:cNvSpPr/>
          <p:nvPr/>
        </p:nvSpPr>
        <p:spPr>
          <a:xfrm>
            <a:off x="411480" y="530352"/>
            <a:ext cx="10972800" cy="384048"/>
          </a:xfrm>
          <a:prstGeom prst="rect">
            <a:avLst/>
          </a:prstGeom>
          <a:noFill/>
          <a:ln/>
        </p:spPr>
        <p:txBody>
          <a:bodyPr wrap="square" lIns="0" tIns="0" rIns="0" bIns="0" rtlCol="0" anchor="ctr"/>
          <a:lstStyle/>
          <a:p>
            <a:pPr indent="0" marL="0">
              <a:buNone/>
            </a:pPr>
            <a:r>
              <a:rPr lang="en-US" sz="2600" dirty="0">
                <a:solidFill>
                  <a:srgbClr val="0B1F33"/>
                </a:solidFill>
                <a:latin typeface="Georgia" pitchFamily="34" charset="0"/>
                <a:ea typeface="Georgia" pitchFamily="34" charset="-122"/>
                <a:cs typeface="Georgia" pitchFamily="34" charset="-120"/>
              </a:rPr>
              <a:t>The liability mix is the story inside the growth</a:t>
            </a:r>
            <a:endParaRPr lang="en-US" sz="2600" dirty="0"/>
          </a:p>
        </p:txBody>
      </p:sp>
      <p:sp>
        <p:nvSpPr>
          <p:cNvPr id="5" name="Shape 3"/>
          <p:cNvSpPr/>
          <p:nvPr/>
        </p:nvSpPr>
        <p:spPr>
          <a:xfrm>
            <a:off x="411480" y="1143000"/>
            <a:ext cx="11338560" cy="1554480"/>
          </a:xfrm>
          <a:prstGeom prst="roundRect">
            <a:avLst>
              <a:gd name="adj" fmla="val 3529"/>
            </a:avLst>
          </a:prstGeom>
          <a:solidFill>
            <a:srgbClr val="FFFFFF"/>
          </a:solidFill>
          <a:ln/>
        </p:spPr>
      </p:sp>
      <p:sp>
        <p:nvSpPr>
          <p:cNvPr id="6" name="Text 4"/>
          <p:cNvSpPr/>
          <p:nvPr/>
        </p:nvSpPr>
        <p:spPr>
          <a:xfrm>
            <a:off x="640080" y="1307592"/>
            <a:ext cx="10789920" cy="347472"/>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Time deposits did the heavy lifting</a:t>
            </a:r>
            <a:endParaRPr lang="en-US" sz="1600" dirty="0"/>
          </a:p>
        </p:txBody>
      </p:sp>
      <p:sp>
        <p:nvSpPr>
          <p:cNvPr id="7" name="Text 5"/>
          <p:cNvSpPr/>
          <p:nvPr/>
        </p:nvSpPr>
        <p:spPr>
          <a:xfrm>
            <a:off x="640080" y="1737360"/>
            <a:ext cx="10789920" cy="7772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Period-end time deposits rose 22.8 percent to Rs 22.76 lakh crore. CASA rose 10.8 percent to Rs 10.52 lakh crore. Average deposits were up 16.8 percent to Rs 31.67 lakh crore.</a:t>
            </a:r>
            <a:endParaRPr lang="en-US" sz="1500" dirty="0"/>
          </a:p>
        </p:txBody>
      </p:sp>
      <p:sp>
        <p:nvSpPr>
          <p:cNvPr id="8" name="Shape 6"/>
          <p:cNvSpPr/>
          <p:nvPr/>
        </p:nvSpPr>
        <p:spPr>
          <a:xfrm>
            <a:off x="411480" y="2834640"/>
            <a:ext cx="11338560" cy="1554480"/>
          </a:xfrm>
          <a:prstGeom prst="roundRect">
            <a:avLst>
              <a:gd name="adj" fmla="val 3529"/>
            </a:avLst>
          </a:prstGeom>
          <a:solidFill>
            <a:srgbClr val="FFFFFF"/>
          </a:solidFill>
          <a:ln/>
        </p:spPr>
      </p:sp>
      <p:sp>
        <p:nvSpPr>
          <p:cNvPr id="9" name="Text 7"/>
          <p:cNvSpPr/>
          <p:nvPr/>
        </p:nvSpPr>
        <p:spPr>
          <a:xfrm>
            <a:off x="640080" y="2999232"/>
            <a:ext cx="10789920" cy="347472"/>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Foreign currency is a tool, not a trophy</a:t>
            </a:r>
            <a:endParaRPr lang="en-US" sz="1600" dirty="0"/>
          </a:p>
        </p:txBody>
      </p:sp>
      <p:sp>
        <p:nvSpPr>
          <p:cNvPr id="10" name="Text 8"/>
          <p:cNvSpPr/>
          <p:nvPr/>
        </p:nvSpPr>
        <p:spPr>
          <a:xfrm>
            <a:off x="640080" y="3429000"/>
            <a:ext cx="10789920" cy="7772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HDFC Bank mobilised $11.5 billion under the RBI FCNR(B) swap facility introduced in June. Overseas branches lent $5.7 billion against those deposits and issued $3.1 billion of standby letters of credit.</a:t>
            </a:r>
            <a:endParaRPr lang="en-US" sz="1500" dirty="0"/>
          </a:p>
        </p:txBody>
      </p:sp>
      <p:sp>
        <p:nvSpPr>
          <p:cNvPr id="11" name="Shape 9"/>
          <p:cNvSpPr/>
          <p:nvPr/>
        </p:nvSpPr>
        <p:spPr>
          <a:xfrm>
            <a:off x="411480" y="4526280"/>
            <a:ext cx="11338560" cy="1554480"/>
          </a:xfrm>
          <a:prstGeom prst="roundRect">
            <a:avLst>
              <a:gd name="adj" fmla="val 3529"/>
            </a:avLst>
          </a:prstGeom>
          <a:solidFill>
            <a:srgbClr val="FFFFFF"/>
          </a:solidFill>
          <a:ln/>
        </p:spPr>
      </p:sp>
      <p:sp>
        <p:nvSpPr>
          <p:cNvPr id="12" name="Text 10"/>
          <p:cNvSpPr/>
          <p:nvPr/>
        </p:nvSpPr>
        <p:spPr>
          <a:xfrm>
            <a:off x="640080" y="4690872"/>
            <a:ext cx="10789920" cy="347472"/>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Wholesale dollars are still open</a:t>
            </a:r>
            <a:endParaRPr lang="en-US" sz="1600" dirty="0"/>
          </a:p>
        </p:txBody>
      </p:sp>
      <p:sp>
        <p:nvSpPr>
          <p:cNvPr id="13" name="Text 11"/>
          <p:cNvSpPr/>
          <p:nvPr/>
        </p:nvSpPr>
        <p:spPr>
          <a:xfrm>
            <a:off x="640080" y="5120640"/>
            <a:ext cx="10789920" cy="7772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Between June and August the bank raised $2.5 billion via US-dollar senior unsecured bonds. Funding diversification is real. So is the rollover diary.</a:t>
            </a:r>
            <a:endParaRPr lang="en-US" sz="1500" dirty="0"/>
          </a:p>
        </p:txBody>
      </p:sp>
      <p:sp>
        <p:nvSpPr>
          <p:cNvPr id="14" name="Shape 12"/>
          <p:cNvSpPr/>
          <p:nvPr/>
        </p:nvSpPr>
        <p:spPr>
          <a:xfrm>
            <a:off x="0" y="6565392"/>
            <a:ext cx="12191695" cy="292608"/>
          </a:xfrm>
          <a:prstGeom prst="rect">
            <a:avLst/>
          </a:prstGeom>
          <a:solidFill>
            <a:srgbClr val="0B1F33"/>
          </a:solidFill>
          <a:ln/>
        </p:spPr>
      </p:sp>
      <p:sp>
        <p:nvSpPr>
          <p:cNvPr id="15" name="Text 13"/>
          <p:cNvSpPr/>
          <p:nvPr/>
        </p:nvSpPr>
        <p:spPr>
          <a:xfrm>
            <a:off x="320040" y="6583680"/>
            <a:ext cx="11521440" cy="237744"/>
          </a:xfrm>
          <a:prstGeom prst="rect">
            <a:avLst/>
          </a:prstGeom>
          <a:noFill/>
          <a:ln/>
        </p:spPr>
        <p:txBody>
          <a:bodyPr wrap="square" lIns="0" tIns="0" rIns="0" bIns="0" rtlCol="0" anchor="ctr"/>
          <a:lstStyle/>
          <a:p>
            <a:pPr indent="0" marL="0">
              <a:buNone/>
            </a:pPr>
            <a:r>
              <a:rPr lang="en-US" sz="1000" dirty="0">
                <a:solidFill>
                  <a:srgbClr val="E8E2D6"/>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Text 1"/>
          <p:cNvSpPr/>
          <p:nvPr/>
        </p:nvSpPr>
        <p:spPr>
          <a:xfrm>
            <a:off x="411480" y="256032"/>
            <a:ext cx="1097280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CLASSROOM DRILL</a:t>
            </a:r>
            <a:endParaRPr lang="en-US" sz="1200" dirty="0"/>
          </a:p>
        </p:txBody>
      </p:sp>
      <p:sp>
        <p:nvSpPr>
          <p:cNvPr id="4" name="Text 2"/>
          <p:cNvSpPr/>
          <p:nvPr/>
        </p:nvSpPr>
        <p:spPr>
          <a:xfrm>
            <a:off x="411480" y="530352"/>
            <a:ext cx="10972800" cy="384048"/>
          </a:xfrm>
          <a:prstGeom prst="rect">
            <a:avLst/>
          </a:prstGeom>
          <a:noFill/>
          <a:ln/>
        </p:spPr>
        <p:txBody>
          <a:bodyPr wrap="square" lIns="0" tIns="0" rIns="0" bIns="0" rtlCol="0" anchor="ctr"/>
          <a:lstStyle/>
          <a:p>
            <a:pPr indent="0" marL="0">
              <a:buNone/>
            </a:pPr>
            <a:r>
              <a:rPr lang="en-US" sz="2600" dirty="0">
                <a:solidFill>
                  <a:srgbClr val="0B1F33"/>
                </a:solidFill>
                <a:latin typeface="Georgia" pitchFamily="34" charset="0"/>
                <a:ea typeface="Georgia" pitchFamily="34" charset="-122"/>
                <a:cs typeface="Georgia" pitchFamily="34" charset="-120"/>
              </a:rPr>
              <a:t>Four numbers before you trust a model</a:t>
            </a:r>
            <a:endParaRPr lang="en-US" sz="2600" dirty="0"/>
          </a:p>
        </p:txBody>
      </p:sp>
      <p:sp>
        <p:nvSpPr>
          <p:cNvPr id="5" name="Shape 3"/>
          <p:cNvSpPr/>
          <p:nvPr/>
        </p:nvSpPr>
        <p:spPr>
          <a:xfrm>
            <a:off x="411480" y="1143000"/>
            <a:ext cx="11338560" cy="1143000"/>
          </a:xfrm>
          <a:prstGeom prst="roundRect">
            <a:avLst>
              <a:gd name="adj" fmla="val 4800"/>
            </a:avLst>
          </a:prstGeom>
          <a:solidFill>
            <a:srgbClr val="FFFFFF"/>
          </a:solidFill>
          <a:ln/>
        </p:spPr>
      </p:sp>
      <p:sp>
        <p:nvSpPr>
          <p:cNvPr id="6" name="Text 4"/>
          <p:cNvSpPr/>
          <p:nvPr/>
        </p:nvSpPr>
        <p:spPr>
          <a:xfrm>
            <a:off x="640080" y="1463040"/>
            <a:ext cx="2926080" cy="502920"/>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Interest coverage</a:t>
            </a:r>
            <a:endParaRPr lang="en-US" sz="1600" dirty="0"/>
          </a:p>
        </p:txBody>
      </p:sp>
      <p:sp>
        <p:nvSpPr>
          <p:cNvPr id="7" name="Text 5"/>
          <p:cNvSpPr/>
          <p:nvPr/>
        </p:nvSpPr>
        <p:spPr>
          <a:xfrm>
            <a:off x="3657600" y="1344168"/>
            <a:ext cx="7772400" cy="7772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EBIT divided by interest. Recompute at plus 25 and plus 50 basis points. Crisil's median drop is small. Yours may not be.</a:t>
            </a:r>
            <a:endParaRPr lang="en-US" sz="1500" dirty="0"/>
          </a:p>
        </p:txBody>
      </p:sp>
      <p:sp>
        <p:nvSpPr>
          <p:cNvPr id="8" name="Shape 6"/>
          <p:cNvSpPr/>
          <p:nvPr/>
        </p:nvSpPr>
        <p:spPr>
          <a:xfrm>
            <a:off x="411480" y="2423160"/>
            <a:ext cx="11338560" cy="1143000"/>
          </a:xfrm>
          <a:prstGeom prst="roundRect">
            <a:avLst>
              <a:gd name="adj" fmla="val 4800"/>
            </a:avLst>
          </a:prstGeom>
          <a:solidFill>
            <a:srgbClr val="FFFFFF"/>
          </a:solidFill>
          <a:ln/>
        </p:spPr>
      </p:sp>
      <p:sp>
        <p:nvSpPr>
          <p:cNvPr id="9" name="Text 7"/>
          <p:cNvSpPr/>
          <p:nvPr/>
        </p:nvSpPr>
        <p:spPr>
          <a:xfrm>
            <a:off x="640080" y="2743200"/>
            <a:ext cx="2926080" cy="502920"/>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Gearing</a:t>
            </a:r>
            <a:endParaRPr lang="en-US" sz="1600" dirty="0"/>
          </a:p>
        </p:txBody>
      </p:sp>
      <p:sp>
        <p:nvSpPr>
          <p:cNvPr id="10" name="Text 8"/>
          <p:cNvSpPr/>
          <p:nvPr/>
        </p:nvSpPr>
        <p:spPr>
          <a:xfrm>
            <a:off x="3657600" y="2624328"/>
            <a:ext cx="7772400" cy="7772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Debt over equity. 0.5 is the rated median, not a target. Map the covenant, not just the ratio.</a:t>
            </a:r>
            <a:endParaRPr lang="en-US" sz="1500" dirty="0"/>
          </a:p>
        </p:txBody>
      </p:sp>
      <p:sp>
        <p:nvSpPr>
          <p:cNvPr id="11" name="Shape 9"/>
          <p:cNvSpPr/>
          <p:nvPr/>
        </p:nvSpPr>
        <p:spPr>
          <a:xfrm>
            <a:off x="411480" y="3703320"/>
            <a:ext cx="11338560" cy="1143000"/>
          </a:xfrm>
          <a:prstGeom prst="roundRect">
            <a:avLst>
              <a:gd name="adj" fmla="val 4800"/>
            </a:avLst>
          </a:prstGeom>
          <a:solidFill>
            <a:srgbClr val="FFFFFF"/>
          </a:solidFill>
          <a:ln/>
        </p:spPr>
      </p:sp>
      <p:sp>
        <p:nvSpPr>
          <p:cNvPr id="12" name="Text 10"/>
          <p:cNvSpPr/>
          <p:nvPr/>
        </p:nvSpPr>
        <p:spPr>
          <a:xfrm>
            <a:off x="640080" y="4023360"/>
            <a:ext cx="2926080" cy="502920"/>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Liability mix</a:t>
            </a:r>
            <a:endParaRPr lang="en-US" sz="1600" dirty="0"/>
          </a:p>
        </p:txBody>
      </p:sp>
      <p:sp>
        <p:nvSpPr>
          <p:cNvPr id="13" name="Text 11"/>
          <p:cNvSpPr/>
          <p:nvPr/>
        </p:nvSpPr>
        <p:spPr>
          <a:xfrm>
            <a:off x="3657600" y="3904488"/>
            <a:ext cx="7772400" cy="7772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CASA versus time deposits versus foreign currency. CASA grew 10.8 percent; time deposits 22.8 percent.</a:t>
            </a:r>
            <a:endParaRPr lang="en-US" sz="1500" dirty="0"/>
          </a:p>
        </p:txBody>
      </p:sp>
      <p:sp>
        <p:nvSpPr>
          <p:cNvPr id="14" name="Shape 12"/>
          <p:cNvSpPr/>
          <p:nvPr/>
        </p:nvSpPr>
        <p:spPr>
          <a:xfrm>
            <a:off x="411480" y="4983480"/>
            <a:ext cx="11338560" cy="1143000"/>
          </a:xfrm>
          <a:prstGeom prst="roundRect">
            <a:avLst>
              <a:gd name="adj" fmla="val 4800"/>
            </a:avLst>
          </a:prstGeom>
          <a:solidFill>
            <a:srgbClr val="FFFFFF"/>
          </a:solidFill>
          <a:ln/>
        </p:spPr>
      </p:sp>
      <p:sp>
        <p:nvSpPr>
          <p:cNvPr id="15" name="Text 13"/>
          <p:cNvSpPr/>
          <p:nvPr/>
        </p:nvSpPr>
        <p:spPr>
          <a:xfrm>
            <a:off x="640080" y="5303520"/>
            <a:ext cx="2926080" cy="502920"/>
          </a:xfrm>
          <a:prstGeom prst="rect">
            <a:avLst/>
          </a:prstGeom>
          <a:noFill/>
          <a:ln/>
        </p:spPr>
        <p:txBody>
          <a:bodyPr wrap="square" lIns="0" tIns="0" rIns="0" bIns="0" rtlCol="0" anchor="ctr"/>
          <a:lstStyle/>
          <a:p>
            <a:pPr indent="0" marL="0">
              <a:buNone/>
            </a:pPr>
            <a:r>
              <a:rPr lang="en-US" sz="1600" dirty="0">
                <a:solidFill>
                  <a:srgbClr val="0E7C7B"/>
                </a:solidFill>
                <a:latin typeface="Georgia" pitchFamily="34" charset="0"/>
                <a:ea typeface="Georgia" pitchFamily="34" charset="-122"/>
                <a:cs typeface="Georgia" pitchFamily="34" charset="-120"/>
              </a:rPr>
              <a:t>Commodity beta</a:t>
            </a:r>
            <a:endParaRPr lang="en-US" sz="1600" dirty="0"/>
          </a:p>
        </p:txBody>
      </p:sp>
      <p:sp>
        <p:nvSpPr>
          <p:cNvPr id="16" name="Text 14"/>
          <p:cNvSpPr/>
          <p:nvPr/>
        </p:nvSpPr>
        <p:spPr>
          <a:xfrm>
            <a:off x="3657600" y="5184648"/>
            <a:ext cx="7772400" cy="77724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What does a move in crude do to gross margin and working capital? West Asia is the scenario, not the footnote.</a:t>
            </a:r>
            <a:endParaRPr lang="en-US" sz="1500" dirty="0"/>
          </a:p>
        </p:txBody>
      </p:sp>
      <p:sp>
        <p:nvSpPr>
          <p:cNvPr id="17" name="Shape 15"/>
          <p:cNvSpPr/>
          <p:nvPr/>
        </p:nvSpPr>
        <p:spPr>
          <a:xfrm>
            <a:off x="0" y="6565392"/>
            <a:ext cx="12191695" cy="292608"/>
          </a:xfrm>
          <a:prstGeom prst="rect">
            <a:avLst/>
          </a:prstGeom>
          <a:solidFill>
            <a:srgbClr val="0B1F33"/>
          </a:solidFill>
          <a:ln/>
        </p:spPr>
      </p:sp>
      <p:sp>
        <p:nvSpPr>
          <p:cNvPr id="18" name="Text 16"/>
          <p:cNvSpPr/>
          <p:nvPr/>
        </p:nvSpPr>
        <p:spPr>
          <a:xfrm>
            <a:off x="320040" y="6583680"/>
            <a:ext cx="11521440" cy="237744"/>
          </a:xfrm>
          <a:prstGeom prst="rect">
            <a:avLst/>
          </a:prstGeom>
          <a:noFill/>
          <a:ln/>
        </p:spPr>
        <p:txBody>
          <a:bodyPr wrap="square" lIns="0" tIns="0" rIns="0" bIns="0" rtlCol="0" anchor="ctr"/>
          <a:lstStyle/>
          <a:p>
            <a:pPr indent="0" marL="0">
              <a:buNone/>
            </a:pPr>
            <a:r>
              <a:rPr lang="en-US" sz="1000" dirty="0">
                <a:solidFill>
                  <a:srgbClr val="E8E2D6"/>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p:spPr>
      </p:sp>
      <p:sp>
        <p:nvSpPr>
          <p:cNvPr id="3" name="Text 1"/>
          <p:cNvSpPr/>
          <p:nvPr/>
        </p:nvSpPr>
        <p:spPr>
          <a:xfrm>
            <a:off x="502920" y="457200"/>
            <a:ext cx="9144000" cy="274320"/>
          </a:xfrm>
          <a:prstGeom prst="rect">
            <a:avLst/>
          </a:prstGeom>
          <a:noFill/>
          <a:ln/>
        </p:spPr>
        <p:txBody>
          <a:bodyPr wrap="square" lIns="0" tIns="0" rIns="0" bIns="0" rtlCol="0" anchor="ctr"/>
          <a:lstStyle/>
          <a:p>
            <a:pPr indent="0" marL="0">
              <a:buNone/>
            </a:pPr>
            <a:r>
              <a:rPr lang="en-US" sz="1300" b="1" dirty="0">
                <a:solidFill>
                  <a:srgbClr val="C4A35A"/>
                </a:solidFill>
                <a:latin typeface="Calibri" pitchFamily="34" charset="0"/>
                <a:ea typeface="Calibri" pitchFamily="34" charset="-122"/>
                <a:cs typeface="Calibri" pitchFamily="34" charset="-120"/>
              </a:rPr>
              <a:t>THE DECISION RULE</a:t>
            </a:r>
            <a:endParaRPr lang="en-US" sz="1300" dirty="0"/>
          </a:p>
        </p:txBody>
      </p:sp>
      <p:sp>
        <p:nvSpPr>
          <p:cNvPr id="4" name="Text 2"/>
          <p:cNvSpPr/>
          <p:nvPr/>
        </p:nvSpPr>
        <p:spPr>
          <a:xfrm>
            <a:off x="502920" y="1554480"/>
            <a:ext cx="10972800" cy="2286000"/>
          </a:xfrm>
          <a:prstGeom prst="rect">
            <a:avLst/>
          </a:prstGeom>
          <a:noFill/>
          <a:ln/>
        </p:spPr>
        <p:txBody>
          <a:bodyPr wrap="square" lIns="0" tIns="0" rIns="0" bIns="0" rtlCol="0" anchor="ctr"/>
          <a:lstStyle/>
          <a:p>
            <a:pPr indent="0" marL="0">
              <a:buNone/>
            </a:pPr>
            <a:r>
              <a:rPr lang="en-US" sz="3000" dirty="0">
                <a:solidFill>
                  <a:srgbClr val="FFFFFF"/>
                </a:solidFill>
                <a:latin typeface="Georgia" pitchFamily="34" charset="0"/>
                <a:ea typeface="Georgia" pitchFamily="34" charset="-122"/>
                <a:cs typeface="Georgia" pitchFamily="34" charset="-120"/>
              </a:rPr>
              <a:t>AI generates. Data informs.</a:t>
            </a:r>
            <a:endParaRPr lang="en-US" sz="3000" dirty="0"/>
          </a:p>
          <a:p>
            <a:pPr indent="0" marL="0">
              <a:buNone/>
            </a:pPr>
            <a:r>
              <a:rPr lang="en-US" sz="3000" dirty="0">
                <a:solidFill>
                  <a:srgbClr val="FFFFFF"/>
                </a:solidFill>
                <a:latin typeface="Georgia" pitchFamily="34" charset="0"/>
                <a:ea typeface="Georgia" pitchFamily="34" charset="-122"/>
                <a:cs typeface="Georgia" pitchFamily="34" charset="-120"/>
              </a:rPr>
              <a:t>Finance measures. Accounting verifies.</a:t>
            </a:r>
            <a:endParaRPr lang="en-US" sz="3000" dirty="0"/>
          </a:p>
          <a:p>
            <a:pPr indent="0" marL="0">
              <a:buNone/>
            </a:pPr>
            <a:r>
              <a:rPr lang="en-US" sz="3000" dirty="0">
                <a:solidFill>
                  <a:srgbClr val="FFFFFF"/>
                </a:solidFill>
                <a:latin typeface="Georgia" pitchFamily="34" charset="0"/>
                <a:ea typeface="Georgia" pitchFamily="34" charset="-122"/>
                <a:cs typeface="Georgia" pitchFamily="34" charset="-120"/>
              </a:rPr>
              <a:t>Human judgment decides.</a:t>
            </a:r>
            <a:endParaRPr lang="en-US" sz="3000" dirty="0"/>
          </a:p>
        </p:txBody>
      </p:sp>
      <p:sp>
        <p:nvSpPr>
          <p:cNvPr id="5" name="Text 3"/>
          <p:cNvSpPr/>
          <p:nvPr/>
        </p:nvSpPr>
        <p:spPr>
          <a:xfrm>
            <a:off x="502920" y="4206240"/>
            <a:ext cx="10515600" cy="822960"/>
          </a:xfrm>
          <a:prstGeom prst="rect">
            <a:avLst/>
          </a:prstGeom>
          <a:noFill/>
          <a:ln/>
        </p:spPr>
        <p:txBody>
          <a:bodyPr wrap="square" lIns="0" tIns="0" rIns="0" bIns="0" rtlCol="0" anchor="ctr"/>
          <a:lstStyle/>
          <a:p>
            <a:pPr indent="0" marL="0">
              <a:buNone/>
            </a:pPr>
            <a:r>
              <a:rPr lang="en-US" sz="1800" dirty="0">
                <a:solidFill>
                  <a:srgbClr val="D5DCE3"/>
                </a:solidFill>
                <a:latin typeface="Calibri" pitchFamily="34" charset="0"/>
                <a:ea typeface="Calibri" pitchFamily="34" charset="-122"/>
                <a:cs typeface="Calibri" pitchFamily="34" charset="-120"/>
              </a:rPr>
              <a:t>Use a model to stress the 50 basis point case. Use the ledger to check the interest line. Use a person to decide whether the hedge is worth the cost.</a:t>
            </a:r>
            <a:endParaRPr lang="en-US" sz="1800" dirty="0"/>
          </a:p>
        </p:txBody>
      </p:sp>
      <p:sp>
        <p:nvSpPr>
          <p:cNvPr id="6" name="Text 4"/>
          <p:cNvSpPr/>
          <p:nvPr/>
        </p:nvSpPr>
        <p:spPr>
          <a:xfrm>
            <a:off x="502920" y="6126480"/>
            <a:ext cx="10972800" cy="274320"/>
          </a:xfrm>
          <a:prstGeom prst="rect">
            <a:avLst/>
          </a:prstGeom>
          <a:noFill/>
          <a:ln/>
        </p:spPr>
        <p:txBody>
          <a:bodyPr wrap="square" lIns="0" tIns="0" rIns="0" bIns="0" rtlCol="0" anchor="ctr"/>
          <a:lstStyle/>
          <a:p>
            <a:pPr indent="0" marL="0">
              <a:buNone/>
            </a:pPr>
            <a:r>
              <a:rPr lang="en-US" sz="1400" dirty="0">
                <a:solidFill>
                  <a:srgbClr val="A8B4C0"/>
                </a:solidFill>
                <a:latin typeface="Calibri" pitchFamily="34" charset="0"/>
                <a:ea typeface="Calibri" pitchFamily="34" charset="-122"/>
                <a:cs typeface="Calibri" pitchFamily="34" charset="-120"/>
              </a:rPr>
              <a:t>Future CFO_DP  ·  Dr. Debasis Pahi  ·  Model Degree College, Malkangiri  ·  Ph.D., IIT Kharagpur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Text 1"/>
          <p:cNvSpPr/>
          <p:nvPr/>
        </p:nvSpPr>
        <p:spPr>
          <a:xfrm>
            <a:off x="411480" y="256032"/>
            <a:ext cx="1097280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SOURCES  ·  PUBLIC RECORD</a:t>
            </a:r>
            <a:endParaRPr lang="en-US" sz="1200" dirty="0"/>
          </a:p>
        </p:txBody>
      </p:sp>
      <p:sp>
        <p:nvSpPr>
          <p:cNvPr id="4" name="Text 2"/>
          <p:cNvSpPr/>
          <p:nvPr/>
        </p:nvSpPr>
        <p:spPr>
          <a:xfrm>
            <a:off x="411480" y="530352"/>
            <a:ext cx="10972800" cy="384048"/>
          </a:xfrm>
          <a:prstGeom prst="rect">
            <a:avLst/>
          </a:prstGeom>
          <a:noFill/>
          <a:ln/>
        </p:spPr>
        <p:txBody>
          <a:bodyPr wrap="square" lIns="0" tIns="0" rIns="0" bIns="0" rtlCol="0" anchor="ctr"/>
          <a:lstStyle/>
          <a:p>
            <a:pPr indent="0" marL="0">
              <a:buNone/>
            </a:pPr>
            <a:r>
              <a:rPr lang="en-US" sz="2600" dirty="0">
                <a:solidFill>
                  <a:srgbClr val="0B1F33"/>
                </a:solidFill>
                <a:latin typeface="Georgia" pitchFamily="34" charset="0"/>
                <a:ea typeface="Georgia" pitchFamily="34" charset="-122"/>
                <a:cs typeface="Georgia" pitchFamily="34" charset="-120"/>
              </a:rPr>
              <a:t>What was checked before this brief</a:t>
            </a:r>
            <a:endParaRPr lang="en-US" sz="2600" dirty="0"/>
          </a:p>
        </p:txBody>
      </p:sp>
      <p:sp>
        <p:nvSpPr>
          <p:cNvPr id="5" name="Text 3"/>
          <p:cNvSpPr/>
          <p:nvPr/>
        </p:nvSpPr>
        <p:spPr>
          <a:xfrm>
            <a:off x="457200" y="1188720"/>
            <a:ext cx="11247120" cy="68580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1.  Business Today, 3 October 2026 — RBI Governor: today's resilience may not imply tomorrow's immunity.</a:t>
            </a:r>
            <a:endParaRPr lang="en-US" sz="1500" dirty="0"/>
          </a:p>
        </p:txBody>
      </p:sp>
      <p:sp>
        <p:nvSpPr>
          <p:cNvPr id="6" name="Text 4"/>
          <p:cNvSpPr/>
          <p:nvPr/>
        </p:nvSpPr>
        <p:spPr>
          <a:xfrm>
            <a:off x="457200" y="1993392"/>
            <a:ext cx="11247120" cy="68580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2.  The Economic Times, 4 October 2026 — global risks: AI valuations, private credit, cyber, West Asia commodities.</a:t>
            </a:r>
            <a:endParaRPr lang="en-US" sz="1500" dirty="0"/>
          </a:p>
        </p:txBody>
      </p:sp>
      <p:sp>
        <p:nvSpPr>
          <p:cNvPr id="7" name="Text 5"/>
          <p:cNvSpPr/>
          <p:nvPr/>
        </p:nvSpPr>
        <p:spPr>
          <a:xfrm>
            <a:off x="457200" y="2798064"/>
            <a:ext cx="11247120" cy="68580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3.  The New Indian Express, 3 October 2026 — AI investment boom; a slowdown could trigger sharp repricing.</a:t>
            </a:r>
            <a:endParaRPr lang="en-US" sz="1500" dirty="0"/>
          </a:p>
        </p:txBody>
      </p:sp>
      <p:sp>
        <p:nvSpPr>
          <p:cNvPr id="8" name="Text 6"/>
          <p:cNvSpPr/>
          <p:nvPr/>
        </p:nvSpPr>
        <p:spPr>
          <a:xfrm>
            <a:off x="457200" y="3602736"/>
            <a:ext cx="11247120" cy="68580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4.  Business Today, 4 October 2026 — Crisil: India Inc can absorb a 50 bps hike; median gearing about 0.5.</a:t>
            </a:r>
            <a:endParaRPr lang="en-US" sz="1500" dirty="0"/>
          </a:p>
        </p:txBody>
      </p:sp>
      <p:sp>
        <p:nvSpPr>
          <p:cNvPr id="9" name="Text 7"/>
          <p:cNvSpPr/>
          <p:nvPr/>
        </p:nvSpPr>
        <p:spPr>
          <a:xfrm>
            <a:off x="457200" y="4407408"/>
            <a:ext cx="11247120" cy="68580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5.  Financial Express, updated 5 October 2026 — HDFC Bank provisional business figures, 30 September 2026.</a:t>
            </a:r>
            <a:endParaRPr lang="en-US" sz="1500" dirty="0"/>
          </a:p>
        </p:txBody>
      </p:sp>
      <p:sp>
        <p:nvSpPr>
          <p:cNvPr id="10" name="Text 8"/>
          <p:cNvSpPr/>
          <p:nvPr/>
        </p:nvSpPr>
        <p:spPr>
          <a:xfrm>
            <a:off x="457200" y="5212080"/>
            <a:ext cx="11247120" cy="685800"/>
          </a:xfrm>
          <a:prstGeom prst="rect">
            <a:avLst/>
          </a:prstGeom>
          <a:noFill/>
          <a:ln/>
        </p:spPr>
        <p:txBody>
          <a:bodyPr wrap="square" lIns="0" tIns="0" rIns="0" bIns="0" rtlCol="0" anchor="ctr"/>
          <a:lstStyle/>
          <a:p>
            <a:pPr indent="0" marL="0">
              <a:buNone/>
            </a:pPr>
            <a:r>
              <a:rPr lang="en-US" sz="1500" dirty="0">
                <a:solidFill>
                  <a:srgbClr val="1C2834"/>
                </a:solidFill>
                <a:latin typeface="Calibri" pitchFamily="34" charset="0"/>
                <a:ea typeface="Calibri" pitchFamily="34" charset="-122"/>
                <a:cs typeface="Calibri" pitchFamily="34" charset="-120"/>
              </a:rPr>
              <a:t>6.  Business Today, 2 October 2026 — eighth straight weekly loss; 69 IPOs raised Rs 90,500 crore in the September quarter.</a:t>
            </a:r>
            <a:endParaRPr lang="en-US" sz="1500" dirty="0"/>
          </a:p>
        </p:txBody>
      </p:sp>
      <p:sp>
        <p:nvSpPr>
          <p:cNvPr id="11" name="Shape 9"/>
          <p:cNvSpPr/>
          <p:nvPr/>
        </p:nvSpPr>
        <p:spPr>
          <a:xfrm>
            <a:off x="0" y="6565392"/>
            <a:ext cx="12191695" cy="292608"/>
          </a:xfrm>
          <a:prstGeom prst="rect">
            <a:avLst/>
          </a:prstGeom>
          <a:solidFill>
            <a:srgbClr val="0B1F33"/>
          </a:solidFill>
          <a:ln/>
        </p:spPr>
      </p:sp>
      <p:sp>
        <p:nvSpPr>
          <p:cNvPr id="12" name="Text 10"/>
          <p:cNvSpPr/>
          <p:nvPr/>
        </p:nvSpPr>
        <p:spPr>
          <a:xfrm>
            <a:off x="320040" y="6583680"/>
            <a:ext cx="11521440" cy="237744"/>
          </a:xfrm>
          <a:prstGeom prst="rect">
            <a:avLst/>
          </a:prstGeom>
          <a:noFill/>
          <a:ln/>
        </p:spPr>
        <p:txBody>
          <a:bodyPr wrap="square" lIns="0" tIns="0" rIns="0" bIns="0" rtlCol="0" anchor="ctr"/>
          <a:lstStyle/>
          <a:p>
            <a:pPr indent="0" marL="0">
              <a:buNone/>
            </a:pPr>
            <a:r>
              <a:rPr lang="en-US" sz="1000" dirty="0">
                <a:solidFill>
                  <a:srgbClr val="E8E2D6"/>
                </a:solidFill>
                <a:latin typeface="Calibri" pitchFamily="34" charset="0"/>
                <a:ea typeface="Calibri" pitchFamily="34" charset="-122"/>
                <a:cs typeface="Calibri" pitchFamily="34" charset="-120"/>
              </a:rPr>
              <a:t>Future CFO_DP  |  Created and Copyright by Dr. Debasis Pahi  |  5 October 2026  |  Preparing Business Students for the AI-Powered Economy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CFO_DP Daily — 5 October 2026</dc:title>
  <dc:subject>PptxGenJS Presentation</dc:subject>
  <dc:creator>Dr. Debasis Pahi</dc:creator>
  <cp:lastModifiedBy>Dr. Debasis Pahi</cp:lastModifiedBy>
  <cp:revision>1</cp:revision>
  <dcterms:created xsi:type="dcterms:W3CDTF">2026-10-05T00:36:42Z</dcterms:created>
  <dcterms:modified xsi:type="dcterms:W3CDTF">2026-10-05T00:36:42Z</dcterms:modified>
</cp:coreProperties>
</file>