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4A35A"/>
                </a:solidFill>
                <a:latin typeface="Calibri"/>
              </a:rPr>
              <a:t>FUTURE CFO_DP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The Cash Deluge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A CFO briefing before the Reserve Bank's October meeting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2 October 2026  ·  Public facts only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Preparing Business Students for the AI-Powered Economy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Created and Copyright by Dr. Debasis Pahi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Future CFO_DP  ·  Created and Copyright by Dr. Debasis Pahi  ·  2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836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4A35A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4A35A"/>
                </a:solidFill>
                <a:latin typeface="Calibri"/>
              </a:rPr>
              <a:t>THE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133 billion dollars came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Record inflow from the Indian diaspora, Business Standard / Bloomberg, 1 October 2026.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Purpose: draw dollars, lift reserves, defend the rupee. The FCNR(B) plan.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Result overshot. Banks swapped dollars for rupees with the Reserve Bank.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September surplus liquidity: as much as ₹11 trillion (about $115 billion).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Reserves moved close to $800 billion — reported as the world's fourth largest.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Future CFO_DP  ·  Created and Copyright by Dr. Debasis Pahi  ·  2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836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4A35A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4A35A"/>
                </a:solidFill>
                <a:latin typeface="Calibri"/>
              </a:rPr>
              <a:t>THE TELL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Overnight money is cheaper than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Policy repo rate: 5.25 per cent.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Overnight rates pushed below that rate. Short-end borrowing cheaper than intended.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Credit growth accelerating. Domestic demand resilient. Inflation picking up.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Food costs and elevated oil in the hawkish case.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Citi (Chakraborty, Zaidi): unchecked cash has a credibility cost and weakens transmission.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Future CFO_DP  ·  Created and Copyright by Dr. Debasis Pahi  ·  2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836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4A35A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4A35A"/>
                </a:solidFill>
                <a:latin typeface="Calibri"/>
              </a:rPr>
              <a:t>THE DRAIN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More than ₹1 trillion already absorbed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Bond sales and other measures: more than ₹1 trillion (about $10.4 billion).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Markets expect more in the coming days.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Citi, 25 September note: steer overnight rates to repo via short-term FX swaps.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Additional option in that note: up to ₹1 trillion of bond sales.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Deutsche Bank's Kaushik Das: a CRR hike only as a last resort.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Future CFO_DP  ·  Created and Copyright by Dr. Debasis Pahi  ·  2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836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4A35A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4A35A"/>
                </a:solidFill>
                <a:latin typeface="Calibri"/>
              </a:rPr>
              <a:t>THE 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 hike is a call, not a vote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Sajjid Chinoy, JPMorgan, Bloomberg TV, 1 October: hike next week; hawkish tone.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His line to keep: no inadvertent monetary easing.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Nomura, Deutsche Bank, ANZ: first hike since early 2023, some calls brought forward from December.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Abhishek Upadhyay, ICICI Securities PD: four hikes priced over a year, versus three at end-June.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BS poll, 2 October, 12:17 a.m.: may hike 25 bp in October. A poll is not the MPC.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Future CFO_DP  ·  Created and Copyright by Dr. Debasis Pahi  ·  2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836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4A35A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4A35A"/>
                </a:solidFill>
                <a:latin typeface="Calibri"/>
              </a:rPr>
              <a:t>THE 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Bonds, the rupee, and oil have moved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10-year yield: 7.18 per cent on Thursday, nearly 20 bp higher in September, near a two-year high.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Government borrowing through March: nearly ₹8 trillion.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Rupee Thursday: 95.8987 per dollar, little changed, after RBI dollar sales.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Down more than 6 per cent year to date; among the weaker Asian currencies.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Brent rose for a third month in September. Hedge costs rose with the intervention.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Future CFO_DP  ·  Created and Copyright by Dr. Debasis Pahi  ·  2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836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4A35A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4A35A"/>
                </a:solidFill>
                <a:latin typeface="Calibri"/>
              </a:rPr>
              <a:t>THE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The trilemma is now a treasury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R. Gurumurthy, former RBI regional director: FCNR(B) brought the trilemma home.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Capital flows, the currency, and an independent rate cannot all be held at once.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Inflows arrived. The rupee is still weaker on the year. The operating rate has slipped.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His question: can liquidity be used to keep the borrowing programme orderly if rates rise?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The firm does not vote. It lives in the corner that gives 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Future CFO_DP  ·  Created and Copyright by Dr. Debasis Pahi  ·  2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836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4A35A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4A35A"/>
                </a:solidFill>
                <a:latin typeface="Calibri"/>
              </a:rPr>
              <a:t>MONDAY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Five moves before the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1. Separate the policy rate from the effective rate. Table 20 sessions of call versus repo.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2. Reprice the hedge book. List unhedged crude-linked payables and tenor.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3. Put 7.18 per cent into any term borrowing planned through March.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4. Stress Path A (today) and Path B (one, then two, 25 bp steps). Not four hikes as destiny.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5. One page for the board: where the plan assumed easy money policy is taking 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Future CFO_DP  ·  Created and Copyright by Dr. Debasis Pahi  ·  2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836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4A35A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4A35A"/>
                </a:solidFill>
                <a:latin typeface="Calibri"/>
              </a:rPr>
              <a:t>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What the books have to 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Name the contract benchmark. A sub-repo overnight print does not cut a policy-linked coupon.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Match hedge designation to the exposure that moved. A euro receipt hedge does not cover a dollar crude bill.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Restate covenant headroom at Path B, off audited numbers plus management accounts.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The 6 per cent rupee move is a reason to ask about translation. It is not your firm's number.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Finance measures. Accounting verifies. Judgment decides.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Future CFO_DP  ·  Created and Copyright by Dr. Debasis Pahi  ·  2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836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4A35A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4A35A"/>
                </a:solidFill>
                <a:latin typeface="Calibri"/>
              </a:rPr>
              <a:t>DO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Discipline for the classroom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Do not treat the BS poll as a decision.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Do not invent a CPI print, a credit-growth percentage, or a Brent settlement the report did not give.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Do not put the $133 billion on a company balance sheet. The channel is the price of money and the dollar.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Do not model Upadhyay's four hikes as a plan. He described market pricing.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Do not forecast from this desk. The sources are named. The MPC has not spoken.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Future CFO_DP  ·  Created and Copyright by Dr. Debasis Pahi  ·  2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836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4A35A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4A35A"/>
                </a:solidFill>
                <a:latin typeface="Calibri"/>
              </a:rPr>
              <a:t>EXHIBIT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Figures you may cite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$133 bn inflow  ·  repo 5.25%  ·  surplus up to ₹11 tn  ·  reserves ~$800 bn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Drained &gt; ₹1 tn  ·  Citi option up to ₹1 tn bonds  ·  CRR last resort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10-year 7.18%  ·  borrowing ~₹8 tn through March  ·  rupee 95.8987, −6% YTD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Chinoy: hike and absorb  ·  BS poll: may +25 bp  ·  pricing: four hikes vs three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Source: Business Standard / Bloomberg, 1–2 October 2026.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Future CFO_DP  ·  Created and Copyright by Dr. Debasis Pahi  ·  2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836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4A35A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4A35A"/>
                </a:solidFill>
                <a:latin typeface="Calibri"/>
              </a:rPr>
              <a:t>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600 words, Exhibit 1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Draft the one-page board note.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State Path A and Path B.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State what you will not do until the statement is public.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End with the single metric you will watch in the first hour after the decision.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A CPI figure, a Nifty level, or an unnamed company will be marked down.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Future CFO_DP  ·  Created and Copyright by Dr. Debasis Pahi  ·  2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836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4A35A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4A35A"/>
                </a:solidFill>
                <a:latin typeface="Calibri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Human judgment decides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AI generates the pack. Data informs the gap.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Finance measures the payable, the hedge, the refinancing.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Accounting verifies accrual, designation, headroom.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Judgment decides: draw, extend, or wait.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Future CFO_DP  ·  Dr. Debasis Pahi  ·  Model Degree College Malkangiri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Future CFO_DP  ·  Created and Copyright by Dr. Debasis Pahi  ·  2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836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4A35A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4A35A"/>
                </a:solidFill>
                <a:latin typeface="Calibri"/>
              </a:rPr>
              <a:t>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0624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Full briefing and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YouTube: The Cash Deluge — RBI liquidity trilemma, 2 October 2026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Case PDF and deck in the episode folder.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Site: viralgyandk-lang.github.io/future-cfo-2035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Not investment advice. Public facts. Teaching use.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AI generates. Data informs. Finance measures. Accounting verifies. Human judgment decides.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Future CFO_DP  ·  Created and Copyright by Dr. Debasis Pahi  ·  2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836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4A35A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