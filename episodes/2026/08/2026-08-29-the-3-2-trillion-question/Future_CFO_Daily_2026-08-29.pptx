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5029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CFO 2035  ·  DAILY EPISODE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109728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When Capital Costs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Code Costs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48640" y="2971800"/>
            <a:ext cx="10515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Fed Chair Kevin Warsh’s Jackson Hole warning, $250–300 billion of hyperscaler AI debt, ASC 842 incremental borrowing rates, and Meta’s multi-year loss contingency.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411480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Direction: Dr. Debasis Pahi, Ph.D. (IIT Kharagpur)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 August 2026  ·  Classroom Edition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548640" y="50292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AI generates. DATA informs. FINANCE measures. ACCOUNTING verifies. HUMAN JUDGMENT decides.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0" name="Text 8"/>
          <p:cNvSpPr/>
          <p:nvPr/>
        </p:nvSpPr>
        <p:spPr>
          <a:xfrm>
            <a:off x="228600" y="654710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When Capital Costs Meet Code Costs | 29 August 2026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10515600" y="65471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/ 14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Today’s Signature Sequence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1430000" cy="1097280"/>
          </a:xfrm>
          <a:prstGeom prst="roundRect">
            <a:avLst>
              <a:gd name="adj" fmla="val 6667"/>
            </a:avLst>
          </a:prstGeom>
          <a:solidFill>
            <a:srgbClr val="F7F3E9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737360" y="109728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HAPPENED?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737360" y="146304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Warsh at Jackson Hole; S&amp;P Global on hyperscaler issuance; Nvidia beat; Meta settlement.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94560"/>
            <a:ext cx="11430000" cy="1097280"/>
          </a:xfrm>
          <a:prstGeom prst="roundRect">
            <a:avLst>
              <a:gd name="adj" fmla="val 6667"/>
            </a:avLst>
          </a:prstGeom>
          <a:solidFill>
            <a:srgbClr val="F7F3E9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42316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1737360" y="233172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737360" y="269748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WACC, IBR, covenants, FOCF, and off-balance-sheet complexity are moving together.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429000"/>
            <a:ext cx="11430000" cy="1097280"/>
          </a:xfrm>
          <a:prstGeom prst="roundRect">
            <a:avLst>
              <a:gd name="adj" fmla="val 6667"/>
            </a:avLst>
          </a:prstGeom>
          <a:solidFill>
            <a:srgbClr val="F7F3E9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65760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1737360" y="356616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LENSES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737360" y="393192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CFO · Accountant (ASC 842 / 440 / 450) · Investor · AI.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0"/>
            <a:ext cx="11430000" cy="1097280"/>
          </a:xfrm>
          <a:prstGeom prst="roundRect">
            <a:avLst>
              <a:gd name="adj" fmla="val 6667"/>
            </a:avLst>
          </a:prstGeom>
          <a:solidFill>
            <a:srgbClr val="F7F3E9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4892040"/>
            <a:ext cx="10058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1737360" y="4800600"/>
            <a:ext cx="9692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THE CFO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737360" y="5166360"/>
            <a:ext cx="96926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three-question decision framework and a board-ready assignment.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654710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When Capital Costs Meet Code Costs | 29 August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5471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14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HAPPENED?  —  48 Hours That Reset the Discount Rate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Jackson Hole, 28 Aug 2026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Chair Kevin Warsh: recent inflation readings are “better than expected” but “do not tell me that underlying trends have meaningfully improved.” Standard: inflation must move to 2% “clearly and at sufficient speed. Otherwise, we have work to do.” PCE still above target (~3.3–3.7%). 2% target is “firm, fixed.” Markets priced ~60% chance of a September hike. 2-year yield near 4.34%; 10-year near 4.70%.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Global Ratings, 27 Aug 2026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487168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Hyperscaler CapEx projected to exceed $1.3 trillion by 2027. Six largest hyperscalers expected to post negative free operating cash flow in 2026 and 2027. Funding mix: debt, leases, JVs, SPVs, residual-value guarantees. CEO guidance: $250–300 billion hyperscaler billed issuance in 2026 ($169 billion already in 1H).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56616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 Q2 (quarter ended July)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858768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$96.22 billion; GAAP profit $59.69 billion; Data Center $89.0 billion. Q3 revenue guide $108 billion ±2%. CFO Colette Kress: supply constrained through at least January 2028; ~70% growth next year.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937760"/>
            <a:ext cx="114300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 multi-state settlement, 26 Aug 2026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5230368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 to ~$16.7 billion over 10 years to 47 states + D.C. and territories; separate Texas ~$1 billion. Product restrictions for minors. No admission of liability. Classic ASC 450 measurement and disclosure problem.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654710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When Capital Costs Meet Code Costs | 29 August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0" y="65471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14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IT MATTERS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14400"/>
            <a:ext cx="5669280" cy="2423160"/>
          </a:xfrm>
          <a:prstGeom prst="roundRect">
            <a:avLst>
              <a:gd name="adj" fmla="val 3019"/>
            </a:avLst>
          </a:prstGeom>
          <a:solidFill>
            <a:srgbClr val="F7F3E9"/>
          </a:solidFill>
          <a:ln/>
        </p:spPr>
      </p:sp>
      <p:sp>
        <p:nvSpPr>
          <p:cNvPr id="5" name="Shape 3"/>
          <p:cNvSpPr/>
          <p:nvPr/>
        </p:nvSpPr>
        <p:spPr>
          <a:xfrm>
            <a:off x="274320" y="914400"/>
            <a:ext cx="109728" cy="2423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097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Cost of capital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94360" y="16459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hawkish Fed reprices every incremental borrowing rate used under ASC 842, every WACC in a DCF, and every hurdle rate for AI data-centre IRRs.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217920" y="914400"/>
            <a:ext cx="5669280" cy="2423160"/>
          </a:xfrm>
          <a:prstGeom prst="roundRect">
            <a:avLst>
              <a:gd name="adj" fmla="val 3019"/>
            </a:avLst>
          </a:prstGeom>
          <a:solidFill>
            <a:srgbClr val="F7F3E9"/>
          </a:solidFill>
          <a:ln/>
        </p:spPr>
      </p:sp>
      <p:sp>
        <p:nvSpPr>
          <p:cNvPr id="9" name="Shape 7"/>
          <p:cNvSpPr/>
          <p:nvPr/>
        </p:nvSpPr>
        <p:spPr>
          <a:xfrm>
            <a:off x="6217920" y="914400"/>
            <a:ext cx="109728" cy="2423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0" name="Text 8"/>
          <p:cNvSpPr/>
          <p:nvPr/>
        </p:nvSpPr>
        <p:spPr>
          <a:xfrm>
            <a:off x="6537960" y="109728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Funding architecture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537960" y="164592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build-out is no longer an equity-and-FCF story. Debt, operating leases of power and shells, SPVs and residual-value guarantees now sit at the centre of credit analysis.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74320" y="3520440"/>
            <a:ext cx="5669280" cy="2423160"/>
          </a:xfrm>
          <a:prstGeom prst="roundRect">
            <a:avLst>
              <a:gd name="adj" fmla="val 3019"/>
            </a:avLst>
          </a:prstGeom>
          <a:solidFill>
            <a:srgbClr val="F7F3E9"/>
          </a:solidFill>
          <a:ln/>
        </p:spPr>
      </p:sp>
      <p:sp>
        <p:nvSpPr>
          <p:cNvPr id="13" name="Shape 11"/>
          <p:cNvSpPr/>
          <p:nvPr/>
        </p:nvSpPr>
        <p:spPr>
          <a:xfrm>
            <a:off x="274320" y="3520440"/>
            <a:ext cx="109728" cy="2423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3703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Governance of scale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94360" y="42519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FOCF through 2027 is a board choice, not an accident. The CFO must defend duration mismatch, covenant headroom and contingent payouts (Meta) in the same cycle.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6217920" y="3520440"/>
            <a:ext cx="5669280" cy="2423160"/>
          </a:xfrm>
          <a:prstGeom prst="roundRect">
            <a:avLst>
              <a:gd name="adj" fmla="val 3019"/>
            </a:avLst>
          </a:prstGeom>
          <a:solidFill>
            <a:srgbClr val="F7F3E9"/>
          </a:solidFill>
          <a:ln/>
        </p:spPr>
      </p:sp>
      <p:sp>
        <p:nvSpPr>
          <p:cNvPr id="17" name="Shape 15"/>
          <p:cNvSpPr/>
          <p:nvPr/>
        </p:nvSpPr>
        <p:spPr>
          <a:xfrm>
            <a:off x="6217920" y="3520440"/>
            <a:ext cx="109728" cy="242316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6537960" y="3703320"/>
            <a:ext cx="5120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B1F3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Student takeaway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537960" y="4251960"/>
            <a:ext cx="51206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2035 CFO does not choose between AI and accounting. She prices the option, books the lease, discloses the contingency, and still decides.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1" name="Text 19"/>
          <p:cNvSpPr/>
          <p:nvPr/>
        </p:nvSpPr>
        <p:spPr>
          <a:xfrm>
            <a:off x="228600" y="654710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When Capital Costs Meet Code Costs | 29 August 2026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0515600" y="65471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A CFO SEE?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" y="868680"/>
            <a:ext cx="11521440" cy="1207008"/>
          </a:xfrm>
          <a:prstGeom prst="roundRect">
            <a:avLst>
              <a:gd name="adj" fmla="val 4545"/>
            </a:avLst>
          </a:prstGeom>
          <a:solidFill>
            <a:srgbClr val="EEF3F6"/>
          </a:solidFill>
          <a:ln/>
        </p:spPr>
      </p:sp>
      <p:sp>
        <p:nvSpPr>
          <p:cNvPr id="5" name="Text 3"/>
          <p:cNvSpPr/>
          <p:nvPr/>
        </p:nvSpPr>
        <p:spPr>
          <a:xfrm>
            <a:off x="502920" y="100584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WACC &amp; IBR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017520" y="978408"/>
            <a:ext cx="85953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2-year yields jumped after the speech. New leases signed this quarter will lock a higher incremental borrowing rate. Existing leases remeasure only when term, index or residual guarantee changes — but the next vintage is immediately more expensive.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320040" y="2194560"/>
            <a:ext cx="11521440" cy="1207008"/>
          </a:xfrm>
          <a:prstGeom prst="roundRect">
            <a:avLst>
              <a:gd name="adj" fmla="val 4545"/>
            </a:avLst>
          </a:prstGeom>
          <a:solidFill>
            <a:srgbClr val="F7F3E9"/>
          </a:solidFill>
          <a:ln/>
        </p:spPr>
      </p:sp>
      <p:sp>
        <p:nvSpPr>
          <p:cNvPr id="8" name="Text 6"/>
          <p:cNvSpPr/>
          <p:nvPr/>
        </p:nvSpPr>
        <p:spPr>
          <a:xfrm>
            <a:off x="502920" y="233172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Liquidity &amp; FOCF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017520" y="2304288"/>
            <a:ext cx="85953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S&amp;P expects negative free operating cash flow across the six largest hyperscalers in 2026–27. That is a working-capital and refinancing problem, not just a growth story.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320040" y="3520440"/>
            <a:ext cx="11521440" cy="1207008"/>
          </a:xfrm>
          <a:prstGeom prst="roundRect">
            <a:avLst>
              <a:gd name="adj" fmla="val 4545"/>
            </a:avLst>
          </a:prstGeom>
          <a:solidFill>
            <a:srgbClr val="EEF3F6"/>
          </a:solidFill>
          <a:ln/>
        </p:spPr>
      </p:sp>
      <p:sp>
        <p:nvSpPr>
          <p:cNvPr id="11" name="Text 9"/>
          <p:cNvSpPr/>
          <p:nvPr/>
        </p:nvSpPr>
        <p:spPr>
          <a:xfrm>
            <a:off x="502920" y="365760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Covenants &amp; ratings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017520" y="3630168"/>
            <a:ext cx="85953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 liabilities already sit on the balance sheet under ASC 842. Adding $250–300bn of sector issuance plus SPVs and RVGs tests leverage definitions, interest-coverage tests and rating-agency adjustments.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320040" y="4846320"/>
            <a:ext cx="11521440" cy="1207008"/>
          </a:xfrm>
          <a:prstGeom prst="roundRect">
            <a:avLst>
              <a:gd name="adj" fmla="val 4545"/>
            </a:avLst>
          </a:prstGeom>
          <a:solidFill>
            <a:srgbClr val="F7F3E9"/>
          </a:solidFill>
          <a:ln/>
        </p:spPr>
      </p:sp>
      <p:sp>
        <p:nvSpPr>
          <p:cNvPr id="14" name="Text 12"/>
          <p:cNvSpPr/>
          <p:nvPr/>
        </p:nvSpPr>
        <p:spPr>
          <a:xfrm>
            <a:off x="502920" y="4983480"/>
            <a:ext cx="23774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Contingent cash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017520" y="4956048"/>
            <a:ext cx="8595360" cy="9875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Meta’s 10-year payout profile is a textbook multi-year loss contingency. Discounting, insurance recoveries, and “most-likely vs expected-value” estimates all hit the same cash calendar as data-centre CapEx.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654710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When Capital Costs Meet Code Costs | 29 August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0" y="65471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14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AN ACCOUNTANT SEE?  —  ASC 842 / 440 / 450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842 — Leases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365760" y="1115568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Data-centre shells, power-purchase arrangements and chip-financing leases must be assessed for whether they contain a lease (identified asset + control). IBR is entity-specific and credit-sensitive. Variable payments tied to an index remasure the liability only when the liability is otherwise remeasured. Residual-value guarantees can increase the lease liability.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21945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440 — Commitments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365760" y="2487168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Purchase commitments for GPUs, long-term power offtake, and take-or-pay capacity sit in the commitments footnote even when they fail the lease test. Undisclosed take-or-pay is a classic governance failure.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65760" y="35661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ASC 450 — Contingencies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" y="3858768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Meta: a loss is probable and reasonably estimable → accrue the best estimate (or the minimum of a range). Subsequent events and insurance recoveries are separate units of account. Product-restriction remedies are not a “free” substitute for cash; they can still create onerous-contract overlays under other literature.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" y="4937760"/>
            <a:ext cx="11430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Disclosure density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65760" y="5230368"/>
            <a:ext cx="114300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ASU 2024-03 expense disaggregation (effective for many PBEs after 15 Dec 2026) will force more granular employee-cost, depreciation and purchase-of-inventory footnotes just as lease and contingency footnotes swell.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" y="654710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When Capital Costs Meet Code Costs | 29 August 2026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0515600" y="65471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14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AN INVESTOR SEE?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320040" cy="3200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601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960120" y="896112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Duration: AI assets have long physical lives; funding is migrating to 10–30 year bonds and 15-year-and-longer IG paper. A hawkish Fed steepens the front end first.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11480" y="1965960"/>
            <a:ext cx="320040" cy="3200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41148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901952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of earnings: Nvidia’s 75% gross margin and $21bn+ quarterly FCF is not the same economic object as a hyperscaler’s negative FOCF. Do not conflate the pick-and-shovel seller with the mine owner.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411480" y="2971800"/>
            <a:ext cx="320040" cy="3200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97180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960120" y="2907792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leverage: S&amp;P highlights JVs, SPVs and residual-value guarantees. Rating-agency adjusted debt will exceed GAAP debt for several issuers.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11480" y="3977640"/>
            <a:ext cx="320040" cy="3200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4" name="Text 12"/>
          <p:cNvSpPr/>
          <p:nvPr/>
        </p:nvSpPr>
        <p:spPr>
          <a:xfrm>
            <a:off x="411480" y="397764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960120" y="3913632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Litigation optionality: Meta’s settlement removes a left-tail legal outcome but inserts a 10-year cash drain and product constraints that can slow engagement KPIs.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411480" y="4983480"/>
            <a:ext cx="320040" cy="32004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7" name="Text 15"/>
          <p:cNvSpPr/>
          <p:nvPr/>
        </p:nvSpPr>
        <p:spPr>
          <a:xfrm>
            <a:off x="411480" y="498348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4919472"/>
            <a:ext cx="107899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Refinancing wall: S&amp;P Global CFO Eric Aboaf called the period “the refinancing wars.” Trillions of legacy debt reprice into a higher-for-longer curve.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20" name="Text 18"/>
          <p:cNvSpPr/>
          <p:nvPr/>
        </p:nvSpPr>
        <p:spPr>
          <a:xfrm>
            <a:off x="228600" y="654710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When Capital Costs Meet Code Costs | 29 August 2026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10515600" y="65471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14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DOES AI CHANGE?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960120"/>
            <a:ext cx="5669280" cy="2423160"/>
          </a:xfrm>
          <a:prstGeom prst="roundRect">
            <a:avLst>
              <a:gd name="adj" fmla="val 3019"/>
            </a:avLst>
          </a:prstGeom>
          <a:solidFill>
            <a:srgbClr val="0B1F3A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SIDE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548640" y="1691640"/>
            <a:ext cx="5120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Nvidia’s data-centre revenue of $89bn in one quarter is the physical manifestation of model training and inference. Supply remains a bottleneck through at least January 2028.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217920" y="960120"/>
            <a:ext cx="5669280" cy="2423160"/>
          </a:xfrm>
          <a:prstGeom prst="roundRect">
            <a:avLst>
              <a:gd name="adj" fmla="val 3019"/>
            </a:avLst>
          </a:prstGeom>
          <a:solidFill>
            <a:srgbClr val="0B1F3A"/>
          </a:solidFill>
          <a:ln/>
        </p:spPr>
      </p:sp>
      <p:sp>
        <p:nvSpPr>
          <p:cNvPr id="8" name="Text 6"/>
          <p:cNvSpPr/>
          <p:nvPr/>
        </p:nvSpPr>
        <p:spPr>
          <a:xfrm>
            <a:off x="6492240" y="118872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FUNDING SIDE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6492240" y="1691640"/>
            <a:ext cx="5120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is an accelerant of rated issuance, not a substitute for it. Permissioned LLM access to credit data (S&amp;P: ~500 clients) changes how markets digest covenants overnight.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274320" y="3566160"/>
            <a:ext cx="5669280" cy="2423160"/>
          </a:xfrm>
          <a:prstGeom prst="roundRect">
            <a:avLst>
              <a:gd name="adj" fmla="val 3019"/>
            </a:avLst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SIDE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4297680"/>
            <a:ext cx="5120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in AP, lease abstraction, and contingency clustering can compress close cycles — but they cannot choose the discount rate or the settlement strategy.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217920" y="3566160"/>
            <a:ext cx="5669280" cy="2423160"/>
          </a:xfrm>
          <a:prstGeom prst="roundRect">
            <a:avLst>
              <a:gd name="adj" fmla="val 3019"/>
            </a:avLst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6492240" y="3794760"/>
            <a:ext cx="51206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GOVERNANCE SIDE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492240" y="4297680"/>
            <a:ext cx="512064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BaFin and the EU AI Act already assign market-surveillance duties for AI used in regulated finance. The 2035 CFO inherits model risk as a first-class control.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654710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When Capital Costs Meet Code Costs | 29 August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0" y="65471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14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SHOULD A BUSINESS STUDENT LEARN?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96012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097280" y="91440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invent a number. Every figure on this deck traces to a primary source: Fed remarks, S&amp;P research, Nvidia earnings materials, or court/state filings.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97280" y="192024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higher policy rate is not only a macro story. It is an accounting measurement input (IBR), a finance valuation input (WACC), and a governance constraint (covenants).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97180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097280" y="292608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Leases and contingencies are where strategy becomes a journal entry. If you cannot map a data-centre offtake to ASC 842 or a settlement to ASC 450, you are not yet a finance professional.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397764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097280" y="393192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FOCF can be rational. It can also be a slow-motion covenant breach. The difference is the quality of the board paper.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4983480"/>
            <a:ext cx="640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1097280" y="4937760"/>
            <a:ext cx="1060704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does not retire professional scepticism. It multiplies the speed at which an unsound assumption travels.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5" name="Text 13"/>
          <p:cNvSpPr/>
          <p:nvPr/>
        </p:nvSpPr>
        <p:spPr>
          <a:xfrm>
            <a:off x="228600" y="654710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When Capital Costs Meet Code Costs | 29 August 2026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10515600" y="65471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14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1430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THREE-QUESTION DECISION FRAMEWORK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365760" y="960120"/>
            <a:ext cx="11430000" cy="1600200"/>
          </a:xfrm>
          <a:prstGeom prst="roundRect">
            <a:avLst>
              <a:gd name="adj" fmla="val 4571"/>
            </a:avLst>
          </a:prstGeom>
          <a:solidFill>
            <a:srgbClr val="F7F3E9"/>
          </a:solidFill>
          <a:ln/>
        </p:spPr>
      </p:sp>
      <p:sp>
        <p:nvSpPr>
          <p:cNvPr id="5" name="Text 3"/>
          <p:cNvSpPr/>
          <p:nvPr/>
        </p:nvSpPr>
        <p:spPr>
          <a:xfrm>
            <a:off x="594360" y="10972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  MEASURE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94360" y="150876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the Fed funds rate is 25–50 bp higher by December, what happens to our incremental borrowing rate on new 10-year data-centre leases, and by how many millions does next year’s interest + ROU amortisation rise?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65760" y="2697480"/>
            <a:ext cx="11430000" cy="1600200"/>
          </a:xfrm>
          <a:prstGeom prst="roundRect">
            <a:avLst>
              <a:gd name="adj" fmla="val 4571"/>
            </a:avLst>
          </a:prstGeom>
          <a:solidFill>
            <a:srgbClr val="F7F3E9"/>
          </a:solidFill>
          <a:ln/>
        </p:spPr>
      </p:sp>
      <p:sp>
        <p:nvSpPr>
          <p:cNvPr id="8" name="Text 6"/>
          <p:cNvSpPr/>
          <p:nvPr/>
        </p:nvSpPr>
        <p:spPr>
          <a:xfrm>
            <a:off x="594360" y="28346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Q2  STRUCTURE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94360" y="324612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Which portion of the AI build-out should sit on our balance sheet, which in a JV/SPV, and which as an operating commitment under ASC 440 — and can we defend that split to S&amp;P and the audit committee?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65760" y="4434840"/>
            <a:ext cx="11430000" cy="1600200"/>
          </a:xfrm>
          <a:prstGeom prst="roundRect">
            <a:avLst>
              <a:gd name="adj" fmla="val 4571"/>
            </a:avLst>
          </a:prstGeom>
          <a:solidFill>
            <a:srgbClr val="F7F3E9"/>
          </a:solidFill>
          <a:ln/>
        </p:spPr>
      </p:sp>
      <p:sp>
        <p:nvSpPr>
          <p:cNvPr id="11" name="Text 9"/>
          <p:cNvSpPr/>
          <p:nvPr/>
        </p:nvSpPr>
        <p:spPr>
          <a:xfrm>
            <a:off x="594360" y="45720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 GOVERN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94360" y="4983480"/>
            <a:ext cx="10972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multi-year loss contingency of Meta’s scale landed on our books tomorrow, would we have a pre-agreed accrual policy, a discounting convention, and a communication plan that protects both credit ratings and culture?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654710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When Capital Costs Meet Code Costs | 29 August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0" y="65471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14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 ARE THE CFO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6B6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Assignment (48 hours, board pack of 6 pages)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188720"/>
            <a:ext cx="11430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are CFO of “Aether Cloud,” a BBB+ rated digital-infrastructure platform planning $8.4 billion of 2027 CapEx (GPU clusters + leased shells + 15-year power). Your Treasurer wants to pre-fund $3 billion this September before a possible hike. Your Controller wants to wait for year-end IBR evidence. Legal has just flagged a $420 million probable multi-state product claim, payable over eight years.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457200" y="242316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Recompute the IBR sensitivity (±50 bp) on a representative 12-year lease of $1.1 billion undiscounted payments. Show the ROU / liability delta.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320040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Recommend a funding mix: cash, IG bonds, lease, JV. State the rating-agency adjusted-debt consequence of each.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7200" y="397764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Draft the ASC 450 journal entry and the footnote sentence you would sign.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4754880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0B1F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Write the 150-word paragraph the CEO will read to the board. No adjectives that you cannot source.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1" name="Text 9"/>
          <p:cNvSpPr/>
          <p:nvPr/>
        </p:nvSpPr>
        <p:spPr>
          <a:xfrm>
            <a:off x="228600" y="654710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When Capital Costs Meet Code Costs | 29 August 2026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0515600" y="65471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14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1645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TEACHING QUESTIONS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1.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868680" y="8686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a rise in market yields, standing alone, require remasurement of an existing ASC 842 lease liability? Why or why not?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2.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68680" y="173736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does a power-purchase arrangement contain a lease? Identify the “identified asset” and “control” tests.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365760" y="260604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68680" y="260604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should a residual-value guarantee on GPU hardware be allocated between the lease liability and a separate residual guarantee under other GAAP?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365760" y="347472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868680" y="347472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Meta-style settlements payable over ten years, when is discounting required, and which rate is appropriate?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65760" y="434340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5.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868680" y="434340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negative FOCF at a hyperscaler evidence of value destruction or of a real-option exercise? What evidence would change your mind?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65760" y="5212080"/>
            <a:ext cx="411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68680" y="5212080"/>
            <a:ext cx="109728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C3E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AI can extract every covenant from an indenture in seconds, what remains uniquely human in the CFO’s judgment?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7" name="Text 15"/>
          <p:cNvSpPr/>
          <p:nvPr/>
        </p:nvSpPr>
        <p:spPr>
          <a:xfrm>
            <a:off x="228600" y="654710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When Capital Costs Meet Code Costs | 29 August 2026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10515600" y="65471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14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CLOSING THOUGHT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1691640"/>
            <a:ext cx="10972800" cy="2926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machines will keep asking for capital.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market will keep asking for a rate.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standard-setter will keep asking for a number.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board will keep asking for a decision.</a:t>
            </a:r>
            <a:endParaRPr lang="en-US" sz="2200" dirty="0"/>
          </a:p>
          <a:p>
            <a:pPr indent="0" marL="0">
              <a:buNone/>
            </a:pP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Only one of those four can be delegated.</a:t>
            </a:r>
            <a:endParaRPr lang="en-US" sz="2200" dirty="0"/>
          </a:p>
          <a:p>
            <a:pPr indent="0" marL="0">
              <a:buNone/>
            </a:pPr>
            <a:r>
              <a:rPr lang="en-US" sz="2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Choose carefully which one.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548640" y="4846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Dr. Debasis Pahi  ·  Future CFO 2035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7" name="Text 5"/>
          <p:cNvSpPr/>
          <p:nvPr/>
        </p:nvSpPr>
        <p:spPr>
          <a:xfrm>
            <a:off x="228600" y="654710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When Capital Costs Meet Code Costs | 29 August 2026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0515600" y="65471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14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C9A227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36576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  ·  LIKE  ·  SHARE  ·  COMMENT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Dr. Debasis Pahi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548640" y="1371600"/>
            <a:ext cx="1097280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7F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Ph.D., Indian Institute of Technology Kharagpur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Academic Direction, Future CFO 2035</a:t>
            </a:r>
            <a:endParaRPr lang="en-US" sz="1600" dirty="0"/>
          </a:p>
          <a:p>
            <a:pPr indent="0" marL="0">
              <a:buNone/>
            </a:pPr>
            <a:r>
              <a:rPr lang="en-US" sz="1600" dirty="0">
                <a:solidFill>
                  <a:srgbClr val="F7F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Corporate Governance · Capital Structure · ESG · The Future of Finance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48640" y="2514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Email:  drdebasis.research@gmail.com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48640" y="2898648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LinkedIn:  Dr. Debasis Pahi (Ph.D)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548640" y="3282696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Instagram:  @drdebasispahi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548640" y="3666744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YouTube:  https://www.youtube.com/@dpklass1990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548640" y="4050792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Scholar  ·  Scopus  —  search “Debasis Pahi”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548640" y="466344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9A227"/>
                </a:solidFill>
                <a:latin typeface="Calibri Italic" pitchFamily="34" charset="0"/>
                <a:ea typeface="Calibri Italic" pitchFamily="34" charset="-122"/>
                <a:cs typeface="Calibri Italic" pitchFamily="34" charset="-120"/>
              </a:rPr>
              <a:t>AI generates. DATA informs. FINANCE measures. ACCOUNTING verifies. HUMAN JUDGMENT decides.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0" y="6537960"/>
            <a:ext cx="12188952" cy="320040"/>
          </a:xfrm>
          <a:prstGeom prst="rect">
            <a:avLst/>
          </a:prstGeom>
          <a:solidFill>
            <a:srgbClr val="0B1F3A"/>
          </a:solidFill>
          <a:ln/>
        </p:spPr>
      </p:sp>
      <p:sp>
        <p:nvSpPr>
          <p:cNvPr id="14" name="Text 12"/>
          <p:cNvSpPr/>
          <p:nvPr/>
        </p:nvSpPr>
        <p:spPr>
          <a:xfrm>
            <a:off x="228600" y="6547104"/>
            <a:ext cx="10241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7F3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Debasis Pahi | When Capital Costs Meet Code Costs | 29 August 2026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10515600" y="6547104"/>
            <a:ext cx="1417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14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Future CFO Daily – 29 August 2026</dc:title>
  <dc:subject>Warsh, Hyperscaler Debt, ASC 842 and Contingencies</dc:subject>
  <dc:creator>Dr. Debasis Pahi</dc:creator>
  <cp:lastModifiedBy>Dr. Debasis Pahi</cp:lastModifiedBy>
  <cp:revision>1</cp:revision>
  <dcterms:created xsi:type="dcterms:W3CDTF">2026-08-29T01:25:33Z</dcterms:created>
  <dcterms:modified xsi:type="dcterms:W3CDTF">2026-08-29T01:25:33Z</dcterms:modified>
</cp:coreProperties>
</file>