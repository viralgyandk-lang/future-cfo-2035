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Shape 1"/>
          <p:cNvSpPr/>
          <p:nvPr/>
        </p:nvSpPr>
        <p:spPr>
          <a:xfrm>
            <a:off x="0" y="0"/>
            <a:ext cx="146304" cy="6858000"/>
          </a:xfrm>
          <a:prstGeom prst="rect">
            <a:avLst/>
          </a:prstGeom>
          <a:solidFill>
            <a:srgbClr val="C9A227"/>
          </a:solidFill>
          <a:ln/>
        </p:spPr>
      </p:sp>
      <p:sp>
        <p:nvSpPr>
          <p:cNvPr id="4" name="Text 2"/>
          <p:cNvSpPr/>
          <p:nvPr/>
        </p:nvSpPr>
        <p:spPr>
          <a:xfrm>
            <a:off x="502920" y="384048"/>
            <a:ext cx="10972800" cy="256032"/>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FUTURE CFO 2035  ·  DAILY BRIEFING</a:t>
            </a:r>
            <a:endParaRPr lang="en-US" sz="1300" dirty="0"/>
          </a:p>
        </p:txBody>
      </p:sp>
      <p:sp>
        <p:nvSpPr>
          <p:cNvPr id="5" name="Text 3"/>
          <p:cNvSpPr/>
          <p:nvPr/>
        </p:nvSpPr>
        <p:spPr>
          <a:xfrm>
            <a:off x="502920" y="1554480"/>
            <a:ext cx="11155680" cy="8229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The AI ROI Blind Spot</a:t>
            </a:r>
            <a:endParaRPr lang="en-US" sz="4000" dirty="0"/>
          </a:p>
        </p:txBody>
      </p:sp>
      <p:sp>
        <p:nvSpPr>
          <p:cNvPr id="6" name="Text 4"/>
          <p:cNvSpPr/>
          <p:nvPr/>
        </p:nvSpPr>
        <p:spPr>
          <a:xfrm>
            <a:off x="502920" y="2514600"/>
            <a:ext cx="10515600" cy="868680"/>
          </a:xfrm>
          <a:prstGeom prst="rect">
            <a:avLst/>
          </a:prstGeom>
          <a:noFill/>
          <a:ln/>
        </p:spPr>
        <p:txBody>
          <a:bodyPr wrap="square" rtlCol="0" anchor="ctr"/>
          <a:lstStyle/>
          <a:p>
            <a:pPr indent="0" marL="0">
              <a:buNone/>
            </a:pPr>
            <a:r>
              <a:rPr lang="en-US" sz="2000" dirty="0">
                <a:solidFill>
                  <a:srgbClr val="E8DDB8"/>
                </a:solidFill>
                <a:latin typeface="Calibri" pitchFamily="34" charset="0"/>
                <a:ea typeface="Calibri" pitchFamily="34" charset="-122"/>
                <a:cs typeface="Calibri" pitchFamily="34" charset="-120"/>
              </a:rPr>
              <a:t>77% of finance organisations now use AI.</a:t>
            </a:r>
            <a:endParaRPr lang="en-US" sz="2000" dirty="0"/>
          </a:p>
          <a:p>
            <a:pPr indent="0" marL="0">
              <a:buNone/>
            </a:pPr>
            <a:r>
              <a:rPr lang="en-US" sz="2000" dirty="0">
                <a:solidFill>
                  <a:srgbClr val="E8DDB8"/>
                </a:solidFill>
                <a:latin typeface="Calibri" pitchFamily="34" charset="0"/>
                <a:ea typeface="Calibri" pitchFamily="34" charset="-122"/>
                <a:cs typeface="Calibri" pitchFamily="34" charset="-120"/>
              </a:rPr>
              <a:t>Only 35% can measure whether it pays.</a:t>
            </a:r>
            <a:endParaRPr lang="en-US" sz="2000" dirty="0"/>
          </a:p>
        </p:txBody>
      </p:sp>
      <p:sp>
        <p:nvSpPr>
          <p:cNvPr id="7" name="Text 5"/>
          <p:cNvSpPr/>
          <p:nvPr/>
        </p:nvSpPr>
        <p:spPr>
          <a:xfrm>
            <a:off x="502920" y="3657600"/>
            <a:ext cx="10789920" cy="640080"/>
          </a:xfrm>
          <a:prstGeom prst="rect">
            <a:avLst/>
          </a:prstGeom>
          <a:noFill/>
          <a:ln/>
        </p:spPr>
        <p:txBody>
          <a:bodyPr wrap="square" rtlCol="0" anchor="ctr"/>
          <a:lstStyle/>
          <a:p>
            <a:pPr indent="0" marL="0">
              <a:buNone/>
            </a:pPr>
            <a:r>
              <a:rPr lang="en-US" sz="1400" dirty="0">
                <a:solidFill>
                  <a:srgbClr val="A8B4C4"/>
                </a:solidFill>
                <a:latin typeface="Calibri" pitchFamily="34" charset="0"/>
                <a:ea typeface="Calibri" pitchFamily="34" charset="-122"/>
                <a:cs typeface="Calibri" pitchFamily="34" charset="-120"/>
              </a:rPr>
              <a:t>Based on Protiviti’s 2026 Global Finance Trends Survey (released 26 August 2026)</a:t>
            </a:r>
            <a:endParaRPr lang="en-US" sz="1400" dirty="0"/>
          </a:p>
          <a:p>
            <a:pPr indent="0" marL="0">
              <a:buNone/>
            </a:pPr>
            <a:r>
              <a:rPr lang="en-US" sz="1400" dirty="0">
                <a:solidFill>
                  <a:srgbClr val="A8B4C4"/>
                </a:solidFill>
                <a:latin typeface="Calibri" pitchFamily="34" charset="0"/>
                <a:ea typeface="Calibri" pitchFamily="34" charset="-122"/>
                <a:cs typeface="Calibri" pitchFamily="34" charset="-120"/>
              </a:rPr>
              <a:t>and supporting evidence from Deloitte CFO Signals, Gartner, EY and BCG.</a:t>
            </a:r>
            <a:endParaRPr lang="en-US" sz="1400" dirty="0"/>
          </a:p>
        </p:txBody>
      </p:sp>
      <p:sp>
        <p:nvSpPr>
          <p:cNvPr id="8" name="Text 6"/>
          <p:cNvSpPr/>
          <p:nvPr/>
        </p:nvSpPr>
        <p:spPr>
          <a:xfrm>
            <a:off x="502920" y="5074920"/>
            <a:ext cx="9144000" cy="6400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Academic Direction  ·  Dr. Debasis Pahi, Ph.D. (IIT Kharagpur)</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31 August 2026  ·  Classroom Edition</a:t>
            </a:r>
            <a:endParaRPr lang="en-US" sz="1400" dirty="0"/>
          </a:p>
        </p:txBody>
      </p:sp>
      <p:sp>
        <p:nvSpPr>
          <p:cNvPr id="9" name="Shape 7"/>
          <p:cNvSpPr/>
          <p:nvPr/>
        </p:nvSpPr>
        <p:spPr>
          <a:xfrm>
            <a:off x="0" y="6565392"/>
            <a:ext cx="12191695" cy="292608"/>
          </a:xfrm>
          <a:prstGeom prst="rect">
            <a:avLst/>
          </a:prstGeom>
          <a:solidFill>
            <a:srgbClr val="0B1F3A"/>
          </a:solidFill>
          <a:ln/>
        </p:spPr>
      </p:sp>
      <p:sp>
        <p:nvSpPr>
          <p:cNvPr id="10" name="Text 8"/>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11" name="Text 9"/>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1 / 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32004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TODAY’S LEARNING OBJECTIVES</a:t>
            </a:r>
            <a:endParaRPr lang="en-US" sz="1200" dirty="0"/>
          </a:p>
        </p:txBody>
      </p:sp>
      <p:sp>
        <p:nvSpPr>
          <p:cNvPr id="5" name="Text 3"/>
          <p:cNvSpPr/>
          <p:nvPr/>
        </p:nvSpPr>
        <p:spPr>
          <a:xfrm>
            <a:off x="457200" y="640080"/>
            <a:ext cx="10972800" cy="365760"/>
          </a:xfrm>
          <a:prstGeom prst="rect">
            <a:avLst/>
          </a:prstGeom>
          <a:noFill/>
          <a:ln/>
        </p:spPr>
        <p:txBody>
          <a:bodyPr wrap="square"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What a Future CFO must be able to do by the end of this briefing</a:t>
            </a:r>
            <a:endParaRPr lang="en-US" sz="2200" dirty="0"/>
          </a:p>
        </p:txBody>
      </p:sp>
      <p:sp>
        <p:nvSpPr>
          <p:cNvPr id="6" name="Shape 4"/>
          <p:cNvSpPr/>
          <p:nvPr/>
        </p:nvSpPr>
        <p:spPr>
          <a:xfrm>
            <a:off x="457200" y="1188720"/>
            <a:ext cx="11247120" cy="822960"/>
          </a:xfrm>
          <a:prstGeom prst="roundRect">
            <a:avLst>
              <a:gd name="adj" fmla="val 8889"/>
            </a:avLst>
          </a:prstGeom>
          <a:solidFill>
            <a:srgbClr val="FFFFFF"/>
          </a:solidFill>
          <a:ln/>
        </p:spPr>
      </p:sp>
      <p:sp>
        <p:nvSpPr>
          <p:cNvPr id="7" name="Text 5"/>
          <p:cNvSpPr/>
          <p:nvPr/>
        </p:nvSpPr>
        <p:spPr>
          <a:xfrm>
            <a:off x="640080" y="1298448"/>
            <a:ext cx="10972800" cy="603504"/>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1   Read the Protiviti 2026 numbers without inflating them — 77%, 76%, 35%, 14%, 83%.</a:t>
            </a:r>
            <a:endParaRPr lang="en-US" sz="1600" dirty="0"/>
          </a:p>
        </p:txBody>
      </p:sp>
      <p:sp>
        <p:nvSpPr>
          <p:cNvPr id="8" name="Shape 6"/>
          <p:cNvSpPr/>
          <p:nvPr/>
        </p:nvSpPr>
        <p:spPr>
          <a:xfrm>
            <a:off x="457200" y="2121408"/>
            <a:ext cx="11247120" cy="822960"/>
          </a:xfrm>
          <a:prstGeom prst="roundRect">
            <a:avLst>
              <a:gd name="adj" fmla="val 8889"/>
            </a:avLst>
          </a:prstGeom>
          <a:solidFill>
            <a:srgbClr val="FFFFFF"/>
          </a:solidFill>
          <a:ln/>
        </p:spPr>
      </p:sp>
      <p:sp>
        <p:nvSpPr>
          <p:cNvPr id="9" name="Text 7"/>
          <p:cNvSpPr/>
          <p:nvPr/>
        </p:nvSpPr>
        <p:spPr>
          <a:xfrm>
            <a:off x="640080" y="2231136"/>
            <a:ext cx="10972800" cy="603504"/>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2   Separate adoption theatre from a governed AI strategy that a board can audit.</a:t>
            </a:r>
            <a:endParaRPr lang="en-US" sz="1600" dirty="0"/>
          </a:p>
        </p:txBody>
      </p:sp>
      <p:sp>
        <p:nvSpPr>
          <p:cNvPr id="10" name="Shape 8"/>
          <p:cNvSpPr/>
          <p:nvPr/>
        </p:nvSpPr>
        <p:spPr>
          <a:xfrm>
            <a:off x="457200" y="3054096"/>
            <a:ext cx="11247120" cy="822960"/>
          </a:xfrm>
          <a:prstGeom prst="roundRect">
            <a:avLst>
              <a:gd name="adj" fmla="val 8889"/>
            </a:avLst>
          </a:prstGeom>
          <a:solidFill>
            <a:srgbClr val="FFFFFF"/>
          </a:solidFill>
          <a:ln/>
        </p:spPr>
      </p:sp>
      <p:sp>
        <p:nvSpPr>
          <p:cNvPr id="11" name="Text 9"/>
          <p:cNvSpPr/>
          <p:nvPr/>
        </p:nvSpPr>
        <p:spPr>
          <a:xfrm>
            <a:off x="640080" y="3163824"/>
            <a:ext cx="10972800" cy="603504"/>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3   Design an ROI scorecard that finance can defend in an earnings call.</a:t>
            </a:r>
            <a:endParaRPr lang="en-US" sz="1600" dirty="0"/>
          </a:p>
        </p:txBody>
      </p:sp>
      <p:sp>
        <p:nvSpPr>
          <p:cNvPr id="12" name="Shape 10"/>
          <p:cNvSpPr/>
          <p:nvPr/>
        </p:nvSpPr>
        <p:spPr>
          <a:xfrm>
            <a:off x="457200" y="3986784"/>
            <a:ext cx="11247120" cy="822960"/>
          </a:xfrm>
          <a:prstGeom prst="roundRect">
            <a:avLst>
              <a:gd name="adj" fmla="val 8889"/>
            </a:avLst>
          </a:prstGeom>
          <a:solidFill>
            <a:srgbClr val="FFFFFF"/>
          </a:solidFill>
          <a:ln/>
        </p:spPr>
      </p:sp>
      <p:sp>
        <p:nvSpPr>
          <p:cNvPr id="13" name="Text 11"/>
          <p:cNvSpPr/>
          <p:nvPr/>
        </p:nvSpPr>
        <p:spPr>
          <a:xfrm>
            <a:off x="640080" y="4096512"/>
            <a:ext cx="10972800" cy="603504"/>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4   Link AI spend to cash discipline — 83% of CFOs now put cash in their top three.</a:t>
            </a:r>
            <a:endParaRPr lang="en-US" sz="1600" dirty="0"/>
          </a:p>
        </p:txBody>
      </p:sp>
      <p:sp>
        <p:nvSpPr>
          <p:cNvPr id="14" name="Shape 12"/>
          <p:cNvSpPr/>
          <p:nvPr/>
        </p:nvSpPr>
        <p:spPr>
          <a:xfrm>
            <a:off x="457200" y="4919472"/>
            <a:ext cx="11247120" cy="822960"/>
          </a:xfrm>
          <a:prstGeom prst="roundRect">
            <a:avLst>
              <a:gd name="adj" fmla="val 8889"/>
            </a:avLst>
          </a:prstGeom>
          <a:solidFill>
            <a:srgbClr val="FFFFFF"/>
          </a:solidFill>
          <a:ln/>
        </p:spPr>
      </p:sp>
      <p:sp>
        <p:nvSpPr>
          <p:cNvPr id="15" name="Text 13"/>
          <p:cNvSpPr/>
          <p:nvPr/>
        </p:nvSpPr>
        <p:spPr>
          <a:xfrm>
            <a:off x="640080" y="5029200"/>
            <a:ext cx="10972800" cy="603504"/>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5   Sit in the chair: decide whether to approve the next $12 million AI tranche.</a:t>
            </a:r>
            <a:endParaRPr lang="en-US" sz="1600" dirty="0"/>
          </a:p>
        </p:txBody>
      </p:sp>
      <p:sp>
        <p:nvSpPr>
          <p:cNvPr id="16" name="Shape 14"/>
          <p:cNvSpPr/>
          <p:nvPr/>
        </p:nvSpPr>
        <p:spPr>
          <a:xfrm>
            <a:off x="0" y="6565392"/>
            <a:ext cx="12191695" cy="292608"/>
          </a:xfrm>
          <a:prstGeom prst="rect">
            <a:avLst/>
          </a:prstGeom>
          <a:solidFill>
            <a:srgbClr val="0B1F3A"/>
          </a:solidFill>
          <a:ln/>
        </p:spPr>
      </p:sp>
      <p:sp>
        <p:nvSpPr>
          <p:cNvPr id="17" name="Text 15"/>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18" name="Text 16"/>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27432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THE NEWS  ·  26 AUGUST 2026</a:t>
            </a:r>
            <a:endParaRPr lang="en-US" sz="1200" dirty="0"/>
          </a:p>
        </p:txBody>
      </p:sp>
      <p:sp>
        <p:nvSpPr>
          <p:cNvPr id="5" name="Text 3"/>
          <p:cNvSpPr/>
          <p:nvPr/>
        </p:nvSpPr>
        <p:spPr>
          <a:xfrm>
            <a:off x="457200" y="621792"/>
            <a:ext cx="11247120" cy="384048"/>
          </a:xfrm>
          <a:prstGeom prst="rect">
            <a:avLst/>
          </a:prstGeom>
          <a:noFill/>
          <a:ln/>
        </p:spPr>
        <p:txBody>
          <a:bodyPr wrap="square"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Protiviti’s Synchronize survey: adoption raced ahead of proof</a:t>
            </a:r>
            <a:endParaRPr lang="en-US" sz="2200" dirty="0"/>
          </a:p>
        </p:txBody>
      </p:sp>
      <p:sp>
        <p:nvSpPr>
          <p:cNvPr id="6" name="Text 4"/>
          <p:cNvSpPr/>
          <p:nvPr/>
        </p:nvSpPr>
        <p:spPr>
          <a:xfrm>
            <a:off x="457200" y="1097280"/>
            <a:ext cx="11247120" cy="123444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Protiviti released its 2026 Global Finance Trends Survey on 26 August. Among finance organisations already using AI, forecasting is the lead use case. Value measurement is not. Christopher Wright, global leader of Protiviti’s CFO Solutions practice, put it plainly: finance has stopped asking whether to adopt AI. The question is whether the spend is producing decisions the enterprise can trust — and numbers the CFO can defend.</a:t>
            </a:r>
            <a:endParaRPr lang="en-US" sz="1500" dirty="0"/>
          </a:p>
        </p:txBody>
      </p:sp>
      <p:sp>
        <p:nvSpPr>
          <p:cNvPr id="7" name="Shape 5"/>
          <p:cNvSpPr/>
          <p:nvPr/>
        </p:nvSpPr>
        <p:spPr>
          <a:xfrm>
            <a:off x="457200" y="2514600"/>
            <a:ext cx="2743200" cy="2331720"/>
          </a:xfrm>
          <a:prstGeom prst="roundRect">
            <a:avLst>
              <a:gd name="adj" fmla="val 3137"/>
            </a:avLst>
          </a:prstGeom>
          <a:solidFill>
            <a:srgbClr val="0B1F3A"/>
          </a:solidFill>
          <a:ln/>
        </p:spPr>
      </p:sp>
      <p:sp>
        <p:nvSpPr>
          <p:cNvPr id="8" name="Text 6"/>
          <p:cNvSpPr/>
          <p:nvPr/>
        </p:nvSpPr>
        <p:spPr>
          <a:xfrm>
            <a:off x="457200" y="2697480"/>
            <a:ext cx="2743200" cy="868680"/>
          </a:xfrm>
          <a:prstGeom prst="rect">
            <a:avLst/>
          </a:prstGeom>
          <a:noFill/>
          <a:ln/>
        </p:spPr>
        <p:txBody>
          <a:bodyPr wrap="square" rtlCol="0" anchor="ctr"/>
          <a:lstStyle/>
          <a:p>
            <a:pPr algn="ctr" indent="0" marL="0">
              <a:buNone/>
            </a:pPr>
            <a:r>
              <a:rPr lang="en-US" sz="3600" b="1" dirty="0">
                <a:solidFill>
                  <a:srgbClr val="C9A227"/>
                </a:solidFill>
                <a:latin typeface="Calibri" pitchFamily="34" charset="0"/>
                <a:ea typeface="Calibri" pitchFamily="34" charset="-122"/>
                <a:cs typeface="Calibri" pitchFamily="34" charset="-120"/>
              </a:rPr>
              <a:t>77%</a:t>
            </a:r>
            <a:endParaRPr lang="en-US" sz="3600" dirty="0"/>
          </a:p>
        </p:txBody>
      </p:sp>
      <p:sp>
        <p:nvSpPr>
          <p:cNvPr id="9" name="Text 7"/>
          <p:cNvSpPr/>
          <p:nvPr/>
        </p:nvSpPr>
        <p:spPr>
          <a:xfrm>
            <a:off x="548640" y="3611880"/>
            <a:ext cx="2560320" cy="10058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Finance orgs now employ AI</a:t>
            </a:r>
            <a:endParaRPr lang="en-US" sz="1400" dirty="0"/>
          </a:p>
        </p:txBody>
      </p:sp>
      <p:sp>
        <p:nvSpPr>
          <p:cNvPr id="10" name="Shape 8"/>
          <p:cNvSpPr/>
          <p:nvPr/>
        </p:nvSpPr>
        <p:spPr>
          <a:xfrm>
            <a:off x="3383280" y="2514600"/>
            <a:ext cx="2743200" cy="2331720"/>
          </a:xfrm>
          <a:prstGeom prst="roundRect">
            <a:avLst>
              <a:gd name="adj" fmla="val 3137"/>
            </a:avLst>
          </a:prstGeom>
          <a:solidFill>
            <a:srgbClr val="0B1F3A"/>
          </a:solidFill>
          <a:ln/>
        </p:spPr>
      </p:sp>
      <p:sp>
        <p:nvSpPr>
          <p:cNvPr id="11" name="Text 9"/>
          <p:cNvSpPr/>
          <p:nvPr/>
        </p:nvSpPr>
        <p:spPr>
          <a:xfrm>
            <a:off x="3383280" y="2697480"/>
            <a:ext cx="2743200" cy="868680"/>
          </a:xfrm>
          <a:prstGeom prst="rect">
            <a:avLst/>
          </a:prstGeom>
          <a:noFill/>
          <a:ln/>
        </p:spPr>
        <p:txBody>
          <a:bodyPr wrap="square" rtlCol="0" anchor="ctr"/>
          <a:lstStyle/>
          <a:p>
            <a:pPr algn="ctr" indent="0" marL="0">
              <a:buNone/>
            </a:pPr>
            <a:r>
              <a:rPr lang="en-US" sz="3600" b="1" dirty="0">
                <a:solidFill>
                  <a:srgbClr val="C9A227"/>
                </a:solidFill>
                <a:latin typeface="Calibri" pitchFamily="34" charset="0"/>
                <a:ea typeface="Calibri" pitchFamily="34" charset="-122"/>
                <a:cs typeface="Calibri" pitchFamily="34" charset="-120"/>
              </a:rPr>
              <a:t>76%</a:t>
            </a:r>
            <a:endParaRPr lang="en-US" sz="3600" dirty="0"/>
          </a:p>
        </p:txBody>
      </p:sp>
      <p:sp>
        <p:nvSpPr>
          <p:cNvPr id="12" name="Text 10"/>
          <p:cNvSpPr/>
          <p:nvPr/>
        </p:nvSpPr>
        <p:spPr>
          <a:xfrm>
            <a:off x="3474720" y="3611880"/>
            <a:ext cx="2560320" cy="10058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Use AI for forecasting</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(up from 58%)</a:t>
            </a:r>
            <a:endParaRPr lang="en-US" sz="1400" dirty="0"/>
          </a:p>
        </p:txBody>
      </p:sp>
      <p:sp>
        <p:nvSpPr>
          <p:cNvPr id="13" name="Shape 11"/>
          <p:cNvSpPr/>
          <p:nvPr/>
        </p:nvSpPr>
        <p:spPr>
          <a:xfrm>
            <a:off x="6309360" y="2514600"/>
            <a:ext cx="2743200" cy="2331720"/>
          </a:xfrm>
          <a:prstGeom prst="roundRect">
            <a:avLst>
              <a:gd name="adj" fmla="val 3137"/>
            </a:avLst>
          </a:prstGeom>
          <a:solidFill>
            <a:srgbClr val="0B1F3A"/>
          </a:solidFill>
          <a:ln/>
        </p:spPr>
      </p:sp>
      <p:sp>
        <p:nvSpPr>
          <p:cNvPr id="14" name="Text 12"/>
          <p:cNvSpPr/>
          <p:nvPr/>
        </p:nvSpPr>
        <p:spPr>
          <a:xfrm>
            <a:off x="6309360" y="2697480"/>
            <a:ext cx="2743200" cy="868680"/>
          </a:xfrm>
          <a:prstGeom prst="rect">
            <a:avLst/>
          </a:prstGeom>
          <a:noFill/>
          <a:ln/>
        </p:spPr>
        <p:txBody>
          <a:bodyPr wrap="square" rtlCol="0" anchor="ctr"/>
          <a:lstStyle/>
          <a:p>
            <a:pPr algn="ctr" indent="0" marL="0">
              <a:buNone/>
            </a:pPr>
            <a:r>
              <a:rPr lang="en-US" sz="3600" b="1" dirty="0">
                <a:solidFill>
                  <a:srgbClr val="C9A227"/>
                </a:solidFill>
                <a:latin typeface="Calibri" pitchFamily="34" charset="0"/>
                <a:ea typeface="Calibri" pitchFamily="34" charset="-122"/>
                <a:cs typeface="Calibri" pitchFamily="34" charset="-120"/>
              </a:rPr>
              <a:t>35%</a:t>
            </a:r>
            <a:endParaRPr lang="en-US" sz="3600" dirty="0"/>
          </a:p>
        </p:txBody>
      </p:sp>
      <p:sp>
        <p:nvSpPr>
          <p:cNvPr id="15" name="Text 13"/>
          <p:cNvSpPr/>
          <p:nvPr/>
        </p:nvSpPr>
        <p:spPr>
          <a:xfrm>
            <a:off x="6400800" y="3611880"/>
            <a:ext cx="2560320" cy="10058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Effective at measuring</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AI ROI</a:t>
            </a:r>
            <a:endParaRPr lang="en-US" sz="1400" dirty="0"/>
          </a:p>
        </p:txBody>
      </p:sp>
      <p:sp>
        <p:nvSpPr>
          <p:cNvPr id="16" name="Shape 14"/>
          <p:cNvSpPr/>
          <p:nvPr/>
        </p:nvSpPr>
        <p:spPr>
          <a:xfrm>
            <a:off x="9235440" y="2514600"/>
            <a:ext cx="2743200" cy="2331720"/>
          </a:xfrm>
          <a:prstGeom prst="roundRect">
            <a:avLst>
              <a:gd name="adj" fmla="val 3137"/>
            </a:avLst>
          </a:prstGeom>
          <a:solidFill>
            <a:srgbClr val="0B1F3A"/>
          </a:solidFill>
          <a:ln/>
        </p:spPr>
      </p:sp>
      <p:sp>
        <p:nvSpPr>
          <p:cNvPr id="17" name="Text 15"/>
          <p:cNvSpPr/>
          <p:nvPr/>
        </p:nvSpPr>
        <p:spPr>
          <a:xfrm>
            <a:off x="9235440" y="2697480"/>
            <a:ext cx="2743200" cy="868680"/>
          </a:xfrm>
          <a:prstGeom prst="rect">
            <a:avLst/>
          </a:prstGeom>
          <a:noFill/>
          <a:ln/>
        </p:spPr>
        <p:txBody>
          <a:bodyPr wrap="square" rtlCol="0" anchor="ctr"/>
          <a:lstStyle/>
          <a:p>
            <a:pPr algn="ctr" indent="0" marL="0">
              <a:buNone/>
            </a:pPr>
            <a:r>
              <a:rPr lang="en-US" sz="3600" b="1" dirty="0">
                <a:solidFill>
                  <a:srgbClr val="C9A227"/>
                </a:solidFill>
                <a:latin typeface="Calibri" pitchFamily="34" charset="0"/>
                <a:ea typeface="Calibri" pitchFamily="34" charset="-122"/>
                <a:cs typeface="Calibri" pitchFamily="34" charset="-120"/>
              </a:rPr>
              <a:t>14%</a:t>
            </a:r>
            <a:endParaRPr lang="en-US" sz="3600" dirty="0"/>
          </a:p>
        </p:txBody>
      </p:sp>
      <p:sp>
        <p:nvSpPr>
          <p:cNvPr id="18" name="Text 16"/>
          <p:cNvSpPr/>
          <p:nvPr/>
        </p:nvSpPr>
        <p:spPr>
          <a:xfrm>
            <a:off x="9326880" y="3611880"/>
            <a:ext cx="2560320" cy="10058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Deploy AI under a</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defined strategy</a:t>
            </a:r>
            <a:endParaRPr lang="en-US" sz="1400" dirty="0"/>
          </a:p>
        </p:txBody>
      </p:sp>
      <p:sp>
        <p:nvSpPr>
          <p:cNvPr id="19" name="Text 17"/>
          <p:cNvSpPr/>
          <p:nvPr/>
        </p:nvSpPr>
        <p:spPr>
          <a:xfrm>
            <a:off x="457200" y="5029200"/>
            <a:ext cx="10972800" cy="274320"/>
          </a:xfrm>
          <a:prstGeom prst="rect">
            <a:avLst/>
          </a:prstGeom>
          <a:noFill/>
          <a:ln/>
        </p:spPr>
        <p:txBody>
          <a:bodyPr wrap="square"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Source: Protiviti, 2026 Global Finance Trends Survey, press release 26 Aug 2026.</a:t>
            </a:r>
            <a:endParaRPr lang="en-US" sz="1200" dirty="0"/>
          </a:p>
        </p:txBody>
      </p:sp>
      <p:sp>
        <p:nvSpPr>
          <p:cNvPr id="20" name="Shape 18"/>
          <p:cNvSpPr/>
          <p:nvPr/>
        </p:nvSpPr>
        <p:spPr>
          <a:xfrm>
            <a:off x="0" y="6565392"/>
            <a:ext cx="12191695" cy="292608"/>
          </a:xfrm>
          <a:prstGeom prst="rect">
            <a:avLst/>
          </a:prstGeom>
          <a:solidFill>
            <a:srgbClr val="0B1F3A"/>
          </a:solidFill>
          <a:ln/>
        </p:spPr>
      </p:sp>
      <p:sp>
        <p:nvSpPr>
          <p:cNvPr id="21" name="Text 19"/>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22" name="Text 20"/>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27432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THE WIDER EVIDENCE STACK</a:t>
            </a:r>
            <a:endParaRPr lang="en-US" sz="1200" dirty="0"/>
          </a:p>
        </p:txBody>
      </p:sp>
      <p:sp>
        <p:nvSpPr>
          <p:cNvPr id="5" name="Text 3"/>
          <p:cNvSpPr/>
          <p:nvPr/>
        </p:nvSpPr>
        <p:spPr>
          <a:xfrm>
            <a:off x="457200" y="621792"/>
            <a:ext cx="10972800" cy="365760"/>
          </a:xfrm>
          <a:prstGeom prst="rect">
            <a:avLst/>
          </a:prstGeom>
          <a:noFill/>
          <a:ln/>
        </p:spPr>
        <p:txBody>
          <a:bodyPr wrap="square"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Protiviti is not an isolated data point</a:t>
            </a:r>
            <a:endParaRPr lang="en-US" sz="2200" dirty="0"/>
          </a:p>
        </p:txBody>
      </p:sp>
      <p:sp>
        <p:nvSpPr>
          <p:cNvPr id="6" name="Shape 4"/>
          <p:cNvSpPr/>
          <p:nvPr/>
        </p:nvSpPr>
        <p:spPr>
          <a:xfrm>
            <a:off x="411480" y="1097280"/>
            <a:ext cx="11338560" cy="877824"/>
          </a:xfrm>
          <a:prstGeom prst="roundRect">
            <a:avLst>
              <a:gd name="adj" fmla="val 6250"/>
            </a:avLst>
          </a:prstGeom>
          <a:solidFill>
            <a:srgbClr val="FFFFFF"/>
          </a:solidFill>
          <a:ln/>
        </p:spPr>
      </p:sp>
      <p:sp>
        <p:nvSpPr>
          <p:cNvPr id="7" name="Shape 5"/>
          <p:cNvSpPr/>
          <p:nvPr/>
        </p:nvSpPr>
        <p:spPr>
          <a:xfrm>
            <a:off x="411480" y="1097280"/>
            <a:ext cx="109728" cy="877824"/>
          </a:xfrm>
          <a:prstGeom prst="rect">
            <a:avLst/>
          </a:prstGeom>
          <a:solidFill>
            <a:srgbClr val="C9A227"/>
          </a:solidFill>
          <a:ln/>
        </p:spPr>
      </p:sp>
      <p:sp>
        <p:nvSpPr>
          <p:cNvPr id="8" name="Text 6"/>
          <p:cNvSpPr/>
          <p:nvPr/>
        </p:nvSpPr>
        <p:spPr>
          <a:xfrm>
            <a:off x="685800" y="1133856"/>
            <a:ext cx="10972800" cy="292608"/>
          </a:xfrm>
          <a:prstGeom prst="rect">
            <a:avLst/>
          </a:prstGeom>
          <a:noFill/>
          <a:ln/>
        </p:spPr>
        <p:txBody>
          <a:bodyPr wrap="square"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Deloitte CFO Signals (Q4 2025)</a:t>
            </a:r>
            <a:endParaRPr lang="en-US" sz="1400" dirty="0"/>
          </a:p>
        </p:txBody>
      </p:sp>
      <p:sp>
        <p:nvSpPr>
          <p:cNvPr id="9" name="Text 7"/>
          <p:cNvSpPr/>
          <p:nvPr/>
        </p:nvSpPr>
        <p:spPr>
          <a:xfrm>
            <a:off x="685800" y="1408176"/>
            <a:ext cx="10881360" cy="50292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87% of CFOs say AI will be extremely / very important in 2026. Only 63% have deployed. 50% named digital transformation of finance as their single top 2026 priority.</a:t>
            </a:r>
            <a:endParaRPr lang="en-US" sz="1300" dirty="0"/>
          </a:p>
        </p:txBody>
      </p:sp>
      <p:sp>
        <p:nvSpPr>
          <p:cNvPr id="10" name="Shape 8"/>
          <p:cNvSpPr/>
          <p:nvPr/>
        </p:nvSpPr>
        <p:spPr>
          <a:xfrm>
            <a:off x="411480" y="2057400"/>
            <a:ext cx="11338560" cy="877824"/>
          </a:xfrm>
          <a:prstGeom prst="roundRect">
            <a:avLst>
              <a:gd name="adj" fmla="val 6250"/>
            </a:avLst>
          </a:prstGeom>
          <a:solidFill>
            <a:srgbClr val="FFFFFF"/>
          </a:solidFill>
          <a:ln/>
        </p:spPr>
      </p:sp>
      <p:sp>
        <p:nvSpPr>
          <p:cNvPr id="11" name="Shape 9"/>
          <p:cNvSpPr/>
          <p:nvPr/>
        </p:nvSpPr>
        <p:spPr>
          <a:xfrm>
            <a:off x="411480" y="2057400"/>
            <a:ext cx="109728" cy="877824"/>
          </a:xfrm>
          <a:prstGeom prst="rect">
            <a:avLst/>
          </a:prstGeom>
          <a:solidFill>
            <a:srgbClr val="C9A227"/>
          </a:solidFill>
          <a:ln/>
        </p:spPr>
      </p:sp>
      <p:sp>
        <p:nvSpPr>
          <p:cNvPr id="12" name="Text 10"/>
          <p:cNvSpPr/>
          <p:nvPr/>
        </p:nvSpPr>
        <p:spPr>
          <a:xfrm>
            <a:off x="685800" y="2093976"/>
            <a:ext cx="10972800" cy="292608"/>
          </a:xfrm>
          <a:prstGeom prst="rect">
            <a:avLst/>
          </a:prstGeom>
          <a:noFill/>
          <a:ln/>
        </p:spPr>
        <p:txBody>
          <a:bodyPr wrap="square"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Gartner Evanta / 2026 CFO Agenda</a:t>
            </a:r>
            <a:endParaRPr lang="en-US" sz="1400" dirty="0"/>
          </a:p>
        </p:txBody>
      </p:sp>
      <p:sp>
        <p:nvSpPr>
          <p:cNvPr id="13" name="Text 11"/>
          <p:cNvSpPr/>
          <p:nvPr/>
        </p:nvSpPr>
        <p:spPr>
          <a:xfrm>
            <a:off x="685800" y="2368296"/>
            <a:ext cx="10881360" cy="50292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Executing finance transformation is #1 for a third consecutive year. AI &amp; automation climbed to #2. ~60% plan to raise finance AI spend by 10%+.</a:t>
            </a:r>
            <a:endParaRPr lang="en-US" sz="1300" dirty="0"/>
          </a:p>
        </p:txBody>
      </p:sp>
      <p:sp>
        <p:nvSpPr>
          <p:cNvPr id="14" name="Shape 12"/>
          <p:cNvSpPr/>
          <p:nvPr/>
        </p:nvSpPr>
        <p:spPr>
          <a:xfrm>
            <a:off x="411480" y="3017520"/>
            <a:ext cx="11338560" cy="877824"/>
          </a:xfrm>
          <a:prstGeom prst="roundRect">
            <a:avLst>
              <a:gd name="adj" fmla="val 6250"/>
            </a:avLst>
          </a:prstGeom>
          <a:solidFill>
            <a:srgbClr val="FFFFFF"/>
          </a:solidFill>
          <a:ln/>
        </p:spPr>
      </p:sp>
      <p:sp>
        <p:nvSpPr>
          <p:cNvPr id="15" name="Shape 13"/>
          <p:cNvSpPr/>
          <p:nvPr/>
        </p:nvSpPr>
        <p:spPr>
          <a:xfrm>
            <a:off x="411480" y="3017520"/>
            <a:ext cx="109728" cy="877824"/>
          </a:xfrm>
          <a:prstGeom prst="rect">
            <a:avLst/>
          </a:prstGeom>
          <a:solidFill>
            <a:srgbClr val="C9A227"/>
          </a:solidFill>
          <a:ln/>
        </p:spPr>
      </p:sp>
      <p:sp>
        <p:nvSpPr>
          <p:cNvPr id="16" name="Text 14"/>
          <p:cNvSpPr/>
          <p:nvPr/>
        </p:nvSpPr>
        <p:spPr>
          <a:xfrm>
            <a:off x="685800" y="3054096"/>
            <a:ext cx="10972800" cy="292608"/>
          </a:xfrm>
          <a:prstGeom prst="rect">
            <a:avLst/>
          </a:prstGeom>
          <a:noFill/>
          <a:ln/>
        </p:spPr>
        <p:txBody>
          <a:bodyPr wrap="square"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EY DNA of the CFO (June 2026)</a:t>
            </a:r>
            <a:endParaRPr lang="en-US" sz="1400" dirty="0"/>
          </a:p>
        </p:txBody>
      </p:sp>
      <p:sp>
        <p:nvSpPr>
          <p:cNvPr id="17" name="Text 15"/>
          <p:cNvSpPr/>
          <p:nvPr/>
        </p:nvSpPr>
        <p:spPr>
          <a:xfrm>
            <a:off x="685800" y="3328416"/>
            <a:ext cx="10881360" cy="50292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Only 21% of CFOs rate their AI preparedness as leading or advanced. Most still prioritise defensive use cases over growth use cases.</a:t>
            </a:r>
            <a:endParaRPr lang="en-US" sz="1300" dirty="0"/>
          </a:p>
        </p:txBody>
      </p:sp>
      <p:sp>
        <p:nvSpPr>
          <p:cNvPr id="18" name="Shape 16"/>
          <p:cNvSpPr/>
          <p:nvPr/>
        </p:nvSpPr>
        <p:spPr>
          <a:xfrm>
            <a:off x="411480" y="3977640"/>
            <a:ext cx="11338560" cy="877824"/>
          </a:xfrm>
          <a:prstGeom prst="roundRect">
            <a:avLst>
              <a:gd name="adj" fmla="val 6250"/>
            </a:avLst>
          </a:prstGeom>
          <a:solidFill>
            <a:srgbClr val="FFFFFF"/>
          </a:solidFill>
          <a:ln/>
        </p:spPr>
      </p:sp>
      <p:sp>
        <p:nvSpPr>
          <p:cNvPr id="19" name="Shape 17"/>
          <p:cNvSpPr/>
          <p:nvPr/>
        </p:nvSpPr>
        <p:spPr>
          <a:xfrm>
            <a:off x="411480" y="3977640"/>
            <a:ext cx="109728" cy="877824"/>
          </a:xfrm>
          <a:prstGeom prst="rect">
            <a:avLst/>
          </a:prstGeom>
          <a:solidFill>
            <a:srgbClr val="C9A227"/>
          </a:solidFill>
          <a:ln/>
        </p:spPr>
      </p:sp>
      <p:sp>
        <p:nvSpPr>
          <p:cNvPr id="20" name="Text 18"/>
          <p:cNvSpPr/>
          <p:nvPr/>
        </p:nvSpPr>
        <p:spPr>
          <a:xfrm>
            <a:off x="685800" y="4014216"/>
            <a:ext cx="10972800" cy="292608"/>
          </a:xfrm>
          <a:prstGeom prst="rect">
            <a:avLst/>
          </a:prstGeom>
          <a:noFill/>
          <a:ln/>
        </p:spPr>
        <p:txBody>
          <a:bodyPr wrap="square"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BCG — AI-First Finance (2026)</a:t>
            </a:r>
            <a:endParaRPr lang="en-US" sz="1400" dirty="0"/>
          </a:p>
        </p:txBody>
      </p:sp>
      <p:sp>
        <p:nvSpPr>
          <p:cNvPr id="21" name="Text 19"/>
          <p:cNvSpPr/>
          <p:nvPr/>
        </p:nvSpPr>
        <p:spPr>
          <a:xfrm>
            <a:off x="685800" y="4288536"/>
            <a:ext cx="10881360" cy="50292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Within 2–5 years, leading shops will run real-time close with agents. Staff needed for today’s workflows could fall by half. Human work shifts to exceptions.</a:t>
            </a:r>
            <a:endParaRPr lang="en-US" sz="1300" dirty="0"/>
          </a:p>
        </p:txBody>
      </p:sp>
      <p:sp>
        <p:nvSpPr>
          <p:cNvPr id="22" name="Shape 20"/>
          <p:cNvSpPr/>
          <p:nvPr/>
        </p:nvSpPr>
        <p:spPr>
          <a:xfrm>
            <a:off x="411480" y="4937760"/>
            <a:ext cx="11338560" cy="877824"/>
          </a:xfrm>
          <a:prstGeom prst="roundRect">
            <a:avLst>
              <a:gd name="adj" fmla="val 6250"/>
            </a:avLst>
          </a:prstGeom>
          <a:solidFill>
            <a:srgbClr val="FFFFFF"/>
          </a:solidFill>
          <a:ln/>
        </p:spPr>
      </p:sp>
      <p:sp>
        <p:nvSpPr>
          <p:cNvPr id="23" name="Shape 21"/>
          <p:cNvSpPr/>
          <p:nvPr/>
        </p:nvSpPr>
        <p:spPr>
          <a:xfrm>
            <a:off x="411480" y="4937760"/>
            <a:ext cx="109728" cy="877824"/>
          </a:xfrm>
          <a:prstGeom prst="rect">
            <a:avLst/>
          </a:prstGeom>
          <a:solidFill>
            <a:srgbClr val="C9A227"/>
          </a:solidFill>
          <a:ln/>
        </p:spPr>
      </p:sp>
      <p:sp>
        <p:nvSpPr>
          <p:cNvPr id="24" name="Text 22"/>
          <p:cNvSpPr/>
          <p:nvPr/>
        </p:nvSpPr>
        <p:spPr>
          <a:xfrm>
            <a:off x="685800" y="4974336"/>
            <a:ext cx="10972800" cy="292608"/>
          </a:xfrm>
          <a:prstGeom prst="rect">
            <a:avLst/>
          </a:prstGeom>
          <a:noFill/>
          <a:ln/>
        </p:spPr>
        <p:txBody>
          <a:bodyPr wrap="square"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Oliver Wyman Forum Agenda</a:t>
            </a:r>
            <a:endParaRPr lang="en-US" sz="1400" dirty="0"/>
          </a:p>
        </p:txBody>
      </p:sp>
      <p:sp>
        <p:nvSpPr>
          <p:cNvPr id="25" name="Text 23"/>
          <p:cNvSpPr/>
          <p:nvPr/>
        </p:nvSpPr>
        <p:spPr>
          <a:xfrm>
            <a:off x="685800" y="5248656"/>
            <a:ext cx="10881360" cy="50292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Only 8% have deployed AI-assisted tools or agents at scale. 74% of key finance activities still sit in planning or pilot.</a:t>
            </a:r>
            <a:endParaRPr lang="en-US" sz="1300" dirty="0"/>
          </a:p>
        </p:txBody>
      </p:sp>
      <p:sp>
        <p:nvSpPr>
          <p:cNvPr id="26" name="Shape 24"/>
          <p:cNvSpPr/>
          <p:nvPr/>
        </p:nvSpPr>
        <p:spPr>
          <a:xfrm>
            <a:off x="0" y="6565392"/>
            <a:ext cx="12191695" cy="292608"/>
          </a:xfrm>
          <a:prstGeom prst="rect">
            <a:avLst/>
          </a:prstGeom>
          <a:solidFill>
            <a:srgbClr val="0B1F3A"/>
          </a:solidFill>
          <a:ln/>
        </p:spPr>
      </p:sp>
      <p:sp>
        <p:nvSpPr>
          <p:cNvPr id="27" name="Text 25"/>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28" name="Text 26"/>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27432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WHERE THE MONEY IS ACTUALLY GOING</a:t>
            </a:r>
            <a:endParaRPr lang="en-US" sz="1200" dirty="0"/>
          </a:p>
        </p:txBody>
      </p:sp>
      <p:sp>
        <p:nvSpPr>
          <p:cNvPr id="5" name="Text 3"/>
          <p:cNvSpPr/>
          <p:nvPr/>
        </p:nvSpPr>
        <p:spPr>
          <a:xfrm>
            <a:off x="457200" y="621792"/>
            <a:ext cx="10972800" cy="365760"/>
          </a:xfrm>
          <a:prstGeom prst="rect">
            <a:avLst/>
          </a:prstGeom>
          <a:noFill/>
          <a:ln/>
        </p:spPr>
        <p:txBody>
          <a:bodyPr wrap="square"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Three crowded use cases. One underbuilt bridge.</a:t>
            </a:r>
            <a:endParaRPr lang="en-US" sz="2200" dirty="0"/>
          </a:p>
        </p:txBody>
      </p:sp>
      <p:sp>
        <p:nvSpPr>
          <p:cNvPr id="6" name="Shape 4"/>
          <p:cNvSpPr/>
          <p:nvPr/>
        </p:nvSpPr>
        <p:spPr>
          <a:xfrm>
            <a:off x="411480" y="1188720"/>
            <a:ext cx="3703320" cy="3017520"/>
          </a:xfrm>
          <a:prstGeom prst="roundRect">
            <a:avLst>
              <a:gd name="adj" fmla="val 2424"/>
            </a:avLst>
          </a:prstGeom>
          <a:solidFill>
            <a:srgbClr val="0B1F3A"/>
          </a:solidFill>
          <a:ln/>
        </p:spPr>
      </p:sp>
      <p:sp>
        <p:nvSpPr>
          <p:cNvPr id="7" name="Text 5"/>
          <p:cNvSpPr/>
          <p:nvPr/>
        </p:nvSpPr>
        <p:spPr>
          <a:xfrm>
            <a:off x="594360" y="1371600"/>
            <a:ext cx="3337560" cy="640080"/>
          </a:xfrm>
          <a:prstGeom prst="rect">
            <a:avLst/>
          </a:prstGeom>
          <a:noFill/>
          <a:ln/>
        </p:spPr>
        <p:txBody>
          <a:bodyPr wrap="square" rtlCol="0" anchor="ctr"/>
          <a:lstStyle/>
          <a:p>
            <a:pPr indent="0" marL="0">
              <a:buNone/>
            </a:pPr>
            <a:r>
              <a:rPr lang="en-US" sz="1800" b="1" dirty="0">
                <a:solidFill>
                  <a:srgbClr val="C9A227"/>
                </a:solidFill>
                <a:latin typeface="Calibri" pitchFamily="34" charset="0"/>
                <a:ea typeface="Calibri" pitchFamily="34" charset="-122"/>
                <a:cs typeface="Calibri" pitchFamily="34" charset="-120"/>
              </a:rPr>
              <a:t>Forecasting — 76%</a:t>
            </a:r>
            <a:endParaRPr lang="en-US" sz="1800" dirty="0"/>
          </a:p>
        </p:txBody>
      </p:sp>
      <p:sp>
        <p:nvSpPr>
          <p:cNvPr id="8" name="Text 6"/>
          <p:cNvSpPr/>
          <p:nvPr/>
        </p:nvSpPr>
        <p:spPr>
          <a:xfrm>
            <a:off x="594360" y="2103120"/>
            <a:ext cx="3337560" cy="18288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Largest YoY jump (from 58%). Teams use AI to chew larger data sets and run more scenarios. Still often a black box at the board table.</a:t>
            </a:r>
            <a:endParaRPr lang="en-US" sz="1400" dirty="0"/>
          </a:p>
        </p:txBody>
      </p:sp>
      <p:sp>
        <p:nvSpPr>
          <p:cNvPr id="9" name="Shape 7"/>
          <p:cNvSpPr/>
          <p:nvPr/>
        </p:nvSpPr>
        <p:spPr>
          <a:xfrm>
            <a:off x="4297680" y="1188720"/>
            <a:ext cx="3703320" cy="3017520"/>
          </a:xfrm>
          <a:prstGeom prst="roundRect">
            <a:avLst>
              <a:gd name="adj" fmla="val 2424"/>
            </a:avLst>
          </a:prstGeom>
          <a:solidFill>
            <a:srgbClr val="0B1F3A"/>
          </a:solidFill>
          <a:ln/>
        </p:spPr>
      </p:sp>
      <p:sp>
        <p:nvSpPr>
          <p:cNvPr id="10" name="Text 8"/>
          <p:cNvSpPr/>
          <p:nvPr/>
        </p:nvSpPr>
        <p:spPr>
          <a:xfrm>
            <a:off x="4480560" y="1371600"/>
            <a:ext cx="3337560" cy="640080"/>
          </a:xfrm>
          <a:prstGeom prst="rect">
            <a:avLst/>
          </a:prstGeom>
          <a:noFill/>
          <a:ln/>
        </p:spPr>
        <p:txBody>
          <a:bodyPr wrap="square" rtlCol="0" anchor="ctr"/>
          <a:lstStyle/>
          <a:p>
            <a:pPr indent="0" marL="0">
              <a:buNone/>
            </a:pPr>
            <a:r>
              <a:rPr lang="en-US" sz="1800" b="1" dirty="0">
                <a:solidFill>
                  <a:srgbClr val="C9A227"/>
                </a:solidFill>
                <a:latin typeface="Calibri" pitchFamily="34" charset="0"/>
                <a:ea typeface="Calibri" pitchFamily="34" charset="-122"/>
                <a:cs typeface="Calibri" pitchFamily="34" charset="-120"/>
              </a:rPr>
              <a:t>Risk assessment — 67%</a:t>
            </a:r>
            <a:endParaRPr lang="en-US" sz="1800" dirty="0"/>
          </a:p>
        </p:txBody>
      </p:sp>
      <p:sp>
        <p:nvSpPr>
          <p:cNvPr id="11" name="Text 9"/>
          <p:cNvSpPr/>
          <p:nvPr/>
        </p:nvSpPr>
        <p:spPr>
          <a:xfrm>
            <a:off x="4480560" y="2103120"/>
            <a:ext cx="3337560" cy="18288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Analytics to identify, measure and mitigate financial risk earlier. Useful — and dangerous — if the model cannot be explained to audit.</a:t>
            </a:r>
            <a:endParaRPr lang="en-US" sz="1400" dirty="0"/>
          </a:p>
        </p:txBody>
      </p:sp>
      <p:sp>
        <p:nvSpPr>
          <p:cNvPr id="12" name="Shape 10"/>
          <p:cNvSpPr/>
          <p:nvPr/>
        </p:nvSpPr>
        <p:spPr>
          <a:xfrm>
            <a:off x="8183880" y="1188720"/>
            <a:ext cx="3703320" cy="3017520"/>
          </a:xfrm>
          <a:prstGeom prst="roundRect">
            <a:avLst>
              <a:gd name="adj" fmla="val 2424"/>
            </a:avLst>
          </a:prstGeom>
          <a:solidFill>
            <a:srgbClr val="0B1F3A"/>
          </a:solidFill>
          <a:ln/>
        </p:spPr>
      </p:sp>
      <p:sp>
        <p:nvSpPr>
          <p:cNvPr id="13" name="Text 11"/>
          <p:cNvSpPr/>
          <p:nvPr/>
        </p:nvSpPr>
        <p:spPr>
          <a:xfrm>
            <a:off x="8366760" y="1371600"/>
            <a:ext cx="3337560" cy="640080"/>
          </a:xfrm>
          <a:prstGeom prst="rect">
            <a:avLst/>
          </a:prstGeom>
          <a:noFill/>
          <a:ln/>
        </p:spPr>
        <p:txBody>
          <a:bodyPr wrap="square" rtlCol="0" anchor="ctr"/>
          <a:lstStyle/>
          <a:p>
            <a:pPr indent="0" marL="0">
              <a:buNone/>
            </a:pPr>
            <a:r>
              <a:rPr lang="en-US" sz="1800" b="1" dirty="0">
                <a:solidFill>
                  <a:srgbClr val="C9A227"/>
                </a:solidFill>
                <a:latin typeface="Calibri" pitchFamily="34" charset="0"/>
                <a:ea typeface="Calibri" pitchFamily="34" charset="-122"/>
                <a:cs typeface="Calibri" pitchFamily="34" charset="-120"/>
              </a:rPr>
              <a:t>Process automation — 56%</a:t>
            </a:r>
            <a:endParaRPr lang="en-US" sz="1800" dirty="0"/>
          </a:p>
        </p:txBody>
      </p:sp>
      <p:sp>
        <p:nvSpPr>
          <p:cNvPr id="14" name="Text 12"/>
          <p:cNvSpPr/>
          <p:nvPr/>
        </p:nvSpPr>
        <p:spPr>
          <a:xfrm>
            <a:off x="8366760" y="2103120"/>
            <a:ext cx="3337560" cy="18288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Repetitive close, reconciliation and reporting work. This is where headcount narratives start. Productivity without a baseline is not ROI.</a:t>
            </a:r>
            <a:endParaRPr lang="en-US" sz="1400" dirty="0"/>
          </a:p>
        </p:txBody>
      </p:sp>
      <p:sp>
        <p:nvSpPr>
          <p:cNvPr id="15" name="Shape 13"/>
          <p:cNvSpPr/>
          <p:nvPr/>
        </p:nvSpPr>
        <p:spPr>
          <a:xfrm>
            <a:off x="411480" y="4389120"/>
            <a:ext cx="11338560" cy="1554480"/>
          </a:xfrm>
          <a:prstGeom prst="roundRect">
            <a:avLst>
              <a:gd name="adj" fmla="val 4706"/>
            </a:avLst>
          </a:prstGeom>
          <a:solidFill>
            <a:srgbClr val="FFFFFF"/>
          </a:solidFill>
          <a:ln/>
        </p:spPr>
      </p:sp>
      <p:sp>
        <p:nvSpPr>
          <p:cNvPr id="16" name="Text 14"/>
          <p:cNvSpPr/>
          <p:nvPr/>
        </p:nvSpPr>
        <p:spPr>
          <a:xfrm>
            <a:off x="640080" y="4526280"/>
            <a:ext cx="10972800" cy="320040"/>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The missing bridge: AI-enabled scenario planning.</a:t>
            </a:r>
            <a:endParaRPr lang="en-US" sz="1600" dirty="0"/>
          </a:p>
        </p:txBody>
      </p:sp>
      <p:sp>
        <p:nvSpPr>
          <p:cNvPr id="17" name="Text 15"/>
          <p:cNvSpPr/>
          <p:nvPr/>
        </p:nvSpPr>
        <p:spPr>
          <a:xfrm>
            <a:off x="640080" y="4892040"/>
            <a:ext cx="10972800" cy="8686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Protiviti flags scenario planning as the underdeveloped opportunity that should connect forecasting, risk assessment and cash management. Until that bridge is built, AI remains three separate pilots — not an operating system for the CFO.</a:t>
            </a:r>
            <a:endParaRPr lang="en-US" sz="1400" dirty="0"/>
          </a:p>
        </p:txBody>
      </p:sp>
      <p:sp>
        <p:nvSpPr>
          <p:cNvPr id="18" name="Shape 16"/>
          <p:cNvSpPr/>
          <p:nvPr/>
        </p:nvSpPr>
        <p:spPr>
          <a:xfrm>
            <a:off x="0" y="6565392"/>
            <a:ext cx="12191695" cy="292608"/>
          </a:xfrm>
          <a:prstGeom prst="rect">
            <a:avLst/>
          </a:prstGeom>
          <a:solidFill>
            <a:srgbClr val="0B1F3A"/>
          </a:solidFill>
          <a:ln/>
        </p:spPr>
      </p:sp>
      <p:sp>
        <p:nvSpPr>
          <p:cNvPr id="19" name="Text 17"/>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20" name="Text 18"/>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27432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TWO CONSTRAINTS THE BOARD WILL NOT RELAX</a:t>
            </a:r>
            <a:endParaRPr lang="en-US" sz="1200" dirty="0"/>
          </a:p>
        </p:txBody>
      </p:sp>
      <p:sp>
        <p:nvSpPr>
          <p:cNvPr id="5" name="Text 3"/>
          <p:cNvSpPr/>
          <p:nvPr/>
        </p:nvSpPr>
        <p:spPr>
          <a:xfrm>
            <a:off x="457200" y="621792"/>
            <a:ext cx="10972800" cy="365760"/>
          </a:xfrm>
          <a:prstGeom prst="rect">
            <a:avLst/>
          </a:prstGeom>
          <a:noFill/>
          <a:ln/>
        </p:spPr>
        <p:txBody>
          <a:bodyPr wrap="square"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Cash discipline and data trust sit above the AI story</a:t>
            </a:r>
            <a:endParaRPr lang="en-US" sz="2200" dirty="0"/>
          </a:p>
        </p:txBody>
      </p:sp>
      <p:sp>
        <p:nvSpPr>
          <p:cNvPr id="6" name="Shape 4"/>
          <p:cNvSpPr/>
          <p:nvPr/>
        </p:nvSpPr>
        <p:spPr>
          <a:xfrm>
            <a:off x="411480" y="1143000"/>
            <a:ext cx="5577840" cy="4754880"/>
          </a:xfrm>
          <a:prstGeom prst="roundRect">
            <a:avLst>
              <a:gd name="adj" fmla="val 1538"/>
            </a:avLst>
          </a:prstGeom>
          <a:solidFill>
            <a:srgbClr val="0B1F3A"/>
          </a:solidFill>
          <a:ln/>
        </p:spPr>
      </p:sp>
      <p:sp>
        <p:nvSpPr>
          <p:cNvPr id="7" name="Text 5"/>
          <p:cNvSpPr/>
          <p:nvPr/>
        </p:nvSpPr>
        <p:spPr>
          <a:xfrm>
            <a:off x="640080" y="1325880"/>
            <a:ext cx="5120640" cy="274320"/>
          </a:xfrm>
          <a:prstGeom prst="rect">
            <a:avLst/>
          </a:prstGeom>
          <a:noFill/>
          <a:ln/>
        </p:spPr>
        <p:txBody>
          <a:bodyPr wrap="square" rtlCol="0" anchor="ctr"/>
          <a:lstStyle/>
          <a:p>
            <a:pPr indent="0" marL="0">
              <a:buNone/>
            </a:pPr>
            <a:r>
              <a:rPr lang="en-US" sz="1300" b="1" spc="150" kern="0" dirty="0">
                <a:solidFill>
                  <a:srgbClr val="C9A227"/>
                </a:solidFill>
                <a:latin typeface="Calibri" pitchFamily="34" charset="0"/>
                <a:ea typeface="Calibri" pitchFamily="34" charset="-122"/>
                <a:cs typeface="Calibri" pitchFamily="34" charset="-120"/>
              </a:rPr>
              <a:t>CASH</a:t>
            </a:r>
            <a:endParaRPr lang="en-US" sz="1300" dirty="0"/>
          </a:p>
        </p:txBody>
      </p:sp>
      <p:sp>
        <p:nvSpPr>
          <p:cNvPr id="8" name="Text 6"/>
          <p:cNvSpPr/>
          <p:nvPr/>
        </p:nvSpPr>
        <p:spPr>
          <a:xfrm>
            <a:off x="640080" y="1737360"/>
            <a:ext cx="5120640" cy="11887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83% of CFOs rank cash management in their top three priorities because of economic, monetary and trade-policy volatility.</a:t>
            </a:r>
            <a:endParaRPr lang="en-US" sz="1600" dirty="0"/>
          </a:p>
        </p:txBody>
      </p:sp>
      <p:sp>
        <p:nvSpPr>
          <p:cNvPr id="9" name="Text 7"/>
          <p:cNvSpPr/>
          <p:nvPr/>
        </p:nvSpPr>
        <p:spPr>
          <a:xfrm>
            <a:off x="640080" y="3017520"/>
            <a:ext cx="5120640" cy="1188720"/>
          </a:xfrm>
          <a:prstGeom prst="rect">
            <a:avLst/>
          </a:prstGeom>
          <a:noFill/>
          <a:ln/>
        </p:spPr>
        <p:txBody>
          <a:bodyPr wrap="square" rtlCol="0" anchor="ctr"/>
          <a:lstStyle/>
          <a:p>
            <a:pPr indent="0" marL="0">
              <a:buNone/>
            </a:pPr>
            <a:r>
              <a:rPr lang="en-US" sz="1500" dirty="0">
                <a:solidFill>
                  <a:srgbClr val="E8DDB8"/>
                </a:solidFill>
                <a:latin typeface="Calibri" pitchFamily="34" charset="0"/>
                <a:ea typeface="Calibri" pitchFamily="34" charset="-122"/>
                <a:cs typeface="Calibri" pitchFamily="34" charset="-120"/>
              </a:rPr>
              <a:t>Highest emphasis: financial services 61% · manufacturing &amp; distribution 55% · healthcare 45% · consumer products 41%.</a:t>
            </a:r>
            <a:endParaRPr lang="en-US" sz="1500" dirty="0"/>
          </a:p>
        </p:txBody>
      </p:sp>
      <p:sp>
        <p:nvSpPr>
          <p:cNvPr id="10" name="Text 8"/>
          <p:cNvSpPr/>
          <p:nvPr/>
        </p:nvSpPr>
        <p:spPr>
          <a:xfrm>
            <a:off x="640080" y="4343400"/>
            <a:ext cx="5120640" cy="12344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Implication: any AI business case that cannot show a cash or working-capital effect will lose the budget fight.</a:t>
            </a:r>
            <a:endParaRPr lang="en-US" sz="1500" dirty="0"/>
          </a:p>
        </p:txBody>
      </p:sp>
      <p:sp>
        <p:nvSpPr>
          <p:cNvPr id="11" name="Shape 9"/>
          <p:cNvSpPr/>
          <p:nvPr/>
        </p:nvSpPr>
        <p:spPr>
          <a:xfrm>
            <a:off x="6217920" y="1143000"/>
            <a:ext cx="5577840" cy="4754880"/>
          </a:xfrm>
          <a:prstGeom prst="roundRect">
            <a:avLst>
              <a:gd name="adj" fmla="val 1538"/>
            </a:avLst>
          </a:prstGeom>
          <a:solidFill>
            <a:srgbClr val="FFFFFF"/>
          </a:solidFill>
          <a:ln/>
        </p:spPr>
      </p:sp>
      <p:sp>
        <p:nvSpPr>
          <p:cNvPr id="12" name="Text 10"/>
          <p:cNvSpPr/>
          <p:nvPr/>
        </p:nvSpPr>
        <p:spPr>
          <a:xfrm>
            <a:off x="6446520" y="1325880"/>
            <a:ext cx="5120640" cy="274320"/>
          </a:xfrm>
          <a:prstGeom prst="rect">
            <a:avLst/>
          </a:prstGeom>
          <a:noFill/>
          <a:ln/>
        </p:spPr>
        <p:txBody>
          <a:bodyPr wrap="square" rtlCol="0" anchor="ctr"/>
          <a:lstStyle/>
          <a:p>
            <a:pPr indent="0" marL="0">
              <a:buNone/>
            </a:pPr>
            <a:r>
              <a:rPr lang="en-US" sz="1300" b="1" spc="150" kern="0" dirty="0">
                <a:solidFill>
                  <a:srgbClr val="C9A227"/>
                </a:solidFill>
                <a:latin typeface="Calibri" pitchFamily="34" charset="0"/>
                <a:ea typeface="Calibri" pitchFamily="34" charset="-122"/>
                <a:cs typeface="Calibri" pitchFamily="34" charset="-120"/>
              </a:rPr>
              <a:t>DATA TRUST</a:t>
            </a:r>
            <a:endParaRPr lang="en-US" sz="1300" dirty="0"/>
          </a:p>
        </p:txBody>
      </p:sp>
      <p:sp>
        <p:nvSpPr>
          <p:cNvPr id="13" name="Text 11"/>
          <p:cNvSpPr/>
          <p:nvPr/>
        </p:nvSpPr>
        <p:spPr>
          <a:xfrm>
            <a:off x="6446520" y="1737360"/>
            <a:ext cx="5120640" cy="1234440"/>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Security and privacy of data is finance’s #1 priority for a third consecutive year — ahead of FP&amp;A, analytics and AI itself.</a:t>
            </a:r>
            <a:endParaRPr lang="en-US" sz="1600" dirty="0"/>
          </a:p>
        </p:txBody>
      </p:sp>
      <p:sp>
        <p:nvSpPr>
          <p:cNvPr id="14" name="Text 12"/>
          <p:cNvSpPr/>
          <p:nvPr/>
        </p:nvSpPr>
        <p:spPr>
          <a:xfrm>
            <a:off x="6446520" y="3063240"/>
            <a:ext cx="5120640" cy="1143000"/>
          </a:xfrm>
          <a:prstGeom prst="rect">
            <a:avLst/>
          </a:prstGeom>
          <a:noFill/>
          <a:ln/>
        </p:spPr>
        <p:txBody>
          <a:bodyPr wrap="square" rtlCol="0" anchor="ctr"/>
          <a:lstStyle/>
          <a:p>
            <a:pPr indent="0" marL="0">
              <a:buNone/>
            </a:pPr>
            <a:r>
              <a:rPr lang="en-US" sz="1500" dirty="0">
                <a:solidFill>
                  <a:srgbClr val="4A5568"/>
                </a:solidFill>
                <a:latin typeface="Calibri" pitchFamily="34" charset="0"/>
                <a:ea typeface="Calibri" pitchFamily="34" charset="-122"/>
                <a:cs typeface="Calibri" pitchFamily="34" charset="-120"/>
              </a:rPr>
              <a:t>Wright’s line: organisations cannot scale AI without confidence in the quality, security and governance of their data.</a:t>
            </a:r>
            <a:endParaRPr lang="en-US" sz="1500" dirty="0"/>
          </a:p>
        </p:txBody>
      </p:sp>
      <p:sp>
        <p:nvSpPr>
          <p:cNvPr id="15" name="Text 13"/>
          <p:cNvSpPr/>
          <p:nvPr/>
        </p:nvSpPr>
        <p:spPr>
          <a:xfrm>
            <a:off x="6446520" y="4343400"/>
            <a:ext cx="5120640" cy="1188720"/>
          </a:xfrm>
          <a:prstGeom prst="rect">
            <a:avLst/>
          </a:prstGeom>
          <a:noFill/>
          <a:ln/>
        </p:spPr>
        <p:txBody>
          <a:bodyPr wrap="square"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If the data fabric is weak, the forecast is theatre. The CFO owns that risk.</a:t>
            </a:r>
            <a:endParaRPr lang="en-US" sz="1500" dirty="0"/>
          </a:p>
        </p:txBody>
      </p:sp>
      <p:sp>
        <p:nvSpPr>
          <p:cNvPr id="16" name="Shape 14"/>
          <p:cNvSpPr/>
          <p:nvPr/>
        </p:nvSpPr>
        <p:spPr>
          <a:xfrm>
            <a:off x="0" y="6565392"/>
            <a:ext cx="12191695" cy="292608"/>
          </a:xfrm>
          <a:prstGeom prst="rect">
            <a:avLst/>
          </a:prstGeom>
          <a:solidFill>
            <a:srgbClr val="0B1F3A"/>
          </a:solidFill>
          <a:ln/>
        </p:spPr>
      </p:sp>
      <p:sp>
        <p:nvSpPr>
          <p:cNvPr id="17" name="Text 15"/>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18" name="Text 16"/>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27432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CFO FRAMEWORK  ·  S.C.O.R.E.</a:t>
            </a:r>
            <a:endParaRPr lang="en-US" sz="1200" dirty="0"/>
          </a:p>
        </p:txBody>
      </p:sp>
      <p:sp>
        <p:nvSpPr>
          <p:cNvPr id="5" name="Text 3"/>
          <p:cNvSpPr/>
          <p:nvPr/>
        </p:nvSpPr>
        <p:spPr>
          <a:xfrm>
            <a:off x="457200" y="621792"/>
            <a:ext cx="10972800" cy="365760"/>
          </a:xfrm>
          <a:prstGeom prst="rect">
            <a:avLst/>
          </a:prstGeom>
          <a:noFill/>
          <a:ln/>
        </p:spPr>
        <p:txBody>
          <a:bodyPr wrap="square"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How to fund AI when you cannot yet prove ROI</a:t>
            </a:r>
            <a:endParaRPr lang="en-US" sz="2200" dirty="0"/>
          </a:p>
        </p:txBody>
      </p:sp>
      <p:sp>
        <p:nvSpPr>
          <p:cNvPr id="6" name="Shape 4"/>
          <p:cNvSpPr/>
          <p:nvPr/>
        </p:nvSpPr>
        <p:spPr>
          <a:xfrm>
            <a:off x="411480" y="1097280"/>
            <a:ext cx="11338560" cy="877824"/>
          </a:xfrm>
          <a:prstGeom prst="roundRect">
            <a:avLst>
              <a:gd name="adj" fmla="val 6250"/>
            </a:avLst>
          </a:prstGeom>
          <a:solidFill>
            <a:srgbClr val="FFFFFF"/>
          </a:solidFill>
          <a:ln/>
        </p:spPr>
      </p:sp>
      <p:sp>
        <p:nvSpPr>
          <p:cNvPr id="7" name="Shape 5"/>
          <p:cNvSpPr/>
          <p:nvPr/>
        </p:nvSpPr>
        <p:spPr>
          <a:xfrm>
            <a:off x="548640" y="1243584"/>
            <a:ext cx="585216" cy="585216"/>
          </a:xfrm>
          <a:prstGeom prst="roundRect">
            <a:avLst>
              <a:gd name="adj" fmla="val 9375"/>
            </a:avLst>
          </a:prstGeom>
          <a:solidFill>
            <a:srgbClr val="0B1F3A"/>
          </a:solidFill>
          <a:ln/>
        </p:spPr>
      </p:sp>
      <p:sp>
        <p:nvSpPr>
          <p:cNvPr id="8" name="Text 6"/>
          <p:cNvSpPr/>
          <p:nvPr/>
        </p:nvSpPr>
        <p:spPr>
          <a:xfrm>
            <a:off x="548640" y="1298448"/>
            <a:ext cx="585216" cy="475488"/>
          </a:xfrm>
          <a:prstGeom prst="rect">
            <a:avLst/>
          </a:prstGeom>
          <a:noFill/>
          <a:ln/>
        </p:spPr>
        <p:txBody>
          <a:bodyPr wrap="square" rtlCol="0" anchor="ctr"/>
          <a:lstStyle/>
          <a:p>
            <a:pPr algn="ctr" indent="0" marL="0">
              <a:buNone/>
            </a:pPr>
            <a:r>
              <a:rPr lang="en-US" sz="2200" b="1" dirty="0">
                <a:solidFill>
                  <a:srgbClr val="C9A227"/>
                </a:solidFill>
                <a:latin typeface="Calibri" pitchFamily="34" charset="0"/>
                <a:ea typeface="Calibri" pitchFamily="34" charset="-122"/>
                <a:cs typeface="Calibri" pitchFamily="34" charset="-120"/>
              </a:rPr>
              <a:t>S</a:t>
            </a:r>
            <a:endParaRPr lang="en-US" sz="2200" dirty="0"/>
          </a:p>
        </p:txBody>
      </p:sp>
      <p:sp>
        <p:nvSpPr>
          <p:cNvPr id="9" name="Text 7"/>
          <p:cNvSpPr/>
          <p:nvPr/>
        </p:nvSpPr>
        <p:spPr>
          <a:xfrm>
            <a:off x="1325880" y="1207008"/>
            <a:ext cx="2194560" cy="65836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Scope</a:t>
            </a:r>
            <a:endParaRPr lang="en-US" sz="1600" dirty="0"/>
          </a:p>
        </p:txBody>
      </p:sp>
      <p:sp>
        <p:nvSpPr>
          <p:cNvPr id="10" name="Text 8"/>
          <p:cNvSpPr/>
          <p:nvPr/>
        </p:nvSpPr>
        <p:spPr>
          <a:xfrm>
            <a:off x="3566160" y="1207008"/>
            <a:ext cx="7955280" cy="65836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One workflow. One owner. One baseline. No ‘enterprise AI platform’ until a single process has a measured before-and-after.</a:t>
            </a:r>
            <a:endParaRPr lang="en-US" sz="1400" dirty="0"/>
          </a:p>
        </p:txBody>
      </p:sp>
      <p:sp>
        <p:nvSpPr>
          <p:cNvPr id="11" name="Shape 9"/>
          <p:cNvSpPr/>
          <p:nvPr/>
        </p:nvSpPr>
        <p:spPr>
          <a:xfrm>
            <a:off x="411480" y="2057400"/>
            <a:ext cx="11338560" cy="877824"/>
          </a:xfrm>
          <a:prstGeom prst="roundRect">
            <a:avLst>
              <a:gd name="adj" fmla="val 6250"/>
            </a:avLst>
          </a:prstGeom>
          <a:solidFill>
            <a:srgbClr val="FFFFFF"/>
          </a:solidFill>
          <a:ln/>
        </p:spPr>
      </p:sp>
      <p:sp>
        <p:nvSpPr>
          <p:cNvPr id="12" name="Shape 10"/>
          <p:cNvSpPr/>
          <p:nvPr/>
        </p:nvSpPr>
        <p:spPr>
          <a:xfrm>
            <a:off x="548640" y="2203704"/>
            <a:ext cx="585216" cy="585216"/>
          </a:xfrm>
          <a:prstGeom prst="roundRect">
            <a:avLst>
              <a:gd name="adj" fmla="val 9375"/>
            </a:avLst>
          </a:prstGeom>
          <a:solidFill>
            <a:srgbClr val="0B1F3A"/>
          </a:solidFill>
          <a:ln/>
        </p:spPr>
      </p:sp>
      <p:sp>
        <p:nvSpPr>
          <p:cNvPr id="13" name="Text 11"/>
          <p:cNvSpPr/>
          <p:nvPr/>
        </p:nvSpPr>
        <p:spPr>
          <a:xfrm>
            <a:off x="548640" y="2258568"/>
            <a:ext cx="585216" cy="475488"/>
          </a:xfrm>
          <a:prstGeom prst="rect">
            <a:avLst/>
          </a:prstGeom>
          <a:noFill/>
          <a:ln/>
        </p:spPr>
        <p:txBody>
          <a:bodyPr wrap="square" rtlCol="0" anchor="ctr"/>
          <a:lstStyle/>
          <a:p>
            <a:pPr algn="ctr" indent="0" marL="0">
              <a:buNone/>
            </a:pPr>
            <a:r>
              <a:rPr lang="en-US" sz="2200" b="1" dirty="0">
                <a:solidFill>
                  <a:srgbClr val="C9A227"/>
                </a:solidFill>
                <a:latin typeface="Calibri" pitchFamily="34" charset="0"/>
                <a:ea typeface="Calibri" pitchFamily="34" charset="-122"/>
                <a:cs typeface="Calibri" pitchFamily="34" charset="-120"/>
              </a:rPr>
              <a:t>C</a:t>
            </a:r>
            <a:endParaRPr lang="en-US" sz="2200" dirty="0"/>
          </a:p>
        </p:txBody>
      </p:sp>
      <p:sp>
        <p:nvSpPr>
          <p:cNvPr id="14" name="Text 12"/>
          <p:cNvSpPr/>
          <p:nvPr/>
        </p:nvSpPr>
        <p:spPr>
          <a:xfrm>
            <a:off x="1325880" y="2167128"/>
            <a:ext cx="2194560" cy="65836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Cash link</a:t>
            </a:r>
            <a:endParaRPr lang="en-US" sz="1600" dirty="0"/>
          </a:p>
        </p:txBody>
      </p:sp>
      <p:sp>
        <p:nvSpPr>
          <p:cNvPr id="15" name="Text 13"/>
          <p:cNvSpPr/>
          <p:nvPr/>
        </p:nvSpPr>
        <p:spPr>
          <a:xfrm>
            <a:off x="3566160" y="2167128"/>
            <a:ext cx="7955280" cy="65836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Every tranche must name the cash, working-capital or cost-to-serve effect. If it only ‘improves insight’, it is a research grant.</a:t>
            </a:r>
            <a:endParaRPr lang="en-US" sz="1400" dirty="0"/>
          </a:p>
        </p:txBody>
      </p:sp>
      <p:sp>
        <p:nvSpPr>
          <p:cNvPr id="16" name="Shape 14"/>
          <p:cNvSpPr/>
          <p:nvPr/>
        </p:nvSpPr>
        <p:spPr>
          <a:xfrm>
            <a:off x="411480" y="3017520"/>
            <a:ext cx="11338560" cy="877824"/>
          </a:xfrm>
          <a:prstGeom prst="roundRect">
            <a:avLst>
              <a:gd name="adj" fmla="val 6250"/>
            </a:avLst>
          </a:prstGeom>
          <a:solidFill>
            <a:srgbClr val="FFFFFF"/>
          </a:solidFill>
          <a:ln/>
        </p:spPr>
      </p:sp>
      <p:sp>
        <p:nvSpPr>
          <p:cNvPr id="17" name="Shape 15"/>
          <p:cNvSpPr/>
          <p:nvPr/>
        </p:nvSpPr>
        <p:spPr>
          <a:xfrm>
            <a:off x="548640" y="3163824"/>
            <a:ext cx="585216" cy="585216"/>
          </a:xfrm>
          <a:prstGeom prst="roundRect">
            <a:avLst>
              <a:gd name="adj" fmla="val 9375"/>
            </a:avLst>
          </a:prstGeom>
          <a:solidFill>
            <a:srgbClr val="0B1F3A"/>
          </a:solidFill>
          <a:ln/>
        </p:spPr>
      </p:sp>
      <p:sp>
        <p:nvSpPr>
          <p:cNvPr id="18" name="Text 16"/>
          <p:cNvSpPr/>
          <p:nvPr/>
        </p:nvSpPr>
        <p:spPr>
          <a:xfrm>
            <a:off x="548640" y="3218688"/>
            <a:ext cx="585216" cy="475488"/>
          </a:xfrm>
          <a:prstGeom prst="rect">
            <a:avLst/>
          </a:prstGeom>
          <a:noFill/>
          <a:ln/>
        </p:spPr>
        <p:txBody>
          <a:bodyPr wrap="square" rtlCol="0" anchor="ctr"/>
          <a:lstStyle/>
          <a:p>
            <a:pPr algn="ctr" indent="0" marL="0">
              <a:buNone/>
            </a:pPr>
            <a:r>
              <a:rPr lang="en-US" sz="2200" b="1" dirty="0">
                <a:solidFill>
                  <a:srgbClr val="C9A227"/>
                </a:solidFill>
                <a:latin typeface="Calibri" pitchFamily="34" charset="0"/>
                <a:ea typeface="Calibri" pitchFamily="34" charset="-122"/>
                <a:cs typeface="Calibri" pitchFamily="34" charset="-120"/>
              </a:rPr>
              <a:t>O</a:t>
            </a:r>
            <a:endParaRPr lang="en-US" sz="2200" dirty="0"/>
          </a:p>
        </p:txBody>
      </p:sp>
      <p:sp>
        <p:nvSpPr>
          <p:cNvPr id="19" name="Text 17"/>
          <p:cNvSpPr/>
          <p:nvPr/>
        </p:nvSpPr>
        <p:spPr>
          <a:xfrm>
            <a:off x="1325880" y="3127248"/>
            <a:ext cx="2194560" cy="65836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Objectives</a:t>
            </a:r>
            <a:endParaRPr lang="en-US" sz="1600" dirty="0"/>
          </a:p>
        </p:txBody>
      </p:sp>
      <p:sp>
        <p:nvSpPr>
          <p:cNvPr id="20" name="Text 18"/>
          <p:cNvSpPr/>
          <p:nvPr/>
        </p:nvSpPr>
        <p:spPr>
          <a:xfrm>
            <a:off x="3566160" y="3127248"/>
            <a:ext cx="7955280" cy="65836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Write the decision the model is allowed to influence. If the decision is unchanged, the model has no business case.</a:t>
            </a:r>
            <a:endParaRPr lang="en-US" sz="1400" dirty="0"/>
          </a:p>
        </p:txBody>
      </p:sp>
      <p:sp>
        <p:nvSpPr>
          <p:cNvPr id="21" name="Shape 19"/>
          <p:cNvSpPr/>
          <p:nvPr/>
        </p:nvSpPr>
        <p:spPr>
          <a:xfrm>
            <a:off x="411480" y="3977640"/>
            <a:ext cx="11338560" cy="877824"/>
          </a:xfrm>
          <a:prstGeom prst="roundRect">
            <a:avLst>
              <a:gd name="adj" fmla="val 6250"/>
            </a:avLst>
          </a:prstGeom>
          <a:solidFill>
            <a:srgbClr val="FFFFFF"/>
          </a:solidFill>
          <a:ln/>
        </p:spPr>
      </p:sp>
      <p:sp>
        <p:nvSpPr>
          <p:cNvPr id="22" name="Shape 20"/>
          <p:cNvSpPr/>
          <p:nvPr/>
        </p:nvSpPr>
        <p:spPr>
          <a:xfrm>
            <a:off x="548640" y="4123944"/>
            <a:ext cx="585216" cy="585216"/>
          </a:xfrm>
          <a:prstGeom prst="roundRect">
            <a:avLst>
              <a:gd name="adj" fmla="val 9375"/>
            </a:avLst>
          </a:prstGeom>
          <a:solidFill>
            <a:srgbClr val="0B1F3A"/>
          </a:solidFill>
          <a:ln/>
        </p:spPr>
      </p:sp>
      <p:sp>
        <p:nvSpPr>
          <p:cNvPr id="23" name="Text 21"/>
          <p:cNvSpPr/>
          <p:nvPr/>
        </p:nvSpPr>
        <p:spPr>
          <a:xfrm>
            <a:off x="548640" y="4178808"/>
            <a:ext cx="585216" cy="475488"/>
          </a:xfrm>
          <a:prstGeom prst="rect">
            <a:avLst/>
          </a:prstGeom>
          <a:noFill/>
          <a:ln/>
        </p:spPr>
        <p:txBody>
          <a:bodyPr wrap="square" rtlCol="0" anchor="ctr"/>
          <a:lstStyle/>
          <a:p>
            <a:pPr algn="ctr" indent="0" marL="0">
              <a:buNone/>
            </a:pPr>
            <a:r>
              <a:rPr lang="en-US" sz="2200" b="1" dirty="0">
                <a:solidFill>
                  <a:srgbClr val="C9A227"/>
                </a:solidFill>
                <a:latin typeface="Calibri" pitchFamily="34" charset="0"/>
                <a:ea typeface="Calibri" pitchFamily="34" charset="-122"/>
                <a:cs typeface="Calibri" pitchFamily="34" charset="-120"/>
              </a:rPr>
              <a:t>R</a:t>
            </a:r>
            <a:endParaRPr lang="en-US" sz="2200" dirty="0"/>
          </a:p>
        </p:txBody>
      </p:sp>
      <p:sp>
        <p:nvSpPr>
          <p:cNvPr id="24" name="Text 22"/>
          <p:cNvSpPr/>
          <p:nvPr/>
        </p:nvSpPr>
        <p:spPr>
          <a:xfrm>
            <a:off x="1325880" y="4087368"/>
            <a:ext cx="2194560" cy="65836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Risk &amp; data</a:t>
            </a:r>
            <a:endParaRPr lang="en-US" sz="1600" dirty="0"/>
          </a:p>
        </p:txBody>
      </p:sp>
      <p:sp>
        <p:nvSpPr>
          <p:cNvPr id="25" name="Text 23"/>
          <p:cNvSpPr/>
          <p:nvPr/>
        </p:nvSpPr>
        <p:spPr>
          <a:xfrm>
            <a:off x="3566160" y="4087368"/>
            <a:ext cx="7955280" cy="65836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Security, lineage, human-in-the-loop thresholds, and an audit trail that internal audit can follow without a vendor present.</a:t>
            </a:r>
            <a:endParaRPr lang="en-US" sz="1400" dirty="0"/>
          </a:p>
        </p:txBody>
      </p:sp>
      <p:sp>
        <p:nvSpPr>
          <p:cNvPr id="26" name="Shape 24"/>
          <p:cNvSpPr/>
          <p:nvPr/>
        </p:nvSpPr>
        <p:spPr>
          <a:xfrm>
            <a:off x="411480" y="4937760"/>
            <a:ext cx="11338560" cy="877824"/>
          </a:xfrm>
          <a:prstGeom prst="roundRect">
            <a:avLst>
              <a:gd name="adj" fmla="val 6250"/>
            </a:avLst>
          </a:prstGeom>
          <a:solidFill>
            <a:srgbClr val="FFFFFF"/>
          </a:solidFill>
          <a:ln/>
        </p:spPr>
      </p:sp>
      <p:sp>
        <p:nvSpPr>
          <p:cNvPr id="27" name="Shape 25"/>
          <p:cNvSpPr/>
          <p:nvPr/>
        </p:nvSpPr>
        <p:spPr>
          <a:xfrm>
            <a:off x="548640" y="5084064"/>
            <a:ext cx="585216" cy="585216"/>
          </a:xfrm>
          <a:prstGeom prst="roundRect">
            <a:avLst>
              <a:gd name="adj" fmla="val 9375"/>
            </a:avLst>
          </a:prstGeom>
          <a:solidFill>
            <a:srgbClr val="0B1F3A"/>
          </a:solidFill>
          <a:ln/>
        </p:spPr>
      </p:sp>
      <p:sp>
        <p:nvSpPr>
          <p:cNvPr id="28" name="Text 26"/>
          <p:cNvSpPr/>
          <p:nvPr/>
        </p:nvSpPr>
        <p:spPr>
          <a:xfrm>
            <a:off x="548640" y="5138928"/>
            <a:ext cx="585216" cy="475488"/>
          </a:xfrm>
          <a:prstGeom prst="rect">
            <a:avLst/>
          </a:prstGeom>
          <a:noFill/>
          <a:ln/>
        </p:spPr>
        <p:txBody>
          <a:bodyPr wrap="square" rtlCol="0" anchor="ctr"/>
          <a:lstStyle/>
          <a:p>
            <a:pPr algn="ctr" indent="0" marL="0">
              <a:buNone/>
            </a:pPr>
            <a:r>
              <a:rPr lang="en-US" sz="2200" b="1" dirty="0">
                <a:solidFill>
                  <a:srgbClr val="C9A227"/>
                </a:solidFill>
                <a:latin typeface="Calibri" pitchFamily="34" charset="0"/>
                <a:ea typeface="Calibri" pitchFamily="34" charset="-122"/>
                <a:cs typeface="Calibri" pitchFamily="34" charset="-120"/>
              </a:rPr>
              <a:t>E</a:t>
            </a:r>
            <a:endParaRPr lang="en-US" sz="2200" dirty="0"/>
          </a:p>
        </p:txBody>
      </p:sp>
      <p:sp>
        <p:nvSpPr>
          <p:cNvPr id="29" name="Text 27"/>
          <p:cNvSpPr/>
          <p:nvPr/>
        </p:nvSpPr>
        <p:spPr>
          <a:xfrm>
            <a:off x="1325880" y="5047488"/>
            <a:ext cx="2194560" cy="65836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Evidence</a:t>
            </a:r>
            <a:endParaRPr lang="en-US" sz="1600" dirty="0"/>
          </a:p>
        </p:txBody>
      </p:sp>
      <p:sp>
        <p:nvSpPr>
          <p:cNvPr id="30" name="Text 28"/>
          <p:cNvSpPr/>
          <p:nvPr/>
        </p:nvSpPr>
        <p:spPr>
          <a:xfrm>
            <a:off x="3566160" y="5047488"/>
            <a:ext cx="7955280" cy="65836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A 90-day scorecard: cycle time, forecast error, exception rate, hours released, and $ impact. Kill or scale on evidence, not narrative.</a:t>
            </a:r>
            <a:endParaRPr lang="en-US" sz="1400" dirty="0"/>
          </a:p>
        </p:txBody>
      </p:sp>
      <p:sp>
        <p:nvSpPr>
          <p:cNvPr id="31" name="Shape 29"/>
          <p:cNvSpPr/>
          <p:nvPr/>
        </p:nvSpPr>
        <p:spPr>
          <a:xfrm>
            <a:off x="0" y="6565392"/>
            <a:ext cx="12191695" cy="292608"/>
          </a:xfrm>
          <a:prstGeom prst="rect">
            <a:avLst/>
          </a:prstGeom>
          <a:solidFill>
            <a:srgbClr val="0B1F3A"/>
          </a:solidFill>
          <a:ln/>
        </p:spPr>
      </p:sp>
      <p:sp>
        <p:nvSpPr>
          <p:cNvPr id="32" name="Text 30"/>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33" name="Text 31"/>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p:nvPr/>
        </p:nvSpPr>
        <p:spPr>
          <a:xfrm>
            <a:off x="457200" y="256032"/>
            <a:ext cx="10972800" cy="292608"/>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YOU ARE THE CFO</a:t>
            </a:r>
            <a:endParaRPr lang="en-US" sz="1300" dirty="0"/>
          </a:p>
        </p:txBody>
      </p:sp>
      <p:sp>
        <p:nvSpPr>
          <p:cNvPr id="4" name="Text 2"/>
          <p:cNvSpPr/>
          <p:nvPr/>
        </p:nvSpPr>
        <p:spPr>
          <a:xfrm>
            <a:off x="457200" y="566928"/>
            <a:ext cx="109728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Decision challenge — Tuesday morning, 09:00</a:t>
            </a:r>
            <a:endParaRPr lang="en-US" sz="2400" dirty="0"/>
          </a:p>
        </p:txBody>
      </p:sp>
      <p:sp>
        <p:nvSpPr>
          <p:cNvPr id="5" name="Text 3"/>
          <p:cNvSpPr/>
          <p:nvPr/>
        </p:nvSpPr>
        <p:spPr>
          <a:xfrm>
            <a:off x="457200" y="1051560"/>
            <a:ext cx="11247120" cy="1417320"/>
          </a:xfrm>
          <a:prstGeom prst="rect">
            <a:avLst/>
          </a:prstGeom>
          <a:noFill/>
          <a:ln/>
        </p:spPr>
        <p:txBody>
          <a:bodyPr wrap="square" rtlCol="0" anchor="ctr"/>
          <a:lstStyle/>
          <a:p>
            <a:pPr indent="0" marL="0">
              <a:buNone/>
            </a:pPr>
            <a:r>
              <a:rPr lang="en-US" sz="1500" dirty="0">
                <a:solidFill>
                  <a:srgbClr val="E8DDB8"/>
                </a:solidFill>
                <a:latin typeface="Calibri" pitchFamily="34" charset="0"/>
                <a:ea typeface="Calibri" pitchFamily="34" charset="-122"/>
                <a:cs typeface="Calibri" pitchFamily="34" charset="-120"/>
              </a:rPr>
              <a:t>You are CFO of a $4.8 billion manufacturing group. The CEO and CHRO want a $12 million Year-2 AI programme: agentic close, AI cash forecasting, and an FP&amp;A copilot. Year-1 spend of $4.1 million produced dashboards, a 9-day faster close in two entities, and no documented cash impact. Internal audit says data lineage is incomplete. The board pack is due Thursday.</a:t>
            </a:r>
            <a:endParaRPr lang="en-US" sz="1500" dirty="0"/>
          </a:p>
        </p:txBody>
      </p:sp>
      <p:sp>
        <p:nvSpPr>
          <p:cNvPr id="6" name="Shape 4"/>
          <p:cNvSpPr/>
          <p:nvPr/>
        </p:nvSpPr>
        <p:spPr>
          <a:xfrm>
            <a:off x="457200" y="2606040"/>
            <a:ext cx="11247120" cy="731520"/>
          </a:xfrm>
          <a:prstGeom prst="roundRect">
            <a:avLst>
              <a:gd name="adj" fmla="val 7500"/>
            </a:avLst>
          </a:prstGeom>
          <a:solidFill>
            <a:srgbClr val="12263F"/>
          </a:solidFill>
          <a:ln/>
        </p:spPr>
      </p:sp>
      <p:sp>
        <p:nvSpPr>
          <p:cNvPr id="7" name="Text 5"/>
          <p:cNvSpPr/>
          <p:nvPr/>
        </p:nvSpPr>
        <p:spPr>
          <a:xfrm>
            <a:off x="594360" y="2752344"/>
            <a:ext cx="502920" cy="457200"/>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A</a:t>
            </a:r>
            <a:endParaRPr lang="en-US" sz="2000" dirty="0"/>
          </a:p>
        </p:txBody>
      </p:sp>
      <p:sp>
        <p:nvSpPr>
          <p:cNvPr id="8" name="Text 6"/>
          <p:cNvSpPr/>
          <p:nvPr/>
        </p:nvSpPr>
        <p:spPr>
          <a:xfrm>
            <a:off x="1234440" y="2734056"/>
            <a:ext cx="10241280" cy="475488"/>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Approve the $12m in full. Speed is strategy. Laggards will be priced as analog.</a:t>
            </a:r>
            <a:endParaRPr lang="en-US" sz="1500" dirty="0"/>
          </a:p>
        </p:txBody>
      </p:sp>
      <p:sp>
        <p:nvSpPr>
          <p:cNvPr id="9" name="Shape 7"/>
          <p:cNvSpPr/>
          <p:nvPr/>
        </p:nvSpPr>
        <p:spPr>
          <a:xfrm>
            <a:off x="457200" y="3429000"/>
            <a:ext cx="11247120" cy="731520"/>
          </a:xfrm>
          <a:prstGeom prst="roundRect">
            <a:avLst>
              <a:gd name="adj" fmla="val 7500"/>
            </a:avLst>
          </a:prstGeom>
          <a:solidFill>
            <a:srgbClr val="12263F"/>
          </a:solidFill>
          <a:ln/>
        </p:spPr>
      </p:sp>
      <p:sp>
        <p:nvSpPr>
          <p:cNvPr id="10" name="Text 8"/>
          <p:cNvSpPr/>
          <p:nvPr/>
        </p:nvSpPr>
        <p:spPr>
          <a:xfrm>
            <a:off x="594360" y="3575304"/>
            <a:ext cx="502920" cy="457200"/>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B</a:t>
            </a:r>
            <a:endParaRPr lang="en-US" sz="2000" dirty="0"/>
          </a:p>
        </p:txBody>
      </p:sp>
      <p:sp>
        <p:nvSpPr>
          <p:cNvPr id="11" name="Text 9"/>
          <p:cNvSpPr/>
          <p:nvPr/>
        </p:nvSpPr>
        <p:spPr>
          <a:xfrm>
            <a:off x="1234440" y="3557016"/>
            <a:ext cx="10241280" cy="475488"/>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Approve $3.5m only. One workflow, one cash KPI, 90-day kill-or-scale gate. Freeze the rest.</a:t>
            </a:r>
            <a:endParaRPr lang="en-US" sz="1500" dirty="0"/>
          </a:p>
        </p:txBody>
      </p:sp>
      <p:sp>
        <p:nvSpPr>
          <p:cNvPr id="12" name="Shape 10"/>
          <p:cNvSpPr/>
          <p:nvPr/>
        </p:nvSpPr>
        <p:spPr>
          <a:xfrm>
            <a:off x="457200" y="4251960"/>
            <a:ext cx="11247120" cy="731520"/>
          </a:xfrm>
          <a:prstGeom prst="roundRect">
            <a:avLst>
              <a:gd name="adj" fmla="val 7500"/>
            </a:avLst>
          </a:prstGeom>
          <a:solidFill>
            <a:srgbClr val="12263F"/>
          </a:solidFill>
          <a:ln/>
        </p:spPr>
      </p:sp>
      <p:sp>
        <p:nvSpPr>
          <p:cNvPr id="13" name="Text 11"/>
          <p:cNvSpPr/>
          <p:nvPr/>
        </p:nvSpPr>
        <p:spPr>
          <a:xfrm>
            <a:off x="594360" y="4398264"/>
            <a:ext cx="502920" cy="457200"/>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C</a:t>
            </a:r>
            <a:endParaRPr lang="en-US" sz="2000" dirty="0"/>
          </a:p>
        </p:txBody>
      </p:sp>
      <p:sp>
        <p:nvSpPr>
          <p:cNvPr id="14" name="Text 12"/>
          <p:cNvSpPr/>
          <p:nvPr/>
        </p:nvSpPr>
        <p:spPr>
          <a:xfrm>
            <a:off x="1234440" y="4379976"/>
            <a:ext cx="10241280" cy="475488"/>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Refuse new spend. Demand a forensic ROI file on Year-1 before any further capital is released.</a:t>
            </a:r>
            <a:endParaRPr lang="en-US" sz="1500" dirty="0"/>
          </a:p>
        </p:txBody>
      </p:sp>
      <p:sp>
        <p:nvSpPr>
          <p:cNvPr id="15" name="Shape 13"/>
          <p:cNvSpPr/>
          <p:nvPr/>
        </p:nvSpPr>
        <p:spPr>
          <a:xfrm>
            <a:off x="457200" y="5074920"/>
            <a:ext cx="11247120" cy="731520"/>
          </a:xfrm>
          <a:prstGeom prst="roundRect">
            <a:avLst>
              <a:gd name="adj" fmla="val 7500"/>
            </a:avLst>
          </a:prstGeom>
          <a:solidFill>
            <a:srgbClr val="12263F"/>
          </a:solidFill>
          <a:ln/>
        </p:spPr>
      </p:sp>
      <p:sp>
        <p:nvSpPr>
          <p:cNvPr id="16" name="Text 14"/>
          <p:cNvSpPr/>
          <p:nvPr/>
        </p:nvSpPr>
        <p:spPr>
          <a:xfrm>
            <a:off x="594360" y="5221224"/>
            <a:ext cx="502920" cy="457200"/>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D</a:t>
            </a:r>
            <a:endParaRPr lang="en-US" sz="2000" dirty="0"/>
          </a:p>
        </p:txBody>
      </p:sp>
      <p:sp>
        <p:nvSpPr>
          <p:cNvPr id="17" name="Text 15"/>
          <p:cNvSpPr/>
          <p:nvPr/>
        </p:nvSpPr>
        <p:spPr>
          <a:xfrm>
            <a:off x="1234440" y="5202936"/>
            <a:ext cx="10241280" cy="475488"/>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Ring-fence $2m for data governance and lineage. Pause model spend until audit signs the fabric.</a:t>
            </a:r>
            <a:endParaRPr lang="en-US" sz="1500" dirty="0"/>
          </a:p>
        </p:txBody>
      </p:sp>
      <p:sp>
        <p:nvSpPr>
          <p:cNvPr id="18" name="Shape 16"/>
          <p:cNvSpPr/>
          <p:nvPr/>
        </p:nvSpPr>
        <p:spPr>
          <a:xfrm>
            <a:off x="0" y="6565392"/>
            <a:ext cx="12191695" cy="292608"/>
          </a:xfrm>
          <a:prstGeom prst="rect">
            <a:avLst/>
          </a:prstGeom>
          <a:solidFill>
            <a:srgbClr val="0B1F3A"/>
          </a:solidFill>
          <a:ln/>
        </p:spPr>
      </p:sp>
      <p:sp>
        <p:nvSpPr>
          <p:cNvPr id="19" name="Text 17"/>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20" name="Text 18"/>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27432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TEACHING NOTE  ·  HOW A 2035 CFO THINKS</a:t>
            </a:r>
            <a:endParaRPr lang="en-US" sz="1200" dirty="0"/>
          </a:p>
        </p:txBody>
      </p:sp>
      <p:sp>
        <p:nvSpPr>
          <p:cNvPr id="5" name="Text 3"/>
          <p:cNvSpPr/>
          <p:nvPr/>
        </p:nvSpPr>
        <p:spPr>
          <a:xfrm>
            <a:off x="457200" y="621792"/>
            <a:ext cx="10972800" cy="365760"/>
          </a:xfrm>
          <a:prstGeom prst="rect">
            <a:avLst/>
          </a:prstGeom>
          <a:noFill/>
          <a:ln/>
        </p:spPr>
        <p:txBody>
          <a:bodyPr wrap="square"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There is no free A. There is a defensible B+D.</a:t>
            </a:r>
            <a:endParaRPr lang="en-US" sz="2200" dirty="0"/>
          </a:p>
        </p:txBody>
      </p:sp>
      <p:sp>
        <p:nvSpPr>
          <p:cNvPr id="6" name="Shape 4"/>
          <p:cNvSpPr/>
          <p:nvPr/>
        </p:nvSpPr>
        <p:spPr>
          <a:xfrm>
            <a:off x="411480" y="1143000"/>
            <a:ext cx="11338560" cy="1078992"/>
          </a:xfrm>
          <a:prstGeom prst="roundRect">
            <a:avLst>
              <a:gd name="adj" fmla="val 5085"/>
            </a:avLst>
          </a:prstGeom>
          <a:solidFill>
            <a:srgbClr val="FFFFFF"/>
          </a:solidFill>
          <a:ln/>
        </p:spPr>
      </p:sp>
      <p:sp>
        <p:nvSpPr>
          <p:cNvPr id="7" name="Text 5"/>
          <p:cNvSpPr/>
          <p:nvPr/>
        </p:nvSpPr>
        <p:spPr>
          <a:xfrm>
            <a:off x="640080" y="1234440"/>
            <a:ext cx="10972800" cy="29260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A is a story, not a control.</a:t>
            </a:r>
            <a:endParaRPr lang="en-US" sz="1600" dirty="0"/>
          </a:p>
        </p:txBody>
      </p:sp>
      <p:sp>
        <p:nvSpPr>
          <p:cNvPr id="8" name="Text 6"/>
          <p:cNvSpPr/>
          <p:nvPr/>
        </p:nvSpPr>
        <p:spPr>
          <a:xfrm>
            <a:off x="640080" y="1545336"/>
            <a:ext cx="10972800" cy="56692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Approving $12m on incomplete lineage and no cash effect is how finance becomes the last function to learn what operations already knew: activity is not value.</a:t>
            </a:r>
            <a:endParaRPr lang="en-US" sz="1400" dirty="0"/>
          </a:p>
        </p:txBody>
      </p:sp>
      <p:sp>
        <p:nvSpPr>
          <p:cNvPr id="9" name="Shape 7"/>
          <p:cNvSpPr/>
          <p:nvPr/>
        </p:nvSpPr>
        <p:spPr>
          <a:xfrm>
            <a:off x="411480" y="2331720"/>
            <a:ext cx="11338560" cy="1078992"/>
          </a:xfrm>
          <a:prstGeom prst="roundRect">
            <a:avLst>
              <a:gd name="adj" fmla="val 5085"/>
            </a:avLst>
          </a:prstGeom>
          <a:solidFill>
            <a:srgbClr val="FFFFFF"/>
          </a:solidFill>
          <a:ln/>
        </p:spPr>
      </p:sp>
      <p:sp>
        <p:nvSpPr>
          <p:cNvPr id="10" name="Text 8"/>
          <p:cNvSpPr/>
          <p:nvPr/>
        </p:nvSpPr>
        <p:spPr>
          <a:xfrm>
            <a:off x="640080" y="2423160"/>
            <a:ext cx="10972800" cy="29260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C is politically clean and strategically late.</a:t>
            </a:r>
            <a:endParaRPr lang="en-US" sz="1600" dirty="0"/>
          </a:p>
        </p:txBody>
      </p:sp>
      <p:sp>
        <p:nvSpPr>
          <p:cNvPr id="11" name="Text 9"/>
          <p:cNvSpPr/>
          <p:nvPr/>
        </p:nvSpPr>
        <p:spPr>
          <a:xfrm>
            <a:off x="640080" y="2734056"/>
            <a:ext cx="10972800" cy="56692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A forensic file is necessary. A freeze with no successor design tells the organisation that finance only knows how to say no.</a:t>
            </a:r>
            <a:endParaRPr lang="en-US" sz="1400" dirty="0"/>
          </a:p>
        </p:txBody>
      </p:sp>
      <p:sp>
        <p:nvSpPr>
          <p:cNvPr id="12" name="Shape 10"/>
          <p:cNvSpPr/>
          <p:nvPr/>
        </p:nvSpPr>
        <p:spPr>
          <a:xfrm>
            <a:off x="411480" y="3520440"/>
            <a:ext cx="11338560" cy="1078992"/>
          </a:xfrm>
          <a:prstGeom prst="roundRect">
            <a:avLst>
              <a:gd name="adj" fmla="val 5085"/>
            </a:avLst>
          </a:prstGeom>
          <a:solidFill>
            <a:srgbClr val="FFFFFF"/>
          </a:solidFill>
          <a:ln/>
        </p:spPr>
      </p:sp>
      <p:sp>
        <p:nvSpPr>
          <p:cNvPr id="13" name="Text 11"/>
          <p:cNvSpPr/>
          <p:nvPr/>
        </p:nvSpPr>
        <p:spPr>
          <a:xfrm>
            <a:off x="640080" y="3611880"/>
            <a:ext cx="10972800" cy="29260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B without D repeats Year-1.</a:t>
            </a:r>
            <a:endParaRPr lang="en-US" sz="1600" dirty="0"/>
          </a:p>
        </p:txBody>
      </p:sp>
      <p:sp>
        <p:nvSpPr>
          <p:cNvPr id="14" name="Text 12"/>
          <p:cNvSpPr/>
          <p:nvPr/>
        </p:nvSpPr>
        <p:spPr>
          <a:xfrm>
            <a:off x="640080" y="3922776"/>
            <a:ext cx="10972800" cy="56692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A 90-day gate on a dirty data fabric will produce another pretty dashboard and another unprovable claim.</a:t>
            </a:r>
            <a:endParaRPr lang="en-US" sz="1400" dirty="0"/>
          </a:p>
        </p:txBody>
      </p:sp>
      <p:sp>
        <p:nvSpPr>
          <p:cNvPr id="15" name="Shape 13"/>
          <p:cNvSpPr/>
          <p:nvPr/>
        </p:nvSpPr>
        <p:spPr>
          <a:xfrm>
            <a:off x="411480" y="4709160"/>
            <a:ext cx="11338560" cy="1078992"/>
          </a:xfrm>
          <a:prstGeom prst="roundRect">
            <a:avLst>
              <a:gd name="adj" fmla="val 5085"/>
            </a:avLst>
          </a:prstGeom>
          <a:solidFill>
            <a:srgbClr val="FFFFFF"/>
          </a:solidFill>
          <a:ln/>
        </p:spPr>
      </p:sp>
      <p:sp>
        <p:nvSpPr>
          <p:cNvPr id="16" name="Text 14"/>
          <p:cNvSpPr/>
          <p:nvPr/>
        </p:nvSpPr>
        <p:spPr>
          <a:xfrm>
            <a:off x="640080" y="4800600"/>
            <a:ext cx="10972800" cy="292608"/>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B + D is the adult combination.</a:t>
            </a:r>
            <a:endParaRPr lang="en-US" sz="1600" dirty="0"/>
          </a:p>
        </p:txBody>
      </p:sp>
      <p:sp>
        <p:nvSpPr>
          <p:cNvPr id="17" name="Text 15"/>
          <p:cNvSpPr/>
          <p:nvPr/>
        </p:nvSpPr>
        <p:spPr>
          <a:xfrm>
            <a:off x="640080" y="5111496"/>
            <a:ext cx="10972800" cy="566928"/>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Fund one workflow that touches cash (forecast error, DSO, inventory days, or close-to-cash cycle). Fund the lineage so audit can follow it. Publish the kill criteria before the spend starts.</a:t>
            </a:r>
            <a:endParaRPr lang="en-US" sz="1400" dirty="0"/>
          </a:p>
        </p:txBody>
      </p:sp>
      <p:sp>
        <p:nvSpPr>
          <p:cNvPr id="18" name="Shape 16"/>
          <p:cNvSpPr/>
          <p:nvPr/>
        </p:nvSpPr>
        <p:spPr>
          <a:xfrm>
            <a:off x="0" y="6565392"/>
            <a:ext cx="12191695" cy="292608"/>
          </a:xfrm>
          <a:prstGeom prst="rect">
            <a:avLst/>
          </a:prstGeom>
          <a:solidFill>
            <a:srgbClr val="0B1F3A"/>
          </a:solidFill>
          <a:ln/>
        </p:spPr>
      </p:sp>
      <p:sp>
        <p:nvSpPr>
          <p:cNvPr id="19" name="Text 17"/>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20" name="Text 18"/>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27432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THE 2035 IMPLICATION</a:t>
            </a:r>
            <a:endParaRPr lang="en-US" sz="1200" dirty="0"/>
          </a:p>
        </p:txBody>
      </p:sp>
      <p:sp>
        <p:nvSpPr>
          <p:cNvPr id="5" name="Text 3"/>
          <p:cNvSpPr/>
          <p:nvPr/>
        </p:nvSpPr>
        <p:spPr>
          <a:xfrm>
            <a:off x="457200" y="621792"/>
            <a:ext cx="11247120" cy="502920"/>
          </a:xfrm>
          <a:prstGeom prst="rect">
            <a:avLst/>
          </a:prstGeom>
          <a:noFill/>
          <a:ln/>
        </p:spPr>
        <p:txBody>
          <a:bodyPr wrap="square"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By 2035 the CFO who cannot measure AI is not modern. They are uninsurable.</a:t>
            </a:r>
            <a:endParaRPr lang="en-US" sz="2000" dirty="0"/>
          </a:p>
        </p:txBody>
      </p:sp>
      <p:sp>
        <p:nvSpPr>
          <p:cNvPr id="6" name="Shape 4"/>
          <p:cNvSpPr/>
          <p:nvPr/>
        </p:nvSpPr>
        <p:spPr>
          <a:xfrm>
            <a:off x="411480" y="1280160"/>
            <a:ext cx="5623560" cy="2194560"/>
          </a:xfrm>
          <a:prstGeom prst="roundRect">
            <a:avLst>
              <a:gd name="adj" fmla="val 3333"/>
            </a:avLst>
          </a:prstGeom>
          <a:solidFill>
            <a:srgbClr val="0B1F3A"/>
          </a:solidFill>
          <a:ln/>
        </p:spPr>
      </p:sp>
      <p:sp>
        <p:nvSpPr>
          <p:cNvPr id="7" name="Text 5"/>
          <p:cNvSpPr/>
          <p:nvPr/>
        </p:nvSpPr>
        <p:spPr>
          <a:xfrm>
            <a:off x="640080" y="1463040"/>
            <a:ext cx="5212080" cy="365760"/>
          </a:xfrm>
          <a:prstGeom prst="rect">
            <a:avLst/>
          </a:prstGeom>
          <a:noFill/>
          <a:ln/>
        </p:spPr>
        <p:txBody>
          <a:bodyPr wrap="square" rtlCol="0" anchor="ctr"/>
          <a:lstStyle/>
          <a:p>
            <a:pPr indent="0" marL="0">
              <a:buNone/>
            </a:pPr>
            <a:r>
              <a:rPr lang="en-US" sz="1600" b="1" dirty="0">
                <a:solidFill>
                  <a:srgbClr val="C9A227"/>
                </a:solidFill>
                <a:latin typeface="Calibri" pitchFamily="34" charset="0"/>
                <a:ea typeface="Calibri" pitchFamily="34" charset="-122"/>
                <a:cs typeface="Calibri" pitchFamily="34" charset="-120"/>
              </a:rPr>
              <a:t>Table stakes</a:t>
            </a:r>
            <a:endParaRPr lang="en-US" sz="1600" dirty="0"/>
          </a:p>
        </p:txBody>
      </p:sp>
      <p:sp>
        <p:nvSpPr>
          <p:cNvPr id="8" name="Text 6"/>
          <p:cNvSpPr/>
          <p:nvPr/>
        </p:nvSpPr>
        <p:spPr>
          <a:xfrm>
            <a:off x="640080" y="1920240"/>
            <a:ext cx="5212080" cy="1371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Intuit’s Ashley Still argues the monthly scramble — reconcile, export, stitch — should be largely invisible within five years. That is not a differentiator. It is hygiene.</a:t>
            </a:r>
            <a:endParaRPr lang="en-US" sz="1400" dirty="0"/>
          </a:p>
        </p:txBody>
      </p:sp>
      <p:sp>
        <p:nvSpPr>
          <p:cNvPr id="9" name="Shape 7"/>
          <p:cNvSpPr/>
          <p:nvPr/>
        </p:nvSpPr>
        <p:spPr>
          <a:xfrm>
            <a:off x="6263640" y="1280160"/>
            <a:ext cx="5623560" cy="2194560"/>
          </a:xfrm>
          <a:prstGeom prst="roundRect">
            <a:avLst>
              <a:gd name="adj" fmla="val 3333"/>
            </a:avLst>
          </a:prstGeom>
          <a:solidFill>
            <a:srgbClr val="0B1F3A"/>
          </a:solidFill>
          <a:ln/>
        </p:spPr>
      </p:sp>
      <p:sp>
        <p:nvSpPr>
          <p:cNvPr id="10" name="Text 8"/>
          <p:cNvSpPr/>
          <p:nvPr/>
        </p:nvSpPr>
        <p:spPr>
          <a:xfrm>
            <a:off x="6492240" y="1463040"/>
            <a:ext cx="5212080" cy="365760"/>
          </a:xfrm>
          <a:prstGeom prst="rect">
            <a:avLst/>
          </a:prstGeom>
          <a:noFill/>
          <a:ln/>
        </p:spPr>
        <p:txBody>
          <a:bodyPr wrap="square" rtlCol="0" anchor="ctr"/>
          <a:lstStyle/>
          <a:p>
            <a:pPr indent="0" marL="0">
              <a:buNone/>
            </a:pPr>
            <a:r>
              <a:rPr lang="en-US" sz="1600" b="1" dirty="0">
                <a:solidFill>
                  <a:srgbClr val="C9A227"/>
                </a:solidFill>
                <a:latin typeface="Calibri" pitchFamily="34" charset="0"/>
                <a:ea typeface="Calibri" pitchFamily="34" charset="-122"/>
                <a:cs typeface="Calibri" pitchFamily="34" charset="-120"/>
              </a:rPr>
              <a:t>The new product of finance</a:t>
            </a:r>
            <a:endParaRPr lang="en-US" sz="1600" dirty="0"/>
          </a:p>
        </p:txBody>
      </p:sp>
      <p:sp>
        <p:nvSpPr>
          <p:cNvPr id="11" name="Text 9"/>
          <p:cNvSpPr/>
          <p:nvPr/>
        </p:nvSpPr>
        <p:spPr>
          <a:xfrm>
            <a:off x="6492240" y="1920240"/>
            <a:ext cx="5212080" cy="1371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product is not the report. It is a decision with a documented evidence trail: what the model saw, what the human overrode, and what cash moved.</a:t>
            </a:r>
            <a:endParaRPr lang="en-US" sz="1400" dirty="0"/>
          </a:p>
        </p:txBody>
      </p:sp>
      <p:sp>
        <p:nvSpPr>
          <p:cNvPr id="12" name="Shape 10"/>
          <p:cNvSpPr/>
          <p:nvPr/>
        </p:nvSpPr>
        <p:spPr>
          <a:xfrm>
            <a:off x="411480" y="3611880"/>
            <a:ext cx="5623560" cy="2194560"/>
          </a:xfrm>
          <a:prstGeom prst="roundRect">
            <a:avLst>
              <a:gd name="adj" fmla="val 3333"/>
            </a:avLst>
          </a:prstGeom>
          <a:solidFill>
            <a:srgbClr val="FFFFFF"/>
          </a:solidFill>
          <a:ln/>
        </p:spPr>
      </p:sp>
      <p:sp>
        <p:nvSpPr>
          <p:cNvPr id="13" name="Text 11"/>
          <p:cNvSpPr/>
          <p:nvPr/>
        </p:nvSpPr>
        <p:spPr>
          <a:xfrm>
            <a:off x="640080" y="3794760"/>
            <a:ext cx="5212080" cy="365760"/>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Talent rewrite</a:t>
            </a:r>
            <a:endParaRPr lang="en-US" sz="1600" dirty="0"/>
          </a:p>
        </p:txBody>
      </p:sp>
      <p:sp>
        <p:nvSpPr>
          <p:cNvPr id="14" name="Text 12"/>
          <p:cNvSpPr/>
          <p:nvPr/>
        </p:nvSpPr>
        <p:spPr>
          <a:xfrm>
            <a:off x="640080" y="4251960"/>
            <a:ext cx="5212080" cy="13716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Oliver Wyman: 64% of CFOs expect finance to shift away from junior roles; 91% expect flat or lower headcount. The remaining seats are for people who can design gates, not fill templates.</a:t>
            </a:r>
            <a:endParaRPr lang="en-US" sz="1400" dirty="0"/>
          </a:p>
        </p:txBody>
      </p:sp>
      <p:sp>
        <p:nvSpPr>
          <p:cNvPr id="15" name="Shape 13"/>
          <p:cNvSpPr/>
          <p:nvPr/>
        </p:nvSpPr>
        <p:spPr>
          <a:xfrm>
            <a:off x="6263640" y="3611880"/>
            <a:ext cx="5623560" cy="2194560"/>
          </a:xfrm>
          <a:prstGeom prst="roundRect">
            <a:avLst>
              <a:gd name="adj" fmla="val 3333"/>
            </a:avLst>
          </a:prstGeom>
          <a:solidFill>
            <a:srgbClr val="FFFFFF"/>
          </a:solidFill>
          <a:ln/>
        </p:spPr>
      </p:sp>
      <p:sp>
        <p:nvSpPr>
          <p:cNvPr id="16" name="Text 14"/>
          <p:cNvSpPr/>
          <p:nvPr/>
        </p:nvSpPr>
        <p:spPr>
          <a:xfrm>
            <a:off x="6492240" y="3794760"/>
            <a:ext cx="5212080" cy="365760"/>
          </a:xfrm>
          <a:prstGeom prst="rect">
            <a:avLst/>
          </a:prstGeom>
          <a:noFill/>
          <a:ln/>
        </p:spPr>
        <p:txBody>
          <a:bodyPr wrap="square"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Governance as strategy</a:t>
            </a:r>
            <a:endParaRPr lang="en-US" sz="1600" dirty="0"/>
          </a:p>
        </p:txBody>
      </p:sp>
      <p:sp>
        <p:nvSpPr>
          <p:cNvPr id="17" name="Text 15"/>
          <p:cNvSpPr/>
          <p:nvPr/>
        </p:nvSpPr>
        <p:spPr>
          <a:xfrm>
            <a:off x="6492240" y="4251960"/>
            <a:ext cx="5212080" cy="13716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Deloitte: 75% plan to deploy agentic AI within two years; only 21% have mature governance. Culture is 80% of that governance. Policy PDFs will not save a model that books a wrong accrual.</a:t>
            </a:r>
            <a:endParaRPr lang="en-US" sz="1400" dirty="0"/>
          </a:p>
        </p:txBody>
      </p:sp>
      <p:sp>
        <p:nvSpPr>
          <p:cNvPr id="18" name="Shape 16"/>
          <p:cNvSpPr/>
          <p:nvPr/>
        </p:nvSpPr>
        <p:spPr>
          <a:xfrm>
            <a:off x="0" y="6565392"/>
            <a:ext cx="12191695" cy="292608"/>
          </a:xfrm>
          <a:prstGeom prst="rect">
            <a:avLst/>
          </a:prstGeom>
          <a:solidFill>
            <a:srgbClr val="0B1F3A"/>
          </a:solidFill>
          <a:ln/>
        </p:spPr>
      </p:sp>
      <p:sp>
        <p:nvSpPr>
          <p:cNvPr id="19" name="Text 17"/>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20" name="Text 18"/>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7"/>
          </a:solidFill>
          <a:ln/>
        </p:spPr>
      </p:sp>
      <p:sp>
        <p:nvSpPr>
          <p:cNvPr id="3" name="Shape 1"/>
          <p:cNvSpPr/>
          <p:nvPr/>
        </p:nvSpPr>
        <p:spPr>
          <a:xfrm>
            <a:off x="0" y="0"/>
            <a:ext cx="12191695" cy="109728"/>
          </a:xfrm>
          <a:prstGeom prst="rect">
            <a:avLst/>
          </a:prstGeom>
          <a:solidFill>
            <a:srgbClr val="0B1F3A"/>
          </a:solidFill>
          <a:ln/>
        </p:spPr>
      </p:sp>
      <p:sp>
        <p:nvSpPr>
          <p:cNvPr id="4" name="Text 2"/>
          <p:cNvSpPr/>
          <p:nvPr/>
        </p:nvSpPr>
        <p:spPr>
          <a:xfrm>
            <a:off x="457200" y="320040"/>
            <a:ext cx="10972800" cy="274320"/>
          </a:xfrm>
          <a:prstGeom prst="rect">
            <a:avLst/>
          </a:prstGeom>
          <a:noFill/>
          <a:ln/>
        </p:spPr>
        <p:txBody>
          <a:bodyPr wrap="square"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FIVE LINES TO REMEMBER</a:t>
            </a:r>
            <a:endParaRPr lang="en-US" sz="1200" dirty="0"/>
          </a:p>
        </p:txBody>
      </p:sp>
      <p:sp>
        <p:nvSpPr>
          <p:cNvPr id="5" name="Text 3"/>
          <p:cNvSpPr/>
          <p:nvPr/>
        </p:nvSpPr>
        <p:spPr>
          <a:xfrm>
            <a:off x="457200" y="621792"/>
            <a:ext cx="10972800" cy="365760"/>
          </a:xfrm>
          <a:prstGeom prst="rect">
            <a:avLst/>
          </a:prstGeom>
          <a:noFill/>
          <a:ln/>
        </p:spPr>
        <p:txBody>
          <a:bodyPr wrap="square"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Pin these before the next capital committee</a:t>
            </a:r>
            <a:endParaRPr lang="en-US" sz="2200" dirty="0"/>
          </a:p>
        </p:txBody>
      </p:sp>
      <p:sp>
        <p:nvSpPr>
          <p:cNvPr id="6" name="Shape 4"/>
          <p:cNvSpPr/>
          <p:nvPr/>
        </p:nvSpPr>
        <p:spPr>
          <a:xfrm>
            <a:off x="457200" y="1143000"/>
            <a:ext cx="11247120" cy="841248"/>
          </a:xfrm>
          <a:prstGeom prst="roundRect">
            <a:avLst>
              <a:gd name="adj" fmla="val 6522"/>
            </a:avLst>
          </a:prstGeom>
          <a:solidFill>
            <a:srgbClr val="FFFFFF"/>
          </a:solidFill>
          <a:ln/>
        </p:spPr>
      </p:sp>
      <p:sp>
        <p:nvSpPr>
          <p:cNvPr id="7" name="Shape 5"/>
          <p:cNvSpPr/>
          <p:nvPr/>
        </p:nvSpPr>
        <p:spPr>
          <a:xfrm>
            <a:off x="640080" y="1325880"/>
            <a:ext cx="475488" cy="475488"/>
          </a:xfrm>
          <a:prstGeom prst="ellipse">
            <a:avLst/>
          </a:prstGeom>
          <a:solidFill>
            <a:srgbClr val="0B1F3A"/>
          </a:solidFill>
          <a:ln/>
        </p:spPr>
      </p:sp>
      <p:sp>
        <p:nvSpPr>
          <p:cNvPr id="8" name="Text 6"/>
          <p:cNvSpPr/>
          <p:nvPr/>
        </p:nvSpPr>
        <p:spPr>
          <a:xfrm>
            <a:off x="640080" y="1371600"/>
            <a:ext cx="475488" cy="384048"/>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325880" y="1280160"/>
            <a:ext cx="10149840" cy="566928"/>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Adoption is not transformation. 77% use AI. 14% have a strategy.</a:t>
            </a:r>
            <a:endParaRPr lang="en-US" sz="1600" dirty="0"/>
          </a:p>
        </p:txBody>
      </p:sp>
      <p:sp>
        <p:nvSpPr>
          <p:cNvPr id="10" name="Shape 8"/>
          <p:cNvSpPr/>
          <p:nvPr/>
        </p:nvSpPr>
        <p:spPr>
          <a:xfrm>
            <a:off x="457200" y="2103120"/>
            <a:ext cx="11247120" cy="841248"/>
          </a:xfrm>
          <a:prstGeom prst="roundRect">
            <a:avLst>
              <a:gd name="adj" fmla="val 6522"/>
            </a:avLst>
          </a:prstGeom>
          <a:solidFill>
            <a:srgbClr val="FFFFFF"/>
          </a:solidFill>
          <a:ln/>
        </p:spPr>
      </p:sp>
      <p:sp>
        <p:nvSpPr>
          <p:cNvPr id="11" name="Shape 9"/>
          <p:cNvSpPr/>
          <p:nvPr/>
        </p:nvSpPr>
        <p:spPr>
          <a:xfrm>
            <a:off x="640080" y="2286000"/>
            <a:ext cx="475488" cy="475488"/>
          </a:xfrm>
          <a:prstGeom prst="ellipse">
            <a:avLst/>
          </a:prstGeom>
          <a:solidFill>
            <a:srgbClr val="0B1F3A"/>
          </a:solidFill>
          <a:ln/>
        </p:spPr>
      </p:sp>
      <p:sp>
        <p:nvSpPr>
          <p:cNvPr id="12" name="Text 10"/>
          <p:cNvSpPr/>
          <p:nvPr/>
        </p:nvSpPr>
        <p:spPr>
          <a:xfrm>
            <a:off x="640080" y="2331720"/>
            <a:ext cx="475488" cy="384048"/>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325880" y="2240280"/>
            <a:ext cx="10149840" cy="566928"/>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If you cannot measure ROI, you cannot defend the next tranche to a board or an auditor.</a:t>
            </a:r>
            <a:endParaRPr lang="en-US" sz="1600" dirty="0"/>
          </a:p>
        </p:txBody>
      </p:sp>
      <p:sp>
        <p:nvSpPr>
          <p:cNvPr id="14" name="Shape 12"/>
          <p:cNvSpPr/>
          <p:nvPr/>
        </p:nvSpPr>
        <p:spPr>
          <a:xfrm>
            <a:off x="457200" y="3063240"/>
            <a:ext cx="11247120" cy="841248"/>
          </a:xfrm>
          <a:prstGeom prst="roundRect">
            <a:avLst>
              <a:gd name="adj" fmla="val 6522"/>
            </a:avLst>
          </a:prstGeom>
          <a:solidFill>
            <a:srgbClr val="FFFFFF"/>
          </a:solidFill>
          <a:ln/>
        </p:spPr>
      </p:sp>
      <p:sp>
        <p:nvSpPr>
          <p:cNvPr id="15" name="Shape 13"/>
          <p:cNvSpPr/>
          <p:nvPr/>
        </p:nvSpPr>
        <p:spPr>
          <a:xfrm>
            <a:off x="640080" y="3246120"/>
            <a:ext cx="475488" cy="475488"/>
          </a:xfrm>
          <a:prstGeom prst="ellipse">
            <a:avLst/>
          </a:prstGeom>
          <a:solidFill>
            <a:srgbClr val="0B1F3A"/>
          </a:solidFill>
          <a:ln/>
        </p:spPr>
      </p:sp>
      <p:sp>
        <p:nvSpPr>
          <p:cNvPr id="16" name="Text 14"/>
          <p:cNvSpPr/>
          <p:nvPr/>
        </p:nvSpPr>
        <p:spPr>
          <a:xfrm>
            <a:off x="640080" y="3291840"/>
            <a:ext cx="475488" cy="384048"/>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325880" y="3200400"/>
            <a:ext cx="10149840" cy="566928"/>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Cash is the referee. 83% of CFOs already treat it that way.</a:t>
            </a:r>
            <a:endParaRPr lang="en-US" sz="1600" dirty="0"/>
          </a:p>
        </p:txBody>
      </p:sp>
      <p:sp>
        <p:nvSpPr>
          <p:cNvPr id="18" name="Shape 16"/>
          <p:cNvSpPr/>
          <p:nvPr/>
        </p:nvSpPr>
        <p:spPr>
          <a:xfrm>
            <a:off x="457200" y="4023360"/>
            <a:ext cx="11247120" cy="841248"/>
          </a:xfrm>
          <a:prstGeom prst="roundRect">
            <a:avLst>
              <a:gd name="adj" fmla="val 6522"/>
            </a:avLst>
          </a:prstGeom>
          <a:solidFill>
            <a:srgbClr val="FFFFFF"/>
          </a:solidFill>
          <a:ln/>
        </p:spPr>
      </p:sp>
      <p:sp>
        <p:nvSpPr>
          <p:cNvPr id="19" name="Shape 17"/>
          <p:cNvSpPr/>
          <p:nvPr/>
        </p:nvSpPr>
        <p:spPr>
          <a:xfrm>
            <a:off x="640080" y="4206240"/>
            <a:ext cx="475488" cy="475488"/>
          </a:xfrm>
          <a:prstGeom prst="ellipse">
            <a:avLst/>
          </a:prstGeom>
          <a:solidFill>
            <a:srgbClr val="0B1F3A"/>
          </a:solidFill>
          <a:ln/>
        </p:spPr>
      </p:sp>
      <p:sp>
        <p:nvSpPr>
          <p:cNvPr id="20" name="Text 18"/>
          <p:cNvSpPr/>
          <p:nvPr/>
        </p:nvSpPr>
        <p:spPr>
          <a:xfrm>
            <a:off x="640080" y="4251960"/>
            <a:ext cx="475488" cy="384048"/>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25880" y="4160520"/>
            <a:ext cx="10149840" cy="566928"/>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Data security is not an IT side-quest. It is the licence to scale the model.</a:t>
            </a:r>
            <a:endParaRPr lang="en-US" sz="1600" dirty="0"/>
          </a:p>
        </p:txBody>
      </p:sp>
      <p:sp>
        <p:nvSpPr>
          <p:cNvPr id="22" name="Shape 20"/>
          <p:cNvSpPr/>
          <p:nvPr/>
        </p:nvSpPr>
        <p:spPr>
          <a:xfrm>
            <a:off x="457200" y="4983480"/>
            <a:ext cx="11247120" cy="841248"/>
          </a:xfrm>
          <a:prstGeom prst="roundRect">
            <a:avLst>
              <a:gd name="adj" fmla="val 6522"/>
            </a:avLst>
          </a:prstGeom>
          <a:solidFill>
            <a:srgbClr val="FFFFFF"/>
          </a:solidFill>
          <a:ln/>
        </p:spPr>
      </p:sp>
      <p:sp>
        <p:nvSpPr>
          <p:cNvPr id="23" name="Shape 21"/>
          <p:cNvSpPr/>
          <p:nvPr/>
        </p:nvSpPr>
        <p:spPr>
          <a:xfrm>
            <a:off x="640080" y="5166360"/>
            <a:ext cx="475488" cy="475488"/>
          </a:xfrm>
          <a:prstGeom prst="ellipse">
            <a:avLst/>
          </a:prstGeom>
          <a:solidFill>
            <a:srgbClr val="0B1F3A"/>
          </a:solidFill>
          <a:ln/>
        </p:spPr>
      </p:sp>
      <p:sp>
        <p:nvSpPr>
          <p:cNvPr id="24" name="Text 22"/>
          <p:cNvSpPr/>
          <p:nvPr/>
        </p:nvSpPr>
        <p:spPr>
          <a:xfrm>
            <a:off x="640080" y="5212080"/>
            <a:ext cx="475488" cy="384048"/>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1325880" y="5120640"/>
            <a:ext cx="10149840" cy="566928"/>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S.C.O.R.E. every proposal: Scope, Cash link, Objectives, Risk &amp; data, Evidence.</a:t>
            </a:r>
            <a:endParaRPr lang="en-US" sz="1600" dirty="0"/>
          </a:p>
        </p:txBody>
      </p:sp>
      <p:sp>
        <p:nvSpPr>
          <p:cNvPr id="26" name="Shape 24"/>
          <p:cNvSpPr/>
          <p:nvPr/>
        </p:nvSpPr>
        <p:spPr>
          <a:xfrm>
            <a:off x="0" y="6565392"/>
            <a:ext cx="12191695" cy="292608"/>
          </a:xfrm>
          <a:prstGeom prst="rect">
            <a:avLst/>
          </a:prstGeom>
          <a:solidFill>
            <a:srgbClr val="0B1F3A"/>
          </a:solidFill>
          <a:ln/>
        </p:spPr>
      </p:sp>
      <p:sp>
        <p:nvSpPr>
          <p:cNvPr id="27" name="Text 25"/>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28" name="Text 26"/>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Shape 1"/>
          <p:cNvSpPr/>
          <p:nvPr/>
        </p:nvSpPr>
        <p:spPr>
          <a:xfrm>
            <a:off x="0" y="0"/>
            <a:ext cx="146304" cy="6858000"/>
          </a:xfrm>
          <a:prstGeom prst="rect">
            <a:avLst/>
          </a:prstGeom>
          <a:solidFill>
            <a:srgbClr val="C9A227"/>
          </a:solidFill>
          <a:ln/>
        </p:spPr>
      </p:sp>
      <p:sp>
        <p:nvSpPr>
          <p:cNvPr id="4" name="Text 2"/>
          <p:cNvSpPr/>
          <p:nvPr/>
        </p:nvSpPr>
        <p:spPr>
          <a:xfrm>
            <a:off x="502920" y="365760"/>
            <a:ext cx="10972800" cy="256032"/>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CONTINUE THE CONVERSATION</a:t>
            </a:r>
            <a:endParaRPr lang="en-US" sz="1300" dirty="0"/>
          </a:p>
        </p:txBody>
      </p:sp>
      <p:sp>
        <p:nvSpPr>
          <p:cNvPr id="5" name="Text 3"/>
          <p:cNvSpPr/>
          <p:nvPr/>
        </p:nvSpPr>
        <p:spPr>
          <a:xfrm>
            <a:off x="502920" y="777240"/>
            <a:ext cx="10972800" cy="4572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Dr. Debasis Pahi</a:t>
            </a:r>
            <a:endParaRPr lang="en-US" sz="3200" dirty="0"/>
          </a:p>
        </p:txBody>
      </p:sp>
      <p:sp>
        <p:nvSpPr>
          <p:cNvPr id="6" name="Text 4"/>
          <p:cNvSpPr/>
          <p:nvPr/>
        </p:nvSpPr>
        <p:spPr>
          <a:xfrm>
            <a:off x="502920" y="1280160"/>
            <a:ext cx="10972800" cy="640080"/>
          </a:xfrm>
          <a:prstGeom prst="rect">
            <a:avLst/>
          </a:prstGeom>
          <a:noFill/>
          <a:ln/>
        </p:spPr>
        <p:txBody>
          <a:bodyPr wrap="square" rtlCol="0" anchor="ctr"/>
          <a:lstStyle/>
          <a:p>
            <a:pPr indent="0" marL="0">
              <a:buNone/>
            </a:pPr>
            <a:r>
              <a:rPr lang="en-US" sz="1600" dirty="0">
                <a:solidFill>
                  <a:srgbClr val="E8DDB8"/>
                </a:solidFill>
                <a:latin typeface="Calibri" pitchFamily="34" charset="0"/>
                <a:ea typeface="Calibri" pitchFamily="34" charset="-122"/>
                <a:cs typeface="Calibri" pitchFamily="34" charset="-120"/>
              </a:rPr>
              <a:t>Ph.D., Indian Institute of Technology Kharagpur</a:t>
            </a:r>
            <a:endParaRPr lang="en-US" sz="1600" dirty="0"/>
          </a:p>
          <a:p>
            <a:pPr indent="0" marL="0">
              <a:buNone/>
            </a:pPr>
            <a:r>
              <a:rPr lang="en-US" sz="1600" dirty="0">
                <a:solidFill>
                  <a:srgbClr val="E8DDB8"/>
                </a:solidFill>
                <a:latin typeface="Calibri" pitchFamily="34" charset="0"/>
                <a:ea typeface="Calibri" pitchFamily="34" charset="-122"/>
                <a:cs typeface="Calibri" pitchFamily="34" charset="-120"/>
              </a:rPr>
              <a:t>Academic Director  ·  FUTURE CFO 2035</a:t>
            </a:r>
            <a:endParaRPr lang="en-US" sz="1600" dirty="0"/>
          </a:p>
        </p:txBody>
      </p:sp>
      <p:sp>
        <p:nvSpPr>
          <p:cNvPr id="7" name="Text 5"/>
          <p:cNvSpPr/>
          <p:nvPr/>
        </p:nvSpPr>
        <p:spPr>
          <a:xfrm>
            <a:off x="502920" y="2103120"/>
            <a:ext cx="11155680" cy="105156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Write the decision you would take on the $12 million tranche — A, B, C, D, or your own hybrid — and the one cash KPI you would put on the scorecard. Send it. Argue it. That is how a CFO is trained.</a:t>
            </a:r>
            <a:endParaRPr lang="en-US" sz="1600" dirty="0"/>
          </a:p>
        </p:txBody>
      </p:sp>
      <p:sp>
        <p:nvSpPr>
          <p:cNvPr id="8" name="Text 6"/>
          <p:cNvSpPr/>
          <p:nvPr/>
        </p:nvSpPr>
        <p:spPr>
          <a:xfrm>
            <a:off x="502920" y="3291840"/>
            <a:ext cx="2011680" cy="41148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Email</a:t>
            </a:r>
            <a:endParaRPr lang="en-US" sz="1400" dirty="0"/>
          </a:p>
        </p:txBody>
      </p:sp>
      <p:sp>
        <p:nvSpPr>
          <p:cNvPr id="9" name="Text 7"/>
          <p:cNvSpPr/>
          <p:nvPr/>
        </p:nvSpPr>
        <p:spPr>
          <a:xfrm>
            <a:off x="2560320" y="3291840"/>
            <a:ext cx="9144000" cy="41148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viralgyandk@gmail.com</a:t>
            </a:r>
            <a:endParaRPr lang="en-US" sz="1500" dirty="0"/>
          </a:p>
        </p:txBody>
      </p:sp>
      <p:sp>
        <p:nvSpPr>
          <p:cNvPr id="10" name="Text 8"/>
          <p:cNvSpPr/>
          <p:nvPr/>
        </p:nvSpPr>
        <p:spPr>
          <a:xfrm>
            <a:off x="502920" y="3794760"/>
            <a:ext cx="2011680" cy="41148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GitHub</a:t>
            </a:r>
            <a:endParaRPr lang="en-US" sz="1400" dirty="0"/>
          </a:p>
        </p:txBody>
      </p:sp>
      <p:sp>
        <p:nvSpPr>
          <p:cNvPr id="11" name="Text 9"/>
          <p:cNvSpPr/>
          <p:nvPr/>
        </p:nvSpPr>
        <p:spPr>
          <a:xfrm>
            <a:off x="2560320" y="3794760"/>
            <a:ext cx="9144000" cy="41148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github.com/viralgyandk-lang/future-cfo-2035</a:t>
            </a:r>
            <a:endParaRPr lang="en-US" sz="1500" dirty="0"/>
          </a:p>
        </p:txBody>
      </p:sp>
      <p:sp>
        <p:nvSpPr>
          <p:cNvPr id="12" name="Text 10"/>
          <p:cNvSpPr/>
          <p:nvPr/>
        </p:nvSpPr>
        <p:spPr>
          <a:xfrm>
            <a:off x="502920" y="4297680"/>
            <a:ext cx="2011680" cy="41148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Programme</a:t>
            </a:r>
            <a:endParaRPr lang="en-US" sz="1400" dirty="0"/>
          </a:p>
        </p:txBody>
      </p:sp>
      <p:sp>
        <p:nvSpPr>
          <p:cNvPr id="13" name="Text 11"/>
          <p:cNvSpPr/>
          <p:nvPr/>
        </p:nvSpPr>
        <p:spPr>
          <a:xfrm>
            <a:off x="2560320" y="4297680"/>
            <a:ext cx="9144000" cy="41148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FUTURE CFO 2035  ·  Daily Classroom Briefing</a:t>
            </a:r>
            <a:endParaRPr lang="en-US" sz="1500" dirty="0"/>
          </a:p>
        </p:txBody>
      </p:sp>
      <p:sp>
        <p:nvSpPr>
          <p:cNvPr id="14" name="Text 12"/>
          <p:cNvSpPr/>
          <p:nvPr/>
        </p:nvSpPr>
        <p:spPr>
          <a:xfrm>
            <a:off x="502920" y="4800600"/>
            <a:ext cx="2011680" cy="41148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Today’s slug</a:t>
            </a:r>
            <a:endParaRPr lang="en-US" sz="1400" dirty="0"/>
          </a:p>
        </p:txBody>
      </p:sp>
      <p:sp>
        <p:nvSpPr>
          <p:cNvPr id="15" name="Text 13"/>
          <p:cNvSpPr/>
          <p:nvPr/>
        </p:nvSpPr>
        <p:spPr>
          <a:xfrm>
            <a:off x="2560320" y="4800600"/>
            <a:ext cx="9144000" cy="41148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episodes/2026/08/2026-08-31-ai-roi-blind-spot/</a:t>
            </a:r>
            <a:endParaRPr lang="en-US" sz="1500" dirty="0"/>
          </a:p>
        </p:txBody>
      </p:sp>
      <p:sp>
        <p:nvSpPr>
          <p:cNvPr id="16" name="Text 14"/>
          <p:cNvSpPr/>
          <p:nvPr/>
        </p:nvSpPr>
        <p:spPr>
          <a:xfrm>
            <a:off x="502920" y="5394960"/>
            <a:ext cx="11155680" cy="457200"/>
          </a:xfrm>
          <a:prstGeom prst="rect">
            <a:avLst/>
          </a:prstGeom>
          <a:noFill/>
          <a:ln/>
        </p:spPr>
        <p:txBody>
          <a:bodyPr wrap="square"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CTA  ·  Subscribe. Sit in the chair tomorrow. The numbers will not wait for a perfect model.</a:t>
            </a:r>
            <a:endParaRPr lang="en-US" sz="1500" dirty="0"/>
          </a:p>
        </p:txBody>
      </p:sp>
      <p:sp>
        <p:nvSpPr>
          <p:cNvPr id="17" name="Shape 15"/>
          <p:cNvSpPr/>
          <p:nvPr/>
        </p:nvSpPr>
        <p:spPr>
          <a:xfrm>
            <a:off x="0" y="6565392"/>
            <a:ext cx="12191695" cy="292608"/>
          </a:xfrm>
          <a:prstGeom prst="rect">
            <a:avLst/>
          </a:prstGeom>
          <a:solidFill>
            <a:srgbClr val="0B1F3A"/>
          </a:solidFill>
          <a:ln/>
        </p:spPr>
      </p:sp>
      <p:sp>
        <p:nvSpPr>
          <p:cNvPr id="18" name="Text 16"/>
          <p:cNvSpPr/>
          <p:nvPr/>
        </p:nvSpPr>
        <p:spPr>
          <a:xfrm>
            <a:off x="256032" y="6583680"/>
            <a:ext cx="10241280" cy="237744"/>
          </a:xfrm>
          <a:prstGeom prst="rect">
            <a:avLst/>
          </a:prstGeom>
          <a:noFill/>
          <a:ln/>
        </p:spPr>
        <p:txBody>
          <a:bodyPr wrap="square" lIns="0" tIns="0" rIns="0" bIns="0" rtlCol="0" anchor="ctr"/>
          <a:lstStyle/>
          <a:p>
            <a:pPr indent="0" marL="0">
              <a:buNone/>
            </a:pPr>
            <a:r>
              <a:rPr lang="en-US" sz="1000" dirty="0">
                <a:solidFill>
                  <a:srgbClr val="D4C9A8"/>
                </a:solidFill>
                <a:latin typeface="Calibri" pitchFamily="34" charset="0"/>
                <a:ea typeface="Calibri" pitchFamily="34" charset="-122"/>
                <a:cs typeface="Calibri" pitchFamily="34" charset="-120"/>
              </a:rPr>
              <a:t>Dr. Debasis Pahi | The AI ROI Blind Spot | 31 August 2026</a:t>
            </a:r>
            <a:endParaRPr lang="en-US" sz="1000" dirty="0"/>
          </a:p>
        </p:txBody>
      </p:sp>
      <p:sp>
        <p:nvSpPr>
          <p:cNvPr id="19" name="Text 17"/>
          <p:cNvSpPr/>
          <p:nvPr/>
        </p:nvSpPr>
        <p:spPr>
          <a:xfrm>
            <a:off x="10607040" y="6583680"/>
            <a:ext cx="1325880" cy="237744"/>
          </a:xfrm>
          <a:prstGeom prst="rect">
            <a:avLst/>
          </a:prstGeom>
          <a:noFill/>
          <a:ln/>
        </p:spPr>
        <p:txBody>
          <a:bodyPr wrap="square" lIns="0" tIns="0" rIns="0" bIns="0" rtlCol="0" anchor="ctr"/>
          <a:lstStyle/>
          <a:p>
            <a:pPr algn="r" indent="0" marL="0">
              <a:buNone/>
            </a:pPr>
            <a:r>
              <a:rPr lang="en-US" sz="1000" dirty="0">
                <a:solidFill>
                  <a:srgbClr val="C9A227"/>
                </a:solidFill>
                <a:latin typeface="Calibri" pitchFamily="34" charset="0"/>
                <a:ea typeface="Calibri" pitchFamily="34" charset="-122"/>
                <a:cs typeface="Calibri" pitchFamily="34" charset="-120"/>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ROI Blind Spot</dc:title>
  <dc:subject>Future CFO 2035 Daily — 31 August 2026</dc:subject>
  <dc:creator>Dr. Debasis Pahi</dc:creator>
  <cp:lastModifiedBy>Dr. Debasis Pahi</cp:lastModifiedBy>
  <cp:revision>1</cp:revision>
  <dcterms:created xsi:type="dcterms:W3CDTF">2026-08-31T00:02:59Z</dcterms:created>
  <dcterms:modified xsi:type="dcterms:W3CDTF">2026-08-31T00:02:59Z</dcterms:modified>
</cp:coreProperties>
</file>