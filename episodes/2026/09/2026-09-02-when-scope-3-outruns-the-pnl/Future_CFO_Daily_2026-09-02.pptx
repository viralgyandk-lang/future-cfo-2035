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Shape 1"/>
          <p:cNvSpPr/>
          <p:nvPr/>
        </p:nvSpPr>
        <p:spPr>
          <a:xfrm>
            <a:off x="0" y="0"/>
            <a:ext cx="164592" cy="6858000"/>
          </a:xfrm>
          <a:prstGeom prst="rect">
            <a:avLst/>
          </a:prstGeom>
          <a:solidFill>
            <a:srgbClr val="C9A227"/>
          </a:solidFill>
          <a:ln/>
        </p:spPr>
      </p:sp>
      <p:sp>
        <p:nvSpPr>
          <p:cNvPr id="4" name="Text 2"/>
          <p:cNvSpPr/>
          <p:nvPr/>
        </p:nvSpPr>
        <p:spPr>
          <a:xfrm>
            <a:off x="548640" y="502920"/>
            <a:ext cx="10972800"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FUTURE CFO 2035  ·  DAILY EPISODE</a:t>
            </a:r>
            <a:endParaRPr lang="en-US" sz="1200" dirty="0"/>
          </a:p>
        </p:txBody>
      </p:sp>
      <p:sp>
        <p:nvSpPr>
          <p:cNvPr id="5" name="Text 3"/>
          <p:cNvSpPr/>
          <p:nvPr/>
        </p:nvSpPr>
        <p:spPr>
          <a:xfrm>
            <a:off x="548640" y="1463040"/>
            <a:ext cx="10972800" cy="10058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When Scope 3 Outruns the P&amp;L</a:t>
            </a:r>
            <a:endParaRPr lang="en-US" sz="3600" dirty="0"/>
          </a:p>
        </p:txBody>
      </p:sp>
      <p:sp>
        <p:nvSpPr>
          <p:cNvPr id="6" name="Text 4"/>
          <p:cNvSpPr/>
          <p:nvPr/>
        </p:nvSpPr>
        <p:spPr>
          <a:xfrm>
            <a:off x="548640" y="2606040"/>
            <a:ext cx="10241280" cy="914400"/>
          </a:xfrm>
          <a:prstGeom prst="rect">
            <a:avLst/>
          </a:prstGeom>
          <a:noFill/>
          <a:ln/>
        </p:spPr>
        <p:txBody>
          <a:bodyPr wrap="square" rtlCol="0" anchor="ctr"/>
          <a:lstStyle/>
          <a:p>
            <a:pPr indent="0" marL="0">
              <a:buNone/>
            </a:pPr>
            <a:r>
              <a:rPr lang="en-US" sz="1800" dirty="0">
                <a:solidFill>
                  <a:srgbClr val="F4EFE4"/>
                </a:solidFill>
                <a:latin typeface="Calibri" pitchFamily="34" charset="0"/>
                <a:ea typeface="Calibri" pitchFamily="34" charset="-122"/>
                <a:cs typeface="Calibri" pitchFamily="34" charset="-120"/>
              </a:rPr>
              <a:t>IIM Bangalore’s FY 2024–25 BRSR study, SEBI’s FY 2026–27 assurance glide path, and the CFO who still treats carbon as a footnote.</a:t>
            </a:r>
            <a:endParaRPr lang="en-US" sz="1800" dirty="0"/>
          </a:p>
        </p:txBody>
      </p:sp>
      <p:sp>
        <p:nvSpPr>
          <p:cNvPr id="7" name="Text 5"/>
          <p:cNvSpPr/>
          <p:nvPr/>
        </p:nvSpPr>
        <p:spPr>
          <a:xfrm>
            <a:off x="548640" y="4114800"/>
            <a:ext cx="10058400" cy="1097280"/>
          </a:xfrm>
          <a:prstGeom prst="rect">
            <a:avLst/>
          </a:prstGeom>
          <a:noFill/>
          <a:ln/>
        </p:spPr>
        <p:txBody>
          <a:bodyPr wrap="square" rtlCol="0" anchor="ctr"/>
          <a:lstStyle/>
          <a:p>
            <a:pPr indent="0" marL="0">
              <a:buNone/>
            </a:pPr>
            <a:r>
              <a:rPr lang="en-US" sz="1400" dirty="0">
                <a:solidFill>
                  <a:srgbClr val="8A93A0"/>
                </a:solidFill>
                <a:latin typeface="Calibri" pitchFamily="34" charset="0"/>
                <a:ea typeface="Calibri" pitchFamily="34" charset="-122"/>
                <a:cs typeface="Calibri" pitchFamily="34" charset="-120"/>
              </a:rPr>
              <a:t>Classroom case  ·  02 September 2026</a:t>
            </a:r>
            <a:endParaRPr lang="en-US" sz="1400" dirty="0"/>
          </a:p>
          <a:p>
            <a:pPr indent="0" marL="0">
              <a:buNone/>
            </a:pPr>
            <a:r>
              <a:rPr lang="en-US" sz="1400" dirty="0">
                <a:solidFill>
                  <a:srgbClr val="8A93A0"/>
                </a:solidFill>
                <a:latin typeface="Calibri" pitchFamily="34" charset="0"/>
                <a:ea typeface="Calibri" pitchFamily="34" charset="-122"/>
                <a:cs typeface="Calibri" pitchFamily="34" charset="-120"/>
              </a:rPr>
              <a:t>Created and Copyright by Dr. Debasis Pahi</a:t>
            </a:r>
            <a:endParaRPr lang="en-US" sz="1400" dirty="0"/>
          </a:p>
          <a:p>
            <a:pPr indent="0" marL="0">
              <a:buNone/>
            </a:pPr>
            <a:r>
              <a:rPr lang="en-US" sz="1400" dirty="0">
                <a:solidFill>
                  <a:srgbClr val="8A93A0"/>
                </a:solidFill>
                <a:latin typeface="Calibri" pitchFamily="34" charset="0"/>
                <a:ea typeface="Calibri" pitchFamily="34" charset="-122"/>
                <a:cs typeface="Calibri" pitchFamily="34" charset="-120"/>
              </a:rPr>
              <a:t>Assistant Professor, Model Degree College Malkangiri  ·  Ph.D., IIT Kharagpur</a:t>
            </a:r>
            <a:endParaRPr lang="en-US" sz="1400" dirty="0"/>
          </a:p>
        </p:txBody>
      </p:sp>
      <p:sp>
        <p:nvSpPr>
          <p:cNvPr id="8" name="Shape 6"/>
          <p:cNvSpPr/>
          <p:nvPr/>
        </p:nvSpPr>
        <p:spPr>
          <a:xfrm>
            <a:off x="0" y="6537960"/>
            <a:ext cx="12188952" cy="320040"/>
          </a:xfrm>
          <a:prstGeom prst="rect">
            <a:avLst/>
          </a:prstGeom>
          <a:solidFill>
            <a:srgbClr val="0B1F3A"/>
          </a:solidFill>
          <a:ln/>
        </p:spPr>
      </p:sp>
      <p:sp>
        <p:nvSpPr>
          <p:cNvPr id="9" name="Text 7"/>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1/12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74320"/>
          </a:xfrm>
          <a:prstGeom prst="rect">
            <a:avLst/>
          </a:prstGeom>
          <a:noFill/>
          <a:ln/>
        </p:spPr>
        <p:txBody>
          <a:bodyPr wrap="square" rtlCol="0" anchor="ctr"/>
          <a:lstStyle/>
          <a:p>
            <a:pPr indent="0" marL="0">
              <a:buNone/>
            </a:pPr>
            <a:r>
              <a:rPr lang="en-US" sz="1200" b="1" spc="150" kern="0" dirty="0">
                <a:solidFill>
                  <a:srgbClr val="C9A227"/>
                </a:solidFill>
                <a:latin typeface="Calibri" pitchFamily="34" charset="0"/>
                <a:ea typeface="Calibri" pitchFamily="34" charset="-122"/>
                <a:cs typeface="Calibri" pitchFamily="34" charset="-120"/>
              </a:rPr>
              <a:t>WHY THIS BRIEFING EXISTS TODAY</a:t>
            </a:r>
            <a:endParaRPr lang="en-US" sz="1200" dirty="0"/>
          </a:p>
        </p:txBody>
      </p:sp>
      <p:sp>
        <p:nvSpPr>
          <p:cNvPr id="4" name="Text 2"/>
          <p:cNvSpPr/>
          <p:nvPr/>
        </p:nvSpPr>
        <p:spPr>
          <a:xfrm>
            <a:off x="457200" y="530352"/>
            <a:ext cx="10972800" cy="411480"/>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Three clocks are running at once</a:t>
            </a:r>
            <a:endParaRPr lang="en-US" sz="2600" dirty="0"/>
          </a:p>
        </p:txBody>
      </p:sp>
      <p:sp>
        <p:nvSpPr>
          <p:cNvPr id="5" name="Shape 3"/>
          <p:cNvSpPr/>
          <p:nvPr/>
        </p:nvSpPr>
        <p:spPr>
          <a:xfrm>
            <a:off x="411480" y="1188720"/>
            <a:ext cx="3657600" cy="4480560"/>
          </a:xfrm>
          <a:prstGeom prst="roundRect">
            <a:avLst>
              <a:gd name="adj" fmla="val 2000"/>
            </a:avLst>
          </a:prstGeom>
          <a:solidFill>
            <a:srgbClr val="FFFFFF"/>
          </a:solidFill>
          <a:ln/>
        </p:spPr>
      </p:sp>
      <p:sp>
        <p:nvSpPr>
          <p:cNvPr id="6" name="Shape 4"/>
          <p:cNvSpPr/>
          <p:nvPr/>
        </p:nvSpPr>
        <p:spPr>
          <a:xfrm>
            <a:off x="411480" y="1188720"/>
            <a:ext cx="3657600" cy="109728"/>
          </a:xfrm>
          <a:prstGeom prst="rect">
            <a:avLst/>
          </a:prstGeom>
          <a:solidFill>
            <a:srgbClr val="C9A227"/>
          </a:solidFill>
          <a:ln/>
        </p:spPr>
      </p:sp>
      <p:sp>
        <p:nvSpPr>
          <p:cNvPr id="7" name="Text 5"/>
          <p:cNvSpPr/>
          <p:nvPr/>
        </p:nvSpPr>
        <p:spPr>
          <a:xfrm>
            <a:off x="594360" y="1463040"/>
            <a:ext cx="329184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THE DATA</a:t>
            </a:r>
            <a:endParaRPr lang="en-US" sz="1400" dirty="0"/>
          </a:p>
        </p:txBody>
      </p:sp>
      <p:sp>
        <p:nvSpPr>
          <p:cNvPr id="8" name="Text 6"/>
          <p:cNvSpPr/>
          <p:nvPr/>
        </p:nvSpPr>
        <p:spPr>
          <a:xfrm>
            <a:off x="594360" y="1965960"/>
            <a:ext cx="3291840" cy="3291840"/>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IIM Bangalore’s Supply Chain Management Centre published, in August 2026, a study of 982 valid BRSR filings for FY 2024–25 across 22 NSE sectors.</a:t>
            </a:r>
            <a:endParaRPr lang="en-US" sz="1500" dirty="0"/>
          </a:p>
        </p:txBody>
      </p:sp>
      <p:sp>
        <p:nvSpPr>
          <p:cNvPr id="9" name="Shape 7"/>
          <p:cNvSpPr/>
          <p:nvPr/>
        </p:nvSpPr>
        <p:spPr>
          <a:xfrm>
            <a:off x="4251960" y="1188720"/>
            <a:ext cx="3657600" cy="4480560"/>
          </a:xfrm>
          <a:prstGeom prst="roundRect">
            <a:avLst>
              <a:gd name="adj" fmla="val 2000"/>
            </a:avLst>
          </a:prstGeom>
          <a:solidFill>
            <a:srgbClr val="FFFFFF"/>
          </a:solidFill>
          <a:ln/>
        </p:spPr>
      </p:sp>
      <p:sp>
        <p:nvSpPr>
          <p:cNvPr id="10" name="Shape 8"/>
          <p:cNvSpPr/>
          <p:nvPr/>
        </p:nvSpPr>
        <p:spPr>
          <a:xfrm>
            <a:off x="4251960" y="1188720"/>
            <a:ext cx="3657600" cy="109728"/>
          </a:xfrm>
          <a:prstGeom prst="rect">
            <a:avLst/>
          </a:prstGeom>
          <a:solidFill>
            <a:srgbClr val="C9A227"/>
          </a:solidFill>
          <a:ln/>
        </p:spPr>
      </p:sp>
      <p:sp>
        <p:nvSpPr>
          <p:cNvPr id="11" name="Text 9"/>
          <p:cNvSpPr/>
          <p:nvPr/>
        </p:nvSpPr>
        <p:spPr>
          <a:xfrm>
            <a:off x="4434840" y="1463040"/>
            <a:ext cx="329184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THE STATUTE</a:t>
            </a:r>
            <a:endParaRPr lang="en-US" sz="1400" dirty="0"/>
          </a:p>
        </p:txBody>
      </p:sp>
      <p:sp>
        <p:nvSpPr>
          <p:cNvPr id="12" name="Text 10"/>
          <p:cNvSpPr/>
          <p:nvPr/>
        </p:nvSpPr>
        <p:spPr>
          <a:xfrm>
            <a:off x="4434840" y="1965960"/>
            <a:ext cx="3291840" cy="3291840"/>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SEBI’s BRSR Core glide path reaches the top 1,000 listed entities by market capitalisation in FY 2026–27. Assessment or reasonable assurance is no longer optional for that cohort.</a:t>
            </a:r>
            <a:endParaRPr lang="en-US" sz="1500" dirty="0"/>
          </a:p>
        </p:txBody>
      </p:sp>
      <p:sp>
        <p:nvSpPr>
          <p:cNvPr id="13" name="Shape 11"/>
          <p:cNvSpPr/>
          <p:nvPr/>
        </p:nvSpPr>
        <p:spPr>
          <a:xfrm>
            <a:off x="8092440" y="1188720"/>
            <a:ext cx="3657600" cy="4480560"/>
          </a:xfrm>
          <a:prstGeom prst="roundRect">
            <a:avLst>
              <a:gd name="adj" fmla="val 2000"/>
            </a:avLst>
          </a:prstGeom>
          <a:solidFill>
            <a:srgbClr val="FFFFFF"/>
          </a:solidFill>
          <a:ln/>
        </p:spPr>
      </p:sp>
      <p:sp>
        <p:nvSpPr>
          <p:cNvPr id="14" name="Shape 12"/>
          <p:cNvSpPr/>
          <p:nvPr/>
        </p:nvSpPr>
        <p:spPr>
          <a:xfrm>
            <a:off x="8092440" y="1188720"/>
            <a:ext cx="3657600" cy="109728"/>
          </a:xfrm>
          <a:prstGeom prst="rect">
            <a:avLst/>
          </a:prstGeom>
          <a:solidFill>
            <a:srgbClr val="C9A227"/>
          </a:solidFill>
          <a:ln/>
        </p:spPr>
      </p:sp>
      <p:sp>
        <p:nvSpPr>
          <p:cNvPr id="15" name="Text 13"/>
          <p:cNvSpPr/>
          <p:nvPr/>
        </p:nvSpPr>
        <p:spPr>
          <a:xfrm>
            <a:off x="8275320" y="1463040"/>
            <a:ext cx="3291840" cy="365760"/>
          </a:xfrm>
          <a:prstGeom prst="rect">
            <a:avLst/>
          </a:prstGeom>
          <a:noFill/>
          <a:ln/>
        </p:spPr>
        <p:txBody>
          <a:bodyPr wrap="square"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THE GAP</a:t>
            </a:r>
            <a:endParaRPr lang="en-US" sz="1400" dirty="0"/>
          </a:p>
        </p:txBody>
      </p:sp>
      <p:sp>
        <p:nvSpPr>
          <p:cNvPr id="16" name="Text 14"/>
          <p:cNvSpPr/>
          <p:nvPr/>
        </p:nvSpPr>
        <p:spPr>
          <a:xfrm>
            <a:off x="8275320" y="1965960"/>
            <a:ext cx="3291840" cy="3291840"/>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Disclosed Scope 3 already exceeds combined Scope 1 and 2. More than half of filers still do not report Scope 3 at all.</a:t>
            </a:r>
            <a:endParaRPr lang="en-US" sz="1500" dirty="0"/>
          </a:p>
        </p:txBody>
      </p:sp>
      <p:sp>
        <p:nvSpPr>
          <p:cNvPr id="17" name="Shape 15"/>
          <p:cNvSpPr/>
          <p:nvPr/>
        </p:nvSpPr>
        <p:spPr>
          <a:xfrm>
            <a:off x="0" y="6537960"/>
            <a:ext cx="12188952" cy="320040"/>
          </a:xfrm>
          <a:prstGeom prst="rect">
            <a:avLst/>
          </a:prstGeom>
          <a:solidFill>
            <a:srgbClr val="0B1F3A"/>
          </a:solidFill>
          <a:ln/>
        </p:spPr>
      </p:sp>
      <p:sp>
        <p:nvSpPr>
          <p:cNvPr id="18" name="Text 16"/>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2/12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THE NUMBERS THAT SURVIVE AUDIT</a:t>
            </a:r>
            <a:endParaRPr lang="en-US" sz="1200" dirty="0"/>
          </a:p>
        </p:txBody>
      </p:sp>
      <p:sp>
        <p:nvSpPr>
          <p:cNvPr id="4" name="Text 2"/>
          <p:cNvSpPr/>
          <p:nvPr/>
        </p:nvSpPr>
        <p:spPr>
          <a:xfrm>
            <a:off x="457200" y="502920"/>
            <a:ext cx="10972800" cy="365760"/>
          </a:xfrm>
          <a:prstGeom prst="rect">
            <a:avLst/>
          </a:prstGeom>
          <a:noFill/>
          <a:ln/>
        </p:spPr>
        <p:txBody>
          <a:bodyPr wrap="square" rtlCol="0" anchor="ctr"/>
          <a:lstStyle/>
          <a:p>
            <a:pPr indent="0" marL="0">
              <a:buNone/>
            </a:pPr>
            <a:r>
              <a:rPr lang="en-US" sz="2400" b="1" dirty="0">
                <a:solidFill>
                  <a:srgbClr val="0B1F3A"/>
                </a:solidFill>
                <a:latin typeface="Calibri" pitchFamily="34" charset="0"/>
                <a:ea typeface="Calibri" pitchFamily="34" charset="-122"/>
                <a:cs typeface="Calibri" pitchFamily="34" charset="-120"/>
              </a:rPr>
              <a:t>IIMB SCMC · BRSR FY 2024–25 · n = 982</a:t>
            </a:r>
            <a:endParaRPr lang="en-US" sz="2400" dirty="0"/>
          </a:p>
        </p:txBody>
      </p:sp>
      <p:sp>
        <p:nvSpPr>
          <p:cNvPr id="5" name="Shape 3"/>
          <p:cNvSpPr/>
          <p:nvPr/>
        </p:nvSpPr>
        <p:spPr>
          <a:xfrm>
            <a:off x="411480" y="1097280"/>
            <a:ext cx="3657600" cy="2286000"/>
          </a:xfrm>
          <a:prstGeom prst="roundRect">
            <a:avLst>
              <a:gd name="adj" fmla="val 2400"/>
            </a:avLst>
          </a:prstGeom>
          <a:solidFill>
            <a:srgbClr val="0B1F3A"/>
          </a:solidFill>
          <a:ln/>
        </p:spPr>
      </p:sp>
      <p:sp>
        <p:nvSpPr>
          <p:cNvPr id="6" name="Text 4"/>
          <p:cNvSpPr/>
          <p:nvPr/>
        </p:nvSpPr>
        <p:spPr>
          <a:xfrm>
            <a:off x="594360" y="132588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53.1%</a:t>
            </a:r>
            <a:endParaRPr lang="en-US" sz="2800" dirty="0"/>
          </a:p>
        </p:txBody>
      </p:sp>
      <p:sp>
        <p:nvSpPr>
          <p:cNvPr id="7" name="Text 5"/>
          <p:cNvSpPr/>
          <p:nvPr/>
        </p:nvSpPr>
        <p:spPr>
          <a:xfrm>
            <a:off x="594360" y="205740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of companies increased operational GHG footprint</a:t>
            </a:r>
            <a:endParaRPr lang="en-US" sz="1400" dirty="0"/>
          </a:p>
        </p:txBody>
      </p:sp>
      <p:sp>
        <p:nvSpPr>
          <p:cNvPr id="8" name="Shape 6"/>
          <p:cNvSpPr/>
          <p:nvPr/>
        </p:nvSpPr>
        <p:spPr>
          <a:xfrm>
            <a:off x="4251960" y="1097280"/>
            <a:ext cx="3657600" cy="2286000"/>
          </a:xfrm>
          <a:prstGeom prst="roundRect">
            <a:avLst>
              <a:gd name="adj" fmla="val 2400"/>
            </a:avLst>
          </a:prstGeom>
          <a:solidFill>
            <a:srgbClr val="0B1F3A"/>
          </a:solidFill>
          <a:ln/>
        </p:spPr>
      </p:sp>
      <p:sp>
        <p:nvSpPr>
          <p:cNvPr id="9" name="Text 7"/>
          <p:cNvSpPr/>
          <p:nvPr/>
        </p:nvSpPr>
        <p:spPr>
          <a:xfrm>
            <a:off x="4434840" y="132588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4.29%</a:t>
            </a:r>
            <a:endParaRPr lang="en-US" sz="2800" dirty="0"/>
          </a:p>
        </p:txBody>
      </p:sp>
      <p:sp>
        <p:nvSpPr>
          <p:cNvPr id="10" name="Text 8"/>
          <p:cNvSpPr/>
          <p:nvPr/>
        </p:nvSpPr>
        <p:spPr>
          <a:xfrm>
            <a:off x="4434840" y="205740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rise in absolute Scope 1 + 2 year on year</a:t>
            </a:r>
            <a:endParaRPr lang="en-US" sz="1400" dirty="0"/>
          </a:p>
        </p:txBody>
      </p:sp>
      <p:sp>
        <p:nvSpPr>
          <p:cNvPr id="11" name="Shape 9"/>
          <p:cNvSpPr/>
          <p:nvPr/>
        </p:nvSpPr>
        <p:spPr>
          <a:xfrm>
            <a:off x="8092440" y="1097280"/>
            <a:ext cx="3657600" cy="2286000"/>
          </a:xfrm>
          <a:prstGeom prst="roundRect">
            <a:avLst>
              <a:gd name="adj" fmla="val 2400"/>
            </a:avLst>
          </a:prstGeom>
          <a:solidFill>
            <a:srgbClr val="0B1F3A"/>
          </a:solidFill>
          <a:ln/>
        </p:spPr>
      </p:sp>
      <p:sp>
        <p:nvSpPr>
          <p:cNvPr id="12" name="Text 10"/>
          <p:cNvSpPr/>
          <p:nvPr/>
        </p:nvSpPr>
        <p:spPr>
          <a:xfrm>
            <a:off x="8275320" y="132588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1.48 bn</a:t>
            </a:r>
            <a:endParaRPr lang="en-US" sz="2800" dirty="0"/>
          </a:p>
        </p:txBody>
      </p:sp>
      <p:sp>
        <p:nvSpPr>
          <p:cNvPr id="13" name="Text 11"/>
          <p:cNvSpPr/>
          <p:nvPr/>
        </p:nvSpPr>
        <p:spPr>
          <a:xfrm>
            <a:off x="8275320" y="205740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tCO₂e disclosed Scope 3 — already larger than 1.31 bn combined Scope 1+2</a:t>
            </a:r>
            <a:endParaRPr lang="en-US" sz="1400" dirty="0"/>
          </a:p>
        </p:txBody>
      </p:sp>
      <p:sp>
        <p:nvSpPr>
          <p:cNvPr id="14" name="Shape 12"/>
          <p:cNvSpPr/>
          <p:nvPr/>
        </p:nvSpPr>
        <p:spPr>
          <a:xfrm>
            <a:off x="411480" y="3566160"/>
            <a:ext cx="3657600" cy="2286000"/>
          </a:xfrm>
          <a:prstGeom prst="roundRect">
            <a:avLst>
              <a:gd name="adj" fmla="val 2400"/>
            </a:avLst>
          </a:prstGeom>
          <a:solidFill>
            <a:srgbClr val="0B1F3A"/>
          </a:solidFill>
          <a:ln/>
        </p:spPr>
      </p:sp>
      <p:sp>
        <p:nvSpPr>
          <p:cNvPr id="15" name="Text 13"/>
          <p:cNvSpPr/>
          <p:nvPr/>
        </p:nvSpPr>
        <p:spPr>
          <a:xfrm>
            <a:off x="594360" y="379476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57.1%</a:t>
            </a:r>
            <a:endParaRPr lang="en-US" sz="2800" dirty="0"/>
          </a:p>
        </p:txBody>
      </p:sp>
      <p:sp>
        <p:nvSpPr>
          <p:cNvPr id="16" name="Text 14"/>
          <p:cNvSpPr/>
          <p:nvPr/>
        </p:nvSpPr>
        <p:spPr>
          <a:xfrm>
            <a:off x="594360" y="452628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of listed entities still do not report Scope 3</a:t>
            </a:r>
            <a:endParaRPr lang="en-US" sz="1400" dirty="0"/>
          </a:p>
        </p:txBody>
      </p:sp>
      <p:sp>
        <p:nvSpPr>
          <p:cNvPr id="17" name="Shape 15"/>
          <p:cNvSpPr/>
          <p:nvPr/>
        </p:nvSpPr>
        <p:spPr>
          <a:xfrm>
            <a:off x="4251960" y="3566160"/>
            <a:ext cx="3657600" cy="2286000"/>
          </a:xfrm>
          <a:prstGeom prst="roundRect">
            <a:avLst>
              <a:gd name="adj" fmla="val 2400"/>
            </a:avLst>
          </a:prstGeom>
          <a:solidFill>
            <a:srgbClr val="0B1F3A"/>
          </a:solidFill>
          <a:ln/>
        </p:spPr>
      </p:sp>
      <p:sp>
        <p:nvSpPr>
          <p:cNvPr id="18" name="Text 16"/>
          <p:cNvSpPr/>
          <p:nvPr/>
        </p:nvSpPr>
        <p:spPr>
          <a:xfrm>
            <a:off x="4434840" y="379476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68.4%</a:t>
            </a:r>
            <a:endParaRPr lang="en-US" sz="2800" dirty="0"/>
          </a:p>
        </p:txBody>
      </p:sp>
      <p:sp>
        <p:nvSpPr>
          <p:cNvPr id="19" name="Text 17"/>
          <p:cNvSpPr/>
          <p:nvPr/>
        </p:nvSpPr>
        <p:spPr>
          <a:xfrm>
            <a:off x="4434840" y="452628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derive under 20% of energy from renewables</a:t>
            </a:r>
            <a:endParaRPr lang="en-US" sz="1400" dirty="0"/>
          </a:p>
        </p:txBody>
      </p:sp>
      <p:sp>
        <p:nvSpPr>
          <p:cNvPr id="20" name="Shape 18"/>
          <p:cNvSpPr/>
          <p:nvPr/>
        </p:nvSpPr>
        <p:spPr>
          <a:xfrm>
            <a:off x="8092440" y="3566160"/>
            <a:ext cx="3657600" cy="2286000"/>
          </a:xfrm>
          <a:prstGeom prst="roundRect">
            <a:avLst>
              <a:gd name="adj" fmla="val 2400"/>
            </a:avLst>
          </a:prstGeom>
          <a:solidFill>
            <a:srgbClr val="0B1F3A"/>
          </a:solidFill>
          <a:ln/>
        </p:spPr>
      </p:sp>
      <p:sp>
        <p:nvSpPr>
          <p:cNvPr id="21" name="Text 19"/>
          <p:cNvSpPr/>
          <p:nvPr/>
        </p:nvSpPr>
        <p:spPr>
          <a:xfrm>
            <a:off x="8275320" y="3794760"/>
            <a:ext cx="3291840" cy="640080"/>
          </a:xfrm>
          <a:prstGeom prst="rect">
            <a:avLst/>
          </a:prstGeom>
          <a:noFill/>
          <a:ln/>
        </p:spPr>
        <p:txBody>
          <a:bodyPr wrap="square" rtlCol="0" anchor="ctr"/>
          <a:lstStyle/>
          <a:p>
            <a:pPr indent="0" marL="0">
              <a:buNone/>
            </a:pPr>
            <a:r>
              <a:rPr lang="en-US" sz="2800" b="1" dirty="0">
                <a:solidFill>
                  <a:srgbClr val="C9A227"/>
                </a:solidFill>
                <a:latin typeface="Calibri" pitchFamily="34" charset="0"/>
                <a:ea typeface="Calibri" pitchFamily="34" charset="-122"/>
                <a:cs typeface="Calibri" pitchFamily="34" charset="-120"/>
              </a:rPr>
              <a:t>77%</a:t>
            </a:r>
            <a:endParaRPr lang="en-US" sz="2800" dirty="0"/>
          </a:p>
        </p:txBody>
      </p:sp>
      <p:sp>
        <p:nvSpPr>
          <p:cNvPr id="22" name="Text 20"/>
          <p:cNvSpPr/>
          <p:nvPr/>
        </p:nvSpPr>
        <p:spPr>
          <a:xfrm>
            <a:off x="8275320" y="4526280"/>
            <a:ext cx="3291840" cy="1051560"/>
          </a:xfrm>
          <a:prstGeom prst="rect">
            <a:avLst/>
          </a:prstGeom>
          <a:noFill/>
          <a:ln/>
        </p:spPr>
        <p:txBody>
          <a:bodyPr wrap="square" rtlCol="0" anchor="ctr"/>
          <a:lstStyle/>
          <a:p>
            <a:pPr indent="0" marL="0">
              <a:buNone/>
            </a:pPr>
            <a:r>
              <a:rPr lang="en-US" sz="1400" dirty="0">
                <a:solidFill>
                  <a:srgbClr val="F4EFE4"/>
                </a:solidFill>
                <a:latin typeface="Calibri" pitchFamily="34" charset="0"/>
                <a:ea typeface="Calibri" pitchFamily="34" charset="-122"/>
                <a:cs typeface="Calibri" pitchFamily="34" charset="-120"/>
              </a:rPr>
              <a:t>do not treat discharge, or cannot report treatment</a:t>
            </a:r>
            <a:endParaRPr lang="en-US" sz="1400" dirty="0"/>
          </a:p>
        </p:txBody>
      </p:sp>
      <p:sp>
        <p:nvSpPr>
          <p:cNvPr id="23" name="Shape 21"/>
          <p:cNvSpPr/>
          <p:nvPr/>
        </p:nvSpPr>
        <p:spPr>
          <a:xfrm>
            <a:off x="0" y="6537960"/>
            <a:ext cx="12188952" cy="320040"/>
          </a:xfrm>
          <a:prstGeom prst="rect">
            <a:avLst/>
          </a:prstGeom>
          <a:solidFill>
            <a:srgbClr val="0B1F3A"/>
          </a:solidFill>
          <a:ln/>
        </p:spPr>
      </p:sp>
      <p:sp>
        <p:nvSpPr>
          <p:cNvPr id="24" name="Text 22"/>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3/12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WHERE THE TONNES ACTUALLY MOVED</a:t>
            </a:r>
            <a:endParaRPr lang="en-US" sz="1200" dirty="0"/>
          </a:p>
        </p:txBody>
      </p:sp>
      <p:sp>
        <p:nvSpPr>
          <p:cNvPr id="4" name="Text 2"/>
          <p:cNvSpPr/>
          <p:nvPr/>
        </p:nvSpPr>
        <p:spPr>
          <a:xfrm>
            <a:off x="457200" y="502920"/>
            <a:ext cx="10972800" cy="365760"/>
          </a:xfrm>
          <a:prstGeom prst="rect">
            <a:avLst/>
          </a:prstGeom>
          <a:noFill/>
          <a:ln/>
        </p:spPr>
        <p:txBody>
          <a:bodyPr wrap="square" rtlCol="0" anchor="ctr"/>
          <a:lstStyle/>
          <a:p>
            <a:pPr indent="0" marL="0">
              <a:buNone/>
            </a:pPr>
            <a:r>
              <a:rPr lang="en-US" sz="2400" b="1" dirty="0">
                <a:solidFill>
                  <a:srgbClr val="0B1F3A"/>
                </a:solidFill>
                <a:latin typeface="Calibri" pitchFamily="34" charset="0"/>
                <a:ea typeface="Calibri" pitchFamily="34" charset="-122"/>
                <a:cs typeface="Calibri" pitchFamily="34" charset="-120"/>
              </a:rPr>
              <a:t>Energy, water, and the illusion of intensity</a:t>
            </a:r>
            <a:endParaRPr lang="en-US" sz="2400" dirty="0"/>
          </a:p>
        </p:txBody>
      </p:sp>
      <p:sp>
        <p:nvSpPr>
          <p:cNvPr id="5" name="Shape 3"/>
          <p:cNvSpPr/>
          <p:nvPr/>
        </p:nvSpPr>
        <p:spPr>
          <a:xfrm>
            <a:off x="411480" y="1051560"/>
            <a:ext cx="11338560" cy="932688"/>
          </a:xfrm>
          <a:prstGeom prst="roundRect">
            <a:avLst>
              <a:gd name="adj" fmla="val 3922"/>
            </a:avLst>
          </a:prstGeom>
          <a:solidFill>
            <a:srgbClr val="FFFFFF"/>
          </a:solidFill>
          <a:ln/>
        </p:spPr>
      </p:sp>
      <p:sp>
        <p:nvSpPr>
          <p:cNvPr id="6" name="Shape 4"/>
          <p:cNvSpPr/>
          <p:nvPr/>
        </p:nvSpPr>
        <p:spPr>
          <a:xfrm>
            <a:off x="411480" y="1051560"/>
            <a:ext cx="109728" cy="932688"/>
          </a:xfrm>
          <a:prstGeom prst="rect">
            <a:avLst/>
          </a:prstGeom>
          <a:solidFill>
            <a:srgbClr val="2A9D8F"/>
          </a:solidFill>
          <a:ln/>
        </p:spPr>
      </p:sp>
      <p:sp>
        <p:nvSpPr>
          <p:cNvPr id="7" name="Text 5"/>
          <p:cNvSpPr/>
          <p:nvPr/>
        </p:nvSpPr>
        <p:spPr>
          <a:xfrm>
            <a:off x="685800" y="1097280"/>
            <a:ext cx="10881360" cy="841248"/>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Power sector: ~32.9 million tCO₂e of a 53.7 million tCO₂e net increase in operational emissions. Energy-intensive industries still set the national corporate climate path.</a:t>
            </a:r>
            <a:endParaRPr lang="en-US" sz="1400" dirty="0"/>
          </a:p>
        </p:txBody>
      </p:sp>
      <p:sp>
        <p:nvSpPr>
          <p:cNvPr id="8" name="Shape 6"/>
          <p:cNvSpPr/>
          <p:nvPr/>
        </p:nvSpPr>
        <p:spPr>
          <a:xfrm>
            <a:off x="411480" y="2057400"/>
            <a:ext cx="11338560" cy="932688"/>
          </a:xfrm>
          <a:prstGeom prst="roundRect">
            <a:avLst>
              <a:gd name="adj" fmla="val 3922"/>
            </a:avLst>
          </a:prstGeom>
          <a:solidFill>
            <a:srgbClr val="FFFFFF"/>
          </a:solidFill>
          <a:ln/>
        </p:spPr>
      </p:sp>
      <p:sp>
        <p:nvSpPr>
          <p:cNvPr id="9" name="Shape 7"/>
          <p:cNvSpPr/>
          <p:nvPr/>
        </p:nvSpPr>
        <p:spPr>
          <a:xfrm>
            <a:off x="411480" y="2057400"/>
            <a:ext cx="109728" cy="932688"/>
          </a:xfrm>
          <a:prstGeom prst="rect">
            <a:avLst/>
          </a:prstGeom>
          <a:solidFill>
            <a:srgbClr val="2A9D8F"/>
          </a:solidFill>
          <a:ln/>
        </p:spPr>
      </p:sp>
      <p:sp>
        <p:nvSpPr>
          <p:cNvPr id="10" name="Text 8"/>
          <p:cNvSpPr/>
          <p:nvPr/>
        </p:nvSpPr>
        <p:spPr>
          <a:xfrm>
            <a:off x="685800" y="2103120"/>
            <a:ext cx="10881360" cy="841248"/>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Renewables: 68.43% of evaluated companies take under 20% of energy from renewable sources. 37.58% raised absolute energy use by more than 10% year on year.</a:t>
            </a:r>
            <a:endParaRPr lang="en-US" sz="1400" dirty="0"/>
          </a:p>
        </p:txBody>
      </p:sp>
      <p:sp>
        <p:nvSpPr>
          <p:cNvPr id="11" name="Shape 9"/>
          <p:cNvSpPr/>
          <p:nvPr/>
        </p:nvSpPr>
        <p:spPr>
          <a:xfrm>
            <a:off x="411480" y="3063240"/>
            <a:ext cx="11338560" cy="932688"/>
          </a:xfrm>
          <a:prstGeom prst="roundRect">
            <a:avLst>
              <a:gd name="adj" fmla="val 3922"/>
            </a:avLst>
          </a:prstGeom>
          <a:solidFill>
            <a:srgbClr val="FFFFFF"/>
          </a:solidFill>
          <a:ln/>
        </p:spPr>
      </p:sp>
      <p:sp>
        <p:nvSpPr>
          <p:cNvPr id="12" name="Shape 10"/>
          <p:cNvSpPr/>
          <p:nvPr/>
        </p:nvSpPr>
        <p:spPr>
          <a:xfrm>
            <a:off x="411480" y="3063240"/>
            <a:ext cx="109728" cy="932688"/>
          </a:xfrm>
          <a:prstGeom prst="rect">
            <a:avLst/>
          </a:prstGeom>
          <a:solidFill>
            <a:srgbClr val="C9A227"/>
          </a:solidFill>
          <a:ln/>
        </p:spPr>
      </p:sp>
      <p:sp>
        <p:nvSpPr>
          <p:cNvPr id="13" name="Text 11"/>
          <p:cNvSpPr/>
          <p:nvPr/>
        </p:nvSpPr>
        <p:spPr>
          <a:xfrm>
            <a:off x="685800" y="3108960"/>
            <a:ext cx="10881360" cy="841248"/>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Intensity is not innocence. Energy intensity per rupee of turnover improved — output grew faster than energy. Boards quote intensity. Lenders and ISSB readers will still ask about tonnes.</a:t>
            </a:r>
            <a:endParaRPr lang="en-US" sz="1400" dirty="0"/>
          </a:p>
        </p:txBody>
      </p:sp>
      <p:sp>
        <p:nvSpPr>
          <p:cNvPr id="14" name="Shape 12"/>
          <p:cNvSpPr/>
          <p:nvPr/>
        </p:nvSpPr>
        <p:spPr>
          <a:xfrm>
            <a:off x="411480" y="4069080"/>
            <a:ext cx="11338560" cy="932688"/>
          </a:xfrm>
          <a:prstGeom prst="roundRect">
            <a:avLst>
              <a:gd name="adj" fmla="val 3922"/>
            </a:avLst>
          </a:prstGeom>
          <a:solidFill>
            <a:srgbClr val="FFFFFF"/>
          </a:solidFill>
          <a:ln/>
        </p:spPr>
      </p:sp>
      <p:sp>
        <p:nvSpPr>
          <p:cNvPr id="15" name="Shape 13"/>
          <p:cNvSpPr/>
          <p:nvPr/>
        </p:nvSpPr>
        <p:spPr>
          <a:xfrm>
            <a:off x="411480" y="4069080"/>
            <a:ext cx="109728" cy="932688"/>
          </a:xfrm>
          <a:prstGeom prst="rect">
            <a:avLst/>
          </a:prstGeom>
          <a:solidFill>
            <a:srgbClr val="2A9D8F"/>
          </a:solidFill>
          <a:ln/>
        </p:spPr>
      </p:sp>
      <p:sp>
        <p:nvSpPr>
          <p:cNvPr id="16" name="Text 14"/>
          <p:cNvSpPr/>
          <p:nvPr/>
        </p:nvSpPr>
        <p:spPr>
          <a:xfrm>
            <a:off x="685800" y="4114800"/>
            <a:ext cx="10881360" cy="841248"/>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Water: 33.60% raised withdrawal by more than 10%. 76.07% consume 80–100% of what they withdraw. 323 companies reported a year-on-year decline of over 10% in treated discharge ratio.</a:t>
            </a:r>
            <a:endParaRPr lang="en-US" sz="1400" dirty="0"/>
          </a:p>
        </p:txBody>
      </p:sp>
      <p:sp>
        <p:nvSpPr>
          <p:cNvPr id="17" name="Shape 15"/>
          <p:cNvSpPr/>
          <p:nvPr/>
        </p:nvSpPr>
        <p:spPr>
          <a:xfrm>
            <a:off x="411480" y="5074920"/>
            <a:ext cx="11338560" cy="932688"/>
          </a:xfrm>
          <a:prstGeom prst="roundRect">
            <a:avLst>
              <a:gd name="adj" fmla="val 3922"/>
            </a:avLst>
          </a:prstGeom>
          <a:solidFill>
            <a:srgbClr val="FFFFFF"/>
          </a:solidFill>
          <a:ln/>
        </p:spPr>
      </p:sp>
      <p:sp>
        <p:nvSpPr>
          <p:cNvPr id="18" name="Shape 16"/>
          <p:cNvSpPr/>
          <p:nvPr/>
        </p:nvSpPr>
        <p:spPr>
          <a:xfrm>
            <a:off x="411480" y="5074920"/>
            <a:ext cx="109728" cy="932688"/>
          </a:xfrm>
          <a:prstGeom prst="rect">
            <a:avLst/>
          </a:prstGeom>
          <a:solidFill>
            <a:srgbClr val="2A9D8F"/>
          </a:solidFill>
          <a:ln/>
        </p:spPr>
      </p:sp>
      <p:sp>
        <p:nvSpPr>
          <p:cNvPr id="19" name="Text 17"/>
          <p:cNvSpPr/>
          <p:nvPr/>
        </p:nvSpPr>
        <p:spPr>
          <a:xfrm>
            <a:off x="685800" y="5120640"/>
            <a:ext cx="10881360" cy="841248"/>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Reporting holes: 47.15% failed to report physical-output energy intensity. Nearly one-third could not give year-on-year change in renewable share.</a:t>
            </a:r>
            <a:endParaRPr lang="en-US" sz="1400" dirty="0"/>
          </a:p>
        </p:txBody>
      </p:sp>
      <p:sp>
        <p:nvSpPr>
          <p:cNvPr id="20" name="Shape 18"/>
          <p:cNvSpPr/>
          <p:nvPr/>
        </p:nvSpPr>
        <p:spPr>
          <a:xfrm>
            <a:off x="0" y="6537960"/>
            <a:ext cx="12188952" cy="320040"/>
          </a:xfrm>
          <a:prstGeom prst="rect">
            <a:avLst/>
          </a:prstGeom>
          <a:solidFill>
            <a:srgbClr val="0B1F3A"/>
          </a:solidFill>
          <a:ln/>
        </p:spPr>
      </p:sp>
      <p:sp>
        <p:nvSpPr>
          <p:cNvPr id="21" name="Text 19"/>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4/12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THE REGULATORY CLOCK</a:t>
            </a:r>
            <a:endParaRPr lang="en-US" sz="1200" dirty="0"/>
          </a:p>
        </p:txBody>
      </p:sp>
      <p:sp>
        <p:nvSpPr>
          <p:cNvPr id="4" name="Text 2"/>
          <p:cNvSpPr/>
          <p:nvPr/>
        </p:nvSpPr>
        <p:spPr>
          <a:xfrm>
            <a:off x="457200" y="502920"/>
            <a:ext cx="10972800" cy="365760"/>
          </a:xfrm>
          <a:prstGeom prst="rect">
            <a:avLst/>
          </a:prstGeom>
          <a:noFill/>
          <a:ln/>
        </p:spPr>
        <p:txBody>
          <a:bodyPr wrap="square" rtlCol="0" anchor="ctr"/>
          <a:lstStyle/>
          <a:p>
            <a:pPr indent="0" marL="0">
              <a:buNone/>
            </a:pPr>
            <a:r>
              <a:rPr lang="en-US" sz="2400" b="1" dirty="0">
                <a:solidFill>
                  <a:srgbClr val="0B1F3A"/>
                </a:solidFill>
                <a:latin typeface="Calibri" pitchFamily="34" charset="0"/>
                <a:ea typeface="Calibri" pitchFamily="34" charset="-122"/>
                <a:cs typeface="Calibri" pitchFamily="34" charset="-120"/>
              </a:rPr>
              <a:t>BRSR Core glide path — assessment or assurance</a:t>
            </a:r>
            <a:endParaRPr lang="en-US" sz="2400" dirty="0"/>
          </a:p>
        </p:txBody>
      </p:sp>
      <p:sp>
        <p:nvSpPr>
          <p:cNvPr id="5" name="Shape 3"/>
          <p:cNvSpPr/>
          <p:nvPr/>
        </p:nvSpPr>
        <p:spPr>
          <a:xfrm>
            <a:off x="457200" y="1097280"/>
            <a:ext cx="11247120" cy="960120"/>
          </a:xfrm>
          <a:prstGeom prst="roundRect">
            <a:avLst>
              <a:gd name="adj" fmla="val 4762"/>
            </a:avLst>
          </a:prstGeom>
          <a:solidFill>
            <a:srgbClr val="FFFFFF"/>
          </a:solidFill>
          <a:ln/>
        </p:spPr>
      </p:sp>
      <p:sp>
        <p:nvSpPr>
          <p:cNvPr id="6" name="Text 4"/>
          <p:cNvSpPr/>
          <p:nvPr/>
        </p:nvSpPr>
        <p:spPr>
          <a:xfrm>
            <a:off x="640080" y="1234440"/>
            <a:ext cx="292608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FY 2023–24</a:t>
            </a:r>
            <a:endParaRPr lang="en-US" sz="1800" dirty="0"/>
          </a:p>
        </p:txBody>
      </p:sp>
      <p:sp>
        <p:nvSpPr>
          <p:cNvPr id="7" name="Text 5"/>
          <p:cNvSpPr/>
          <p:nvPr/>
        </p:nvSpPr>
        <p:spPr>
          <a:xfrm>
            <a:off x="3749040" y="1234440"/>
            <a:ext cx="7680960" cy="685800"/>
          </a:xfrm>
          <a:prstGeom prst="rect">
            <a:avLst/>
          </a:prstGeom>
          <a:noFill/>
          <a:ln/>
        </p:spPr>
        <p:txBody>
          <a:bodyPr wrap="square" rtlCol="0" anchor="ctr"/>
          <a:lstStyle/>
          <a:p>
            <a:pPr indent="0" marL="0">
              <a:buNone/>
            </a:pPr>
            <a:r>
              <a:rPr lang="en-US" sz="1800" dirty="0">
                <a:solidFill>
                  <a:srgbClr val="1C2B3A"/>
                </a:solidFill>
                <a:latin typeface="Calibri" pitchFamily="34" charset="0"/>
                <a:ea typeface="Calibri" pitchFamily="34" charset="-122"/>
                <a:cs typeface="Calibri" pitchFamily="34" charset="-120"/>
              </a:rPr>
              <a:t>Top 150 listed entities</a:t>
            </a:r>
            <a:endParaRPr lang="en-US" sz="1800" dirty="0"/>
          </a:p>
        </p:txBody>
      </p:sp>
      <p:sp>
        <p:nvSpPr>
          <p:cNvPr id="8" name="Shape 6"/>
          <p:cNvSpPr/>
          <p:nvPr/>
        </p:nvSpPr>
        <p:spPr>
          <a:xfrm>
            <a:off x="457200" y="2148840"/>
            <a:ext cx="11247120" cy="960120"/>
          </a:xfrm>
          <a:prstGeom prst="roundRect">
            <a:avLst>
              <a:gd name="adj" fmla="val 4762"/>
            </a:avLst>
          </a:prstGeom>
          <a:solidFill>
            <a:srgbClr val="FFFFFF"/>
          </a:solidFill>
          <a:ln/>
        </p:spPr>
      </p:sp>
      <p:sp>
        <p:nvSpPr>
          <p:cNvPr id="9" name="Text 7"/>
          <p:cNvSpPr/>
          <p:nvPr/>
        </p:nvSpPr>
        <p:spPr>
          <a:xfrm>
            <a:off x="640080" y="2286000"/>
            <a:ext cx="292608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FY 2024–25</a:t>
            </a:r>
            <a:endParaRPr lang="en-US" sz="1800" dirty="0"/>
          </a:p>
        </p:txBody>
      </p:sp>
      <p:sp>
        <p:nvSpPr>
          <p:cNvPr id="10" name="Text 8"/>
          <p:cNvSpPr/>
          <p:nvPr/>
        </p:nvSpPr>
        <p:spPr>
          <a:xfrm>
            <a:off x="3749040" y="2286000"/>
            <a:ext cx="7680960" cy="685800"/>
          </a:xfrm>
          <a:prstGeom prst="rect">
            <a:avLst/>
          </a:prstGeom>
          <a:noFill/>
          <a:ln/>
        </p:spPr>
        <p:txBody>
          <a:bodyPr wrap="square" rtlCol="0" anchor="ctr"/>
          <a:lstStyle/>
          <a:p>
            <a:pPr indent="0" marL="0">
              <a:buNone/>
            </a:pPr>
            <a:r>
              <a:rPr lang="en-US" sz="1800" dirty="0">
                <a:solidFill>
                  <a:srgbClr val="1C2B3A"/>
                </a:solidFill>
                <a:latin typeface="Calibri" pitchFamily="34" charset="0"/>
                <a:ea typeface="Calibri" pitchFamily="34" charset="-122"/>
                <a:cs typeface="Calibri" pitchFamily="34" charset="-120"/>
              </a:rPr>
              <a:t>Top 250 listed entities</a:t>
            </a:r>
            <a:endParaRPr lang="en-US" sz="1800" dirty="0"/>
          </a:p>
        </p:txBody>
      </p:sp>
      <p:sp>
        <p:nvSpPr>
          <p:cNvPr id="11" name="Shape 9"/>
          <p:cNvSpPr/>
          <p:nvPr/>
        </p:nvSpPr>
        <p:spPr>
          <a:xfrm>
            <a:off x="457200" y="3200400"/>
            <a:ext cx="11247120" cy="960120"/>
          </a:xfrm>
          <a:prstGeom prst="roundRect">
            <a:avLst>
              <a:gd name="adj" fmla="val 4762"/>
            </a:avLst>
          </a:prstGeom>
          <a:solidFill>
            <a:srgbClr val="FFFFFF"/>
          </a:solidFill>
          <a:ln/>
        </p:spPr>
      </p:sp>
      <p:sp>
        <p:nvSpPr>
          <p:cNvPr id="12" name="Text 10"/>
          <p:cNvSpPr/>
          <p:nvPr/>
        </p:nvSpPr>
        <p:spPr>
          <a:xfrm>
            <a:off x="640080" y="3337560"/>
            <a:ext cx="292608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FY 2025–26</a:t>
            </a:r>
            <a:endParaRPr lang="en-US" sz="1800" dirty="0"/>
          </a:p>
        </p:txBody>
      </p:sp>
      <p:sp>
        <p:nvSpPr>
          <p:cNvPr id="13" name="Text 11"/>
          <p:cNvSpPr/>
          <p:nvPr/>
        </p:nvSpPr>
        <p:spPr>
          <a:xfrm>
            <a:off x="3749040" y="3337560"/>
            <a:ext cx="7680960" cy="685800"/>
          </a:xfrm>
          <a:prstGeom prst="rect">
            <a:avLst/>
          </a:prstGeom>
          <a:noFill/>
          <a:ln/>
        </p:spPr>
        <p:txBody>
          <a:bodyPr wrap="square" rtlCol="0" anchor="ctr"/>
          <a:lstStyle/>
          <a:p>
            <a:pPr indent="0" marL="0">
              <a:buNone/>
            </a:pPr>
            <a:r>
              <a:rPr lang="en-US" sz="1800" dirty="0">
                <a:solidFill>
                  <a:srgbClr val="1C2B3A"/>
                </a:solidFill>
                <a:latin typeface="Calibri" pitchFamily="34" charset="0"/>
                <a:ea typeface="Calibri" pitchFamily="34" charset="-122"/>
                <a:cs typeface="Calibri" pitchFamily="34" charset="-120"/>
              </a:rPr>
              <a:t>Top 500 listed entities  ← current year</a:t>
            </a:r>
            <a:endParaRPr lang="en-US" sz="1800" dirty="0"/>
          </a:p>
        </p:txBody>
      </p:sp>
      <p:sp>
        <p:nvSpPr>
          <p:cNvPr id="14" name="Shape 12"/>
          <p:cNvSpPr/>
          <p:nvPr/>
        </p:nvSpPr>
        <p:spPr>
          <a:xfrm>
            <a:off x="457200" y="4251960"/>
            <a:ext cx="11247120" cy="960120"/>
          </a:xfrm>
          <a:prstGeom prst="roundRect">
            <a:avLst>
              <a:gd name="adj" fmla="val 4762"/>
            </a:avLst>
          </a:prstGeom>
          <a:solidFill>
            <a:srgbClr val="0B1F3A"/>
          </a:solidFill>
          <a:ln/>
        </p:spPr>
      </p:sp>
      <p:sp>
        <p:nvSpPr>
          <p:cNvPr id="15" name="Text 13"/>
          <p:cNvSpPr/>
          <p:nvPr/>
        </p:nvSpPr>
        <p:spPr>
          <a:xfrm>
            <a:off x="640080" y="4389120"/>
            <a:ext cx="2926080" cy="68580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FY 2026–27</a:t>
            </a:r>
            <a:endParaRPr lang="en-US" sz="1800" dirty="0"/>
          </a:p>
        </p:txBody>
      </p:sp>
      <p:sp>
        <p:nvSpPr>
          <p:cNvPr id="16" name="Text 14"/>
          <p:cNvSpPr/>
          <p:nvPr/>
        </p:nvSpPr>
        <p:spPr>
          <a:xfrm>
            <a:off x="3749040" y="4389120"/>
            <a:ext cx="7680960" cy="685800"/>
          </a:xfrm>
          <a:prstGeom prst="rect">
            <a:avLst/>
          </a:prstGeom>
          <a:noFill/>
          <a:ln/>
        </p:spPr>
        <p:txBody>
          <a:bodyPr wrap="square" rtlCol="0" anchor="ctr"/>
          <a:lstStyle/>
          <a:p>
            <a:pPr indent="0" marL="0">
              <a:buNone/>
            </a:pPr>
            <a:r>
              <a:rPr lang="en-US" sz="1800" dirty="0">
                <a:solidFill>
                  <a:srgbClr val="F4EFE4"/>
                </a:solidFill>
                <a:latin typeface="Calibri" pitchFamily="34" charset="0"/>
                <a:ea typeface="Calibri" pitchFamily="34" charset="-122"/>
                <a:cs typeface="Calibri" pitchFamily="34" charset="-120"/>
              </a:rPr>
              <a:t>Top 1,000 listed entities  ← the cohort that just walked into the room</a:t>
            </a:r>
            <a:endParaRPr lang="en-US" sz="1800" dirty="0"/>
          </a:p>
        </p:txBody>
      </p:sp>
      <p:sp>
        <p:nvSpPr>
          <p:cNvPr id="17" name="Shape 15"/>
          <p:cNvSpPr/>
          <p:nvPr/>
        </p:nvSpPr>
        <p:spPr>
          <a:xfrm>
            <a:off x="0" y="6537960"/>
            <a:ext cx="12188952" cy="320040"/>
          </a:xfrm>
          <a:prstGeom prst="rect">
            <a:avLst/>
          </a:prstGeom>
          <a:solidFill>
            <a:srgbClr val="0B1F3A"/>
          </a:solidFill>
          <a:ln/>
        </p:spPr>
      </p:sp>
      <p:sp>
        <p:nvSpPr>
          <p:cNvPr id="18" name="Text 16"/>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5/12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VALUE CHAIN IS STILL VOLUNTARY — FOR NOW</a:t>
            </a:r>
            <a:endParaRPr lang="en-US" sz="1200" dirty="0"/>
          </a:p>
        </p:txBody>
      </p:sp>
      <p:sp>
        <p:nvSpPr>
          <p:cNvPr id="4" name="Text 2"/>
          <p:cNvSpPr/>
          <p:nvPr/>
        </p:nvSpPr>
        <p:spPr>
          <a:xfrm>
            <a:off x="457200" y="530352"/>
            <a:ext cx="11247120" cy="50292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SEBI eased the original 2023 design. CFOs should not confuse relief with repeal.</a:t>
            </a:r>
            <a:endParaRPr lang="en-US" sz="2000" dirty="0"/>
          </a:p>
        </p:txBody>
      </p:sp>
      <p:sp>
        <p:nvSpPr>
          <p:cNvPr id="5" name="Shape 3"/>
          <p:cNvSpPr/>
          <p:nvPr/>
        </p:nvSpPr>
        <p:spPr>
          <a:xfrm>
            <a:off x="457200" y="1234440"/>
            <a:ext cx="11247120" cy="1078992"/>
          </a:xfrm>
          <a:prstGeom prst="roundRect">
            <a:avLst>
              <a:gd name="adj" fmla="val 3390"/>
            </a:avLst>
          </a:prstGeom>
          <a:solidFill>
            <a:srgbClr val="FFFFFF"/>
          </a:solidFill>
          <a:ln/>
        </p:spPr>
      </p:sp>
      <p:sp>
        <p:nvSpPr>
          <p:cNvPr id="6" name="Text 4"/>
          <p:cNvSpPr/>
          <p:nvPr/>
        </p:nvSpPr>
        <p:spPr>
          <a:xfrm>
            <a:off x="640080" y="1371600"/>
            <a:ext cx="640080" cy="77724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371600" y="1325880"/>
            <a:ext cx="10058400" cy="896112"/>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December 2024 Board decision (reflected in subsequent NSE / master-circular language): listed entities may undertake assessment or assurance of BRSR Core — profession-agnostic, cost-conscious.</a:t>
            </a:r>
            <a:endParaRPr lang="en-US" sz="1500" dirty="0"/>
          </a:p>
        </p:txBody>
      </p:sp>
      <p:sp>
        <p:nvSpPr>
          <p:cNvPr id="8" name="Shape 6"/>
          <p:cNvSpPr/>
          <p:nvPr/>
        </p:nvSpPr>
        <p:spPr>
          <a:xfrm>
            <a:off x="457200" y="2423160"/>
            <a:ext cx="11247120" cy="1078992"/>
          </a:xfrm>
          <a:prstGeom prst="roundRect">
            <a:avLst>
              <a:gd name="adj" fmla="val 3390"/>
            </a:avLst>
          </a:prstGeom>
          <a:solidFill>
            <a:srgbClr val="FFFFFF"/>
          </a:solidFill>
          <a:ln/>
        </p:spPr>
      </p:sp>
      <p:sp>
        <p:nvSpPr>
          <p:cNvPr id="9" name="Text 7"/>
          <p:cNvSpPr/>
          <p:nvPr/>
        </p:nvSpPr>
        <p:spPr>
          <a:xfrm>
            <a:off x="640080" y="2560320"/>
            <a:ext cx="640080" cy="77724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02</a:t>
            </a:r>
            <a:endParaRPr lang="en-US" sz="2000" dirty="0"/>
          </a:p>
        </p:txBody>
      </p:sp>
      <p:sp>
        <p:nvSpPr>
          <p:cNvPr id="10" name="Text 8"/>
          <p:cNvSpPr/>
          <p:nvPr/>
        </p:nvSpPr>
        <p:spPr>
          <a:xfrm>
            <a:off x="1371600" y="2514600"/>
            <a:ext cx="10058400" cy="896112"/>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ESG disclosures for the value chain: top 250 listed entities, voluntary from FY 2025–26. Assessment or assurance of those disclosures: voluntary from FY 2026–27.</a:t>
            </a:r>
            <a:endParaRPr lang="en-US" sz="1500" dirty="0"/>
          </a:p>
        </p:txBody>
      </p:sp>
      <p:sp>
        <p:nvSpPr>
          <p:cNvPr id="11" name="Shape 9"/>
          <p:cNvSpPr/>
          <p:nvPr/>
        </p:nvSpPr>
        <p:spPr>
          <a:xfrm>
            <a:off x="457200" y="3611880"/>
            <a:ext cx="11247120" cy="1078992"/>
          </a:xfrm>
          <a:prstGeom prst="roundRect">
            <a:avLst>
              <a:gd name="adj" fmla="val 3390"/>
            </a:avLst>
          </a:prstGeom>
          <a:solidFill>
            <a:srgbClr val="FFFFFF"/>
          </a:solidFill>
          <a:ln/>
        </p:spPr>
      </p:sp>
      <p:sp>
        <p:nvSpPr>
          <p:cNvPr id="12" name="Text 10"/>
          <p:cNvSpPr/>
          <p:nvPr/>
        </p:nvSpPr>
        <p:spPr>
          <a:xfrm>
            <a:off x="640080" y="3749040"/>
            <a:ext cx="640080" cy="77724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03</a:t>
            </a:r>
            <a:endParaRPr lang="en-US" sz="2000" dirty="0"/>
          </a:p>
        </p:txBody>
      </p:sp>
      <p:sp>
        <p:nvSpPr>
          <p:cNvPr id="13" name="Text 11"/>
          <p:cNvSpPr/>
          <p:nvPr/>
        </p:nvSpPr>
        <p:spPr>
          <a:xfrm>
            <a:off x="1371600" y="3703320"/>
            <a:ext cx="10058400" cy="896112"/>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First-year previous-year comparatives for value-chain disclosure are also voluntary.</a:t>
            </a:r>
            <a:endParaRPr lang="en-US" sz="1500" dirty="0"/>
          </a:p>
        </p:txBody>
      </p:sp>
      <p:sp>
        <p:nvSpPr>
          <p:cNvPr id="14" name="Shape 12"/>
          <p:cNvSpPr/>
          <p:nvPr/>
        </p:nvSpPr>
        <p:spPr>
          <a:xfrm>
            <a:off x="457200" y="4800600"/>
            <a:ext cx="11247120" cy="1078992"/>
          </a:xfrm>
          <a:prstGeom prst="roundRect">
            <a:avLst>
              <a:gd name="adj" fmla="val 3390"/>
            </a:avLst>
          </a:prstGeom>
          <a:solidFill>
            <a:srgbClr val="FFFFFF"/>
          </a:solidFill>
          <a:ln/>
        </p:spPr>
      </p:sp>
      <p:sp>
        <p:nvSpPr>
          <p:cNvPr id="15" name="Text 13"/>
          <p:cNvSpPr/>
          <p:nvPr/>
        </p:nvSpPr>
        <p:spPr>
          <a:xfrm>
            <a:off x="640080" y="4937760"/>
            <a:ext cx="640080" cy="777240"/>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04</a:t>
            </a:r>
            <a:endParaRPr lang="en-US" sz="2000" dirty="0"/>
          </a:p>
        </p:txBody>
      </p:sp>
      <p:sp>
        <p:nvSpPr>
          <p:cNvPr id="16" name="Text 14"/>
          <p:cNvSpPr/>
          <p:nvPr/>
        </p:nvSpPr>
        <p:spPr>
          <a:xfrm>
            <a:off x="1371600" y="4892040"/>
            <a:ext cx="10058400" cy="896112"/>
          </a:xfrm>
          <a:prstGeom prst="rect">
            <a:avLst/>
          </a:prstGeom>
          <a:noFill/>
          <a:ln/>
        </p:spPr>
        <p:txBody>
          <a:bodyPr wrap="square" rtlCol="0" anchor="ctr"/>
          <a:lstStyle/>
          <a:p>
            <a:pPr indent="0" marL="0">
              <a:buNone/>
            </a:pPr>
            <a:r>
              <a:rPr lang="en-US" sz="1500" dirty="0">
                <a:solidFill>
                  <a:srgbClr val="1C2B3A"/>
                </a:solidFill>
                <a:latin typeface="Calibri" pitchFamily="34" charset="0"/>
                <a:ea typeface="Calibri" pitchFamily="34" charset="-122"/>
                <a:cs typeface="Calibri" pitchFamily="34" charset="-120"/>
              </a:rPr>
              <a:t>IIMB’s finding sits beside that relief: disclosed Scope 3 already exceeds Scope 1+2, and 57.1% still report nothing. Investors will price the silence before SEBI makes it mandatory.</a:t>
            </a:r>
            <a:endParaRPr lang="en-US" sz="1500" dirty="0"/>
          </a:p>
        </p:txBody>
      </p:sp>
      <p:sp>
        <p:nvSpPr>
          <p:cNvPr id="17" name="Shape 15"/>
          <p:cNvSpPr/>
          <p:nvPr/>
        </p:nvSpPr>
        <p:spPr>
          <a:xfrm>
            <a:off x="0" y="6537960"/>
            <a:ext cx="12188952" cy="320040"/>
          </a:xfrm>
          <a:prstGeom prst="rect">
            <a:avLst/>
          </a:prstGeom>
          <a:solidFill>
            <a:srgbClr val="0B1F3A"/>
          </a:solidFill>
          <a:ln/>
        </p:spPr>
      </p:sp>
      <p:sp>
        <p:nvSpPr>
          <p:cNvPr id="18" name="Text 16"/>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6/12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THE LENDER IS WATCHING THE SAME TONNES</a:t>
            </a:r>
            <a:endParaRPr lang="en-US" sz="1200" dirty="0"/>
          </a:p>
        </p:txBody>
      </p:sp>
      <p:sp>
        <p:nvSpPr>
          <p:cNvPr id="4" name="Text 2"/>
          <p:cNvSpPr/>
          <p:nvPr/>
        </p:nvSpPr>
        <p:spPr>
          <a:xfrm>
            <a:off x="457200" y="502920"/>
            <a:ext cx="10972800" cy="365760"/>
          </a:xfrm>
          <a:prstGeom prst="rect">
            <a:avLst/>
          </a:prstGeom>
          <a:noFill/>
          <a:ln/>
        </p:spPr>
        <p:txBody>
          <a:bodyPr wrap="square" rtlCol="0" anchor="ctr"/>
          <a:lstStyle/>
          <a:p>
            <a:pPr indent="0" marL="0">
              <a:buNone/>
            </a:pPr>
            <a:r>
              <a:rPr lang="en-US" sz="2400" b="1" dirty="0">
                <a:solidFill>
                  <a:srgbClr val="0B1F3A"/>
                </a:solidFill>
                <a:latin typeface="Calibri" pitchFamily="34" charset="0"/>
                <a:ea typeface="Calibri" pitchFamily="34" charset="-122"/>
                <a:cs typeface="Calibri" pitchFamily="34" charset="-120"/>
              </a:rPr>
              <a:t>Climate Risk Horizons on 35 Indian banks</a:t>
            </a:r>
            <a:endParaRPr lang="en-US" sz="2400" dirty="0"/>
          </a:p>
        </p:txBody>
      </p:sp>
      <p:sp>
        <p:nvSpPr>
          <p:cNvPr id="5" name="Shape 3"/>
          <p:cNvSpPr/>
          <p:nvPr/>
        </p:nvSpPr>
        <p:spPr>
          <a:xfrm>
            <a:off x="457200" y="1097280"/>
            <a:ext cx="11247120" cy="1078992"/>
          </a:xfrm>
          <a:prstGeom prst="roundRect">
            <a:avLst>
              <a:gd name="adj" fmla="val 3390"/>
            </a:avLst>
          </a:prstGeom>
          <a:solidFill>
            <a:srgbClr val="0B1F3A"/>
          </a:solidFill>
          <a:ln/>
        </p:spPr>
      </p:sp>
      <p:sp>
        <p:nvSpPr>
          <p:cNvPr id="6" name="Text 4"/>
          <p:cNvSpPr/>
          <p:nvPr/>
        </p:nvSpPr>
        <p:spPr>
          <a:xfrm>
            <a:off x="685800" y="1234440"/>
            <a:ext cx="2377440" cy="804672"/>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92%</a:t>
            </a:r>
            <a:endParaRPr lang="en-US" sz="2000" dirty="0"/>
          </a:p>
        </p:txBody>
      </p:sp>
      <p:sp>
        <p:nvSpPr>
          <p:cNvPr id="7" name="Text 5"/>
          <p:cNvSpPr/>
          <p:nvPr/>
        </p:nvSpPr>
        <p:spPr>
          <a:xfrm>
            <a:off x="3200400" y="1234440"/>
            <a:ext cx="8229600" cy="804672"/>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of banks disclose Scope 1 and Scope 2</a:t>
            </a:r>
            <a:endParaRPr lang="en-US" sz="1600" dirty="0"/>
          </a:p>
        </p:txBody>
      </p:sp>
      <p:sp>
        <p:nvSpPr>
          <p:cNvPr id="8" name="Shape 6"/>
          <p:cNvSpPr/>
          <p:nvPr/>
        </p:nvSpPr>
        <p:spPr>
          <a:xfrm>
            <a:off x="457200" y="2286000"/>
            <a:ext cx="11247120" cy="1078992"/>
          </a:xfrm>
          <a:prstGeom prst="roundRect">
            <a:avLst>
              <a:gd name="adj" fmla="val 3390"/>
            </a:avLst>
          </a:prstGeom>
          <a:solidFill>
            <a:srgbClr val="FFFFFF"/>
          </a:solidFill>
          <a:ln/>
        </p:spPr>
      </p:sp>
      <p:sp>
        <p:nvSpPr>
          <p:cNvPr id="9" name="Text 7"/>
          <p:cNvSpPr/>
          <p:nvPr/>
        </p:nvSpPr>
        <p:spPr>
          <a:xfrm>
            <a:off x="685800" y="2423160"/>
            <a:ext cx="2377440" cy="804672"/>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63%</a:t>
            </a:r>
            <a:endParaRPr lang="en-US" sz="2000" dirty="0"/>
          </a:p>
        </p:txBody>
      </p:sp>
      <p:sp>
        <p:nvSpPr>
          <p:cNvPr id="10" name="Text 8"/>
          <p:cNvSpPr/>
          <p:nvPr/>
        </p:nvSpPr>
        <p:spPr>
          <a:xfrm>
            <a:off x="3200400" y="2423160"/>
            <a:ext cx="8229600" cy="804672"/>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obtain third-party verification of emissions reporting</a:t>
            </a:r>
            <a:endParaRPr lang="en-US" sz="1600" dirty="0"/>
          </a:p>
        </p:txBody>
      </p:sp>
      <p:sp>
        <p:nvSpPr>
          <p:cNvPr id="11" name="Shape 9"/>
          <p:cNvSpPr/>
          <p:nvPr/>
        </p:nvSpPr>
        <p:spPr>
          <a:xfrm>
            <a:off x="457200" y="3474720"/>
            <a:ext cx="11247120" cy="1078992"/>
          </a:xfrm>
          <a:prstGeom prst="roundRect">
            <a:avLst>
              <a:gd name="adj" fmla="val 3390"/>
            </a:avLst>
          </a:prstGeom>
          <a:solidFill>
            <a:srgbClr val="0B1F3A"/>
          </a:solidFill>
          <a:ln/>
        </p:spPr>
      </p:sp>
      <p:sp>
        <p:nvSpPr>
          <p:cNvPr id="12" name="Text 10"/>
          <p:cNvSpPr/>
          <p:nvPr/>
        </p:nvSpPr>
        <p:spPr>
          <a:xfrm>
            <a:off x="685800" y="3611880"/>
            <a:ext cx="2377440" cy="804672"/>
          </a:xfrm>
          <a:prstGeom prst="rect">
            <a:avLst/>
          </a:prstGeom>
          <a:noFill/>
          <a:ln/>
        </p:spPr>
        <p:txBody>
          <a:bodyPr wrap="square" rtlCol="0" anchor="ctr"/>
          <a:lstStyle/>
          <a:p>
            <a:pPr indent="0" marL="0">
              <a:buNone/>
            </a:pPr>
            <a:r>
              <a:rPr lang="en-US" sz="2000" b="1" dirty="0">
                <a:solidFill>
                  <a:srgbClr val="C9A227"/>
                </a:solidFill>
                <a:latin typeface="Calibri" pitchFamily="34" charset="0"/>
                <a:ea typeface="Calibri" pitchFamily="34" charset="-122"/>
                <a:cs typeface="Calibri" pitchFamily="34" charset="-120"/>
              </a:rPr>
              <a:t>5 banks</a:t>
            </a:r>
            <a:endParaRPr lang="en-US" sz="2000" dirty="0"/>
          </a:p>
        </p:txBody>
      </p:sp>
      <p:sp>
        <p:nvSpPr>
          <p:cNvPr id="13" name="Text 11"/>
          <p:cNvSpPr/>
          <p:nvPr/>
        </p:nvSpPr>
        <p:spPr>
          <a:xfrm>
            <a:off x="3200400" y="3611880"/>
            <a:ext cx="8229600" cy="804672"/>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currently disclose financed emissions — the largest climate exposure for a lender</a:t>
            </a:r>
            <a:endParaRPr lang="en-US" sz="1600" dirty="0"/>
          </a:p>
        </p:txBody>
      </p:sp>
      <p:sp>
        <p:nvSpPr>
          <p:cNvPr id="14" name="Shape 12"/>
          <p:cNvSpPr/>
          <p:nvPr/>
        </p:nvSpPr>
        <p:spPr>
          <a:xfrm>
            <a:off x="457200" y="4663440"/>
            <a:ext cx="11247120" cy="1078992"/>
          </a:xfrm>
          <a:prstGeom prst="roundRect">
            <a:avLst>
              <a:gd name="adj" fmla="val 3390"/>
            </a:avLst>
          </a:prstGeom>
          <a:solidFill>
            <a:srgbClr val="FFFFFF"/>
          </a:solidFill>
          <a:ln/>
        </p:spPr>
      </p:sp>
      <p:sp>
        <p:nvSpPr>
          <p:cNvPr id="15" name="Text 13"/>
          <p:cNvSpPr/>
          <p:nvPr/>
        </p:nvSpPr>
        <p:spPr>
          <a:xfrm>
            <a:off x="685800" y="4800600"/>
            <a:ext cx="2377440" cy="804672"/>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RBI</a:t>
            </a:r>
            <a:endParaRPr lang="en-US" sz="2000" dirty="0"/>
          </a:p>
        </p:txBody>
      </p:sp>
      <p:sp>
        <p:nvSpPr>
          <p:cNvPr id="16" name="Text 14"/>
          <p:cNvSpPr/>
          <p:nvPr/>
        </p:nvSpPr>
        <p:spPr>
          <a:xfrm>
            <a:off x="3200400" y="4800600"/>
            <a:ext cx="8229600" cy="804672"/>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has treated climate as a systemic issue and built RB-CRIS for climate data</a:t>
            </a:r>
            <a:endParaRPr lang="en-US" sz="1600" dirty="0"/>
          </a:p>
        </p:txBody>
      </p:sp>
      <p:sp>
        <p:nvSpPr>
          <p:cNvPr id="17" name="Shape 15"/>
          <p:cNvSpPr/>
          <p:nvPr/>
        </p:nvSpPr>
        <p:spPr>
          <a:xfrm>
            <a:off x="0" y="6537960"/>
            <a:ext cx="12188952" cy="320040"/>
          </a:xfrm>
          <a:prstGeom prst="rect">
            <a:avLst/>
          </a:prstGeom>
          <a:solidFill>
            <a:srgbClr val="0B1F3A"/>
          </a:solidFill>
          <a:ln/>
        </p:spPr>
      </p:sp>
      <p:sp>
        <p:nvSpPr>
          <p:cNvPr id="18" name="Text 16"/>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7/12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THE TEACHING CASE</a:t>
            </a:r>
            <a:endParaRPr lang="en-US" sz="1200" dirty="0"/>
          </a:p>
        </p:txBody>
      </p:sp>
      <p:sp>
        <p:nvSpPr>
          <p:cNvPr id="4" name="Text 2"/>
          <p:cNvSpPr/>
          <p:nvPr/>
        </p:nvSpPr>
        <p:spPr>
          <a:xfrm>
            <a:off x="457200" y="502920"/>
            <a:ext cx="10972800" cy="411480"/>
          </a:xfrm>
          <a:prstGeom prst="rect">
            <a:avLst/>
          </a:prstGeom>
          <a:noFill/>
          <a:ln/>
        </p:spPr>
        <p:txBody>
          <a:bodyPr wrap="square" rtlCol="0" anchor="ctr"/>
          <a:lstStyle/>
          <a:p>
            <a:pPr indent="0" marL="0">
              <a:buNone/>
            </a:pPr>
            <a:r>
              <a:rPr lang="en-US" sz="2600" b="1" dirty="0">
                <a:solidFill>
                  <a:srgbClr val="0B1F3A"/>
                </a:solidFill>
                <a:latin typeface="Calibri" pitchFamily="34" charset="0"/>
                <a:ea typeface="Calibri" pitchFamily="34" charset="-122"/>
                <a:cs typeface="Calibri" pitchFamily="34" charset="-120"/>
              </a:rPr>
              <a:t>You are CFO of Meridian Castings Ltd.</a:t>
            </a:r>
            <a:endParaRPr lang="en-US" sz="2600" dirty="0"/>
          </a:p>
        </p:txBody>
      </p:sp>
      <p:sp>
        <p:nvSpPr>
          <p:cNvPr id="5" name="Text 3"/>
          <p:cNvSpPr/>
          <p:nvPr/>
        </p:nvSpPr>
        <p:spPr>
          <a:xfrm>
            <a:off x="457200" y="1005840"/>
            <a:ext cx="11247120" cy="82296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A composite mid-cap foundry and component maker. Listed. Inside the top 1,000 by market cap on some ranking days and outside it on others. The board meets in 11 days. Four decisions sit on one page.</a:t>
            </a:r>
            <a:endParaRPr lang="en-US" sz="1600" dirty="0"/>
          </a:p>
        </p:txBody>
      </p:sp>
      <p:sp>
        <p:nvSpPr>
          <p:cNvPr id="6" name="Shape 4"/>
          <p:cNvSpPr/>
          <p:nvPr/>
        </p:nvSpPr>
        <p:spPr>
          <a:xfrm>
            <a:off x="457200" y="1965960"/>
            <a:ext cx="11247120" cy="960120"/>
          </a:xfrm>
          <a:prstGeom prst="roundRect">
            <a:avLst>
              <a:gd name="adj" fmla="val 3810"/>
            </a:avLst>
          </a:prstGeom>
          <a:solidFill>
            <a:srgbClr val="FFFFFF"/>
          </a:solidFill>
          <a:ln/>
        </p:spPr>
      </p:sp>
      <p:sp>
        <p:nvSpPr>
          <p:cNvPr id="7" name="Shape 5"/>
          <p:cNvSpPr/>
          <p:nvPr/>
        </p:nvSpPr>
        <p:spPr>
          <a:xfrm>
            <a:off x="640080" y="2148840"/>
            <a:ext cx="594360" cy="594360"/>
          </a:xfrm>
          <a:prstGeom prst="ellipse">
            <a:avLst/>
          </a:prstGeom>
          <a:solidFill>
            <a:srgbClr val="0B1F3A"/>
          </a:solidFill>
          <a:ln/>
        </p:spPr>
      </p:sp>
      <p:sp>
        <p:nvSpPr>
          <p:cNvPr id="8" name="Text 6"/>
          <p:cNvSpPr/>
          <p:nvPr/>
        </p:nvSpPr>
        <p:spPr>
          <a:xfrm>
            <a:off x="640080" y="2148840"/>
            <a:ext cx="594360" cy="594360"/>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417320" y="2084832"/>
            <a:ext cx="10058400" cy="73152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Treat BRSR Core as a compliance file. Buy assessment. Do not open Scope 3.</a:t>
            </a:r>
            <a:endParaRPr lang="en-US" sz="1600" dirty="0"/>
          </a:p>
        </p:txBody>
      </p:sp>
      <p:sp>
        <p:nvSpPr>
          <p:cNvPr id="10" name="Shape 8"/>
          <p:cNvSpPr/>
          <p:nvPr/>
        </p:nvSpPr>
        <p:spPr>
          <a:xfrm>
            <a:off x="457200" y="3017520"/>
            <a:ext cx="11247120" cy="960120"/>
          </a:xfrm>
          <a:prstGeom prst="roundRect">
            <a:avLst>
              <a:gd name="adj" fmla="val 3810"/>
            </a:avLst>
          </a:prstGeom>
          <a:solidFill>
            <a:srgbClr val="FFFFFF"/>
          </a:solidFill>
          <a:ln/>
        </p:spPr>
      </p:sp>
      <p:sp>
        <p:nvSpPr>
          <p:cNvPr id="11" name="Shape 9"/>
          <p:cNvSpPr/>
          <p:nvPr/>
        </p:nvSpPr>
        <p:spPr>
          <a:xfrm>
            <a:off x="640080" y="3200400"/>
            <a:ext cx="594360" cy="594360"/>
          </a:xfrm>
          <a:prstGeom prst="ellipse">
            <a:avLst/>
          </a:prstGeom>
          <a:solidFill>
            <a:srgbClr val="0B1F3A"/>
          </a:solidFill>
          <a:ln/>
        </p:spPr>
      </p:sp>
      <p:sp>
        <p:nvSpPr>
          <p:cNvPr id="12" name="Text 10"/>
          <p:cNvSpPr/>
          <p:nvPr/>
        </p:nvSpPr>
        <p:spPr>
          <a:xfrm>
            <a:off x="640080" y="3200400"/>
            <a:ext cx="594360" cy="594360"/>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B</a:t>
            </a:r>
            <a:endParaRPr lang="en-US" sz="1600" dirty="0"/>
          </a:p>
        </p:txBody>
      </p:sp>
      <p:sp>
        <p:nvSpPr>
          <p:cNvPr id="13" name="Text 11"/>
          <p:cNvSpPr/>
          <p:nvPr/>
        </p:nvSpPr>
        <p:spPr>
          <a:xfrm>
            <a:off x="1417320" y="3136392"/>
            <a:ext cx="10058400" cy="73152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Build a two-year Scope 3 programme for the top 20 suppliers. Capex and working-capital conversations follow.</a:t>
            </a:r>
            <a:endParaRPr lang="en-US" sz="1600" dirty="0"/>
          </a:p>
        </p:txBody>
      </p:sp>
      <p:sp>
        <p:nvSpPr>
          <p:cNvPr id="14" name="Shape 12"/>
          <p:cNvSpPr/>
          <p:nvPr/>
        </p:nvSpPr>
        <p:spPr>
          <a:xfrm>
            <a:off x="457200" y="4069080"/>
            <a:ext cx="11247120" cy="960120"/>
          </a:xfrm>
          <a:prstGeom prst="roundRect">
            <a:avLst>
              <a:gd name="adj" fmla="val 3810"/>
            </a:avLst>
          </a:prstGeom>
          <a:solidFill>
            <a:srgbClr val="FFFFFF"/>
          </a:solidFill>
          <a:ln/>
        </p:spPr>
      </p:sp>
      <p:sp>
        <p:nvSpPr>
          <p:cNvPr id="15" name="Shape 13"/>
          <p:cNvSpPr/>
          <p:nvPr/>
        </p:nvSpPr>
        <p:spPr>
          <a:xfrm>
            <a:off x="640080" y="4251960"/>
            <a:ext cx="594360" cy="594360"/>
          </a:xfrm>
          <a:prstGeom prst="ellipse">
            <a:avLst/>
          </a:prstGeom>
          <a:solidFill>
            <a:srgbClr val="0B1F3A"/>
          </a:solidFill>
          <a:ln/>
        </p:spPr>
      </p:sp>
      <p:sp>
        <p:nvSpPr>
          <p:cNvPr id="16" name="Text 14"/>
          <p:cNvSpPr/>
          <p:nvPr/>
        </p:nvSpPr>
        <p:spPr>
          <a:xfrm>
            <a:off x="640080" y="4251960"/>
            <a:ext cx="594360" cy="594360"/>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1417320" y="4187952"/>
            <a:ext cx="10058400" cy="73152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Publish a board-level climate capital plan — energy, water treatment, and a renewable PPA — before the next rating cycle.</a:t>
            </a:r>
            <a:endParaRPr lang="en-US" sz="1600" dirty="0"/>
          </a:p>
        </p:txBody>
      </p:sp>
      <p:sp>
        <p:nvSpPr>
          <p:cNvPr id="18" name="Shape 16"/>
          <p:cNvSpPr/>
          <p:nvPr/>
        </p:nvSpPr>
        <p:spPr>
          <a:xfrm>
            <a:off x="457200" y="5120640"/>
            <a:ext cx="11247120" cy="960120"/>
          </a:xfrm>
          <a:prstGeom prst="roundRect">
            <a:avLst>
              <a:gd name="adj" fmla="val 3810"/>
            </a:avLst>
          </a:prstGeom>
          <a:solidFill>
            <a:srgbClr val="FFFFFF"/>
          </a:solidFill>
          <a:ln/>
        </p:spPr>
      </p:sp>
      <p:sp>
        <p:nvSpPr>
          <p:cNvPr id="19" name="Shape 17"/>
          <p:cNvSpPr/>
          <p:nvPr/>
        </p:nvSpPr>
        <p:spPr>
          <a:xfrm>
            <a:off x="640080" y="5303520"/>
            <a:ext cx="594360" cy="594360"/>
          </a:xfrm>
          <a:prstGeom prst="ellipse">
            <a:avLst/>
          </a:prstGeom>
          <a:solidFill>
            <a:srgbClr val="0B1F3A"/>
          </a:solidFill>
          <a:ln/>
        </p:spPr>
      </p:sp>
      <p:sp>
        <p:nvSpPr>
          <p:cNvPr id="20" name="Text 18"/>
          <p:cNvSpPr/>
          <p:nvPr/>
        </p:nvSpPr>
        <p:spPr>
          <a:xfrm>
            <a:off x="640080" y="5303520"/>
            <a:ext cx="594360" cy="594360"/>
          </a:xfrm>
          <a:prstGeom prst="rect">
            <a:avLst/>
          </a:prstGeom>
          <a:noFill/>
          <a:ln/>
        </p:spPr>
        <p:txBody>
          <a:bodyPr wrap="square"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D</a:t>
            </a:r>
            <a:endParaRPr lang="en-US" sz="1600" dirty="0"/>
          </a:p>
        </p:txBody>
      </p:sp>
      <p:sp>
        <p:nvSpPr>
          <p:cNvPr id="21" name="Text 19"/>
          <p:cNvSpPr/>
          <p:nvPr/>
        </p:nvSpPr>
        <p:spPr>
          <a:xfrm>
            <a:off x="1417320" y="5239512"/>
            <a:ext cx="10058400" cy="73152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Wait for the next SEBI circular and for a peer in the same NSE sector to move first.</a:t>
            </a:r>
            <a:endParaRPr lang="en-US" sz="1600" dirty="0"/>
          </a:p>
        </p:txBody>
      </p:sp>
      <p:sp>
        <p:nvSpPr>
          <p:cNvPr id="22" name="Shape 20"/>
          <p:cNvSpPr/>
          <p:nvPr/>
        </p:nvSpPr>
        <p:spPr>
          <a:xfrm>
            <a:off x="0" y="6537960"/>
            <a:ext cx="12188952" cy="320040"/>
          </a:xfrm>
          <a:prstGeom prst="rect">
            <a:avLst/>
          </a:prstGeom>
          <a:solidFill>
            <a:srgbClr val="0B1F3A"/>
          </a:solidFill>
          <a:ln/>
        </p:spPr>
      </p:sp>
      <p:sp>
        <p:nvSpPr>
          <p:cNvPr id="23" name="Text 21"/>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8/12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p:nvPr/>
        </p:nvSpPr>
        <p:spPr>
          <a:xfrm>
            <a:off x="548640" y="365760"/>
            <a:ext cx="10972800" cy="274320"/>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YOU ARE THE CFO</a:t>
            </a:r>
            <a:endParaRPr lang="en-US" sz="1200" dirty="0"/>
          </a:p>
        </p:txBody>
      </p:sp>
      <p:sp>
        <p:nvSpPr>
          <p:cNvPr id="4" name="Text 2"/>
          <p:cNvSpPr/>
          <p:nvPr/>
        </p:nvSpPr>
        <p:spPr>
          <a:xfrm>
            <a:off x="548640" y="731520"/>
            <a:ext cx="10972800" cy="45720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Four questions before you walk into the boardroom</a:t>
            </a:r>
            <a:endParaRPr lang="en-US" sz="2400" dirty="0"/>
          </a:p>
        </p:txBody>
      </p:sp>
      <p:sp>
        <p:nvSpPr>
          <p:cNvPr id="5" name="Text 3"/>
          <p:cNvSpPr/>
          <p:nvPr/>
        </p:nvSpPr>
        <p:spPr>
          <a:xfrm>
            <a:off x="548640" y="1417320"/>
            <a:ext cx="11064240" cy="96012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1.  If 57% of listed India still hides Scope 3, is silence a competitive advantage — or a discount on the cost of capital?</a:t>
            </a:r>
            <a:endParaRPr lang="en-US" sz="1600" dirty="0"/>
          </a:p>
        </p:txBody>
      </p:sp>
      <p:sp>
        <p:nvSpPr>
          <p:cNvPr id="6" name="Text 4"/>
          <p:cNvSpPr/>
          <p:nvPr/>
        </p:nvSpPr>
        <p:spPr>
          <a:xfrm>
            <a:off x="548640" y="2468880"/>
            <a:ext cx="11064240" cy="96012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2.  Will your banker underwrite the next working-capital line on intensity ratios, or on financed-emissions methodology that is already being built at RBI?</a:t>
            </a:r>
            <a:endParaRPr lang="en-US" sz="1600" dirty="0"/>
          </a:p>
        </p:txBody>
      </p:sp>
      <p:sp>
        <p:nvSpPr>
          <p:cNvPr id="7" name="Text 5"/>
          <p:cNvSpPr/>
          <p:nvPr/>
        </p:nvSpPr>
        <p:spPr>
          <a:xfrm>
            <a:off x="548640" y="3520440"/>
            <a:ext cx="11064240" cy="96012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3.  Does “assessment or assurance” change the board’s duty, or only the invoice from the assurer?</a:t>
            </a:r>
            <a:endParaRPr lang="en-US" sz="1600" dirty="0"/>
          </a:p>
        </p:txBody>
      </p:sp>
      <p:sp>
        <p:nvSpPr>
          <p:cNvPr id="8" name="Text 6"/>
          <p:cNvSpPr/>
          <p:nvPr/>
        </p:nvSpPr>
        <p:spPr>
          <a:xfrm>
            <a:off x="548640" y="4572000"/>
            <a:ext cx="11064240" cy="96012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4.  If renewable share is under 20% at two-thirds of corporate India, what is the hurdle rate on a 10-year PPA versus a 3-year green-loan covenant?</a:t>
            </a:r>
            <a:endParaRPr lang="en-US" sz="1600" dirty="0"/>
          </a:p>
        </p:txBody>
      </p:sp>
      <p:sp>
        <p:nvSpPr>
          <p:cNvPr id="9" name="Shape 7"/>
          <p:cNvSpPr/>
          <p:nvPr/>
        </p:nvSpPr>
        <p:spPr>
          <a:xfrm>
            <a:off x="0" y="6537960"/>
            <a:ext cx="12188952" cy="320040"/>
          </a:xfrm>
          <a:prstGeom prst="rect">
            <a:avLst/>
          </a:prstGeom>
          <a:solidFill>
            <a:srgbClr val="0B1F3A"/>
          </a:solidFill>
          <a:ln/>
        </p:spPr>
      </p:sp>
      <p:sp>
        <p:nvSpPr>
          <p:cNvPr id="10" name="Text 8"/>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9/12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320040"/>
            <a:ext cx="10972800" cy="274320"/>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THE OPERATING DOCTRINE</a:t>
            </a:r>
            <a:endParaRPr lang="en-US" sz="1200" dirty="0"/>
          </a:p>
        </p:txBody>
      </p:sp>
      <p:sp>
        <p:nvSpPr>
          <p:cNvPr id="4" name="Shape 2"/>
          <p:cNvSpPr/>
          <p:nvPr/>
        </p:nvSpPr>
        <p:spPr>
          <a:xfrm>
            <a:off x="457200" y="777240"/>
            <a:ext cx="11247120" cy="960120"/>
          </a:xfrm>
          <a:prstGeom prst="roundRect">
            <a:avLst>
              <a:gd name="adj" fmla="val 3810"/>
            </a:avLst>
          </a:prstGeom>
          <a:solidFill>
            <a:srgbClr val="FFFFFF"/>
          </a:solidFill>
          <a:ln/>
        </p:spPr>
      </p:sp>
      <p:sp>
        <p:nvSpPr>
          <p:cNvPr id="5" name="Text 3"/>
          <p:cNvSpPr/>
          <p:nvPr/>
        </p:nvSpPr>
        <p:spPr>
          <a:xfrm>
            <a:off x="685800" y="914400"/>
            <a:ext cx="310896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AI generates.</a:t>
            </a:r>
            <a:endParaRPr lang="en-US" sz="1800" dirty="0"/>
          </a:p>
        </p:txBody>
      </p:sp>
      <p:sp>
        <p:nvSpPr>
          <p:cNvPr id="6" name="Text 4"/>
          <p:cNvSpPr/>
          <p:nvPr/>
        </p:nvSpPr>
        <p:spPr>
          <a:xfrm>
            <a:off x="3931920" y="914400"/>
            <a:ext cx="7498080" cy="68580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It can scrape every BRSR line. It cannot sit with a supplier who has no meter.</a:t>
            </a:r>
            <a:endParaRPr lang="en-US" sz="1600" dirty="0"/>
          </a:p>
        </p:txBody>
      </p:sp>
      <p:sp>
        <p:nvSpPr>
          <p:cNvPr id="7" name="Shape 5"/>
          <p:cNvSpPr/>
          <p:nvPr/>
        </p:nvSpPr>
        <p:spPr>
          <a:xfrm>
            <a:off x="457200" y="1828800"/>
            <a:ext cx="11247120" cy="960120"/>
          </a:xfrm>
          <a:prstGeom prst="roundRect">
            <a:avLst>
              <a:gd name="adj" fmla="val 3810"/>
            </a:avLst>
          </a:prstGeom>
          <a:solidFill>
            <a:srgbClr val="FFFFFF"/>
          </a:solidFill>
          <a:ln/>
        </p:spPr>
      </p:sp>
      <p:sp>
        <p:nvSpPr>
          <p:cNvPr id="8" name="Text 6"/>
          <p:cNvSpPr/>
          <p:nvPr/>
        </p:nvSpPr>
        <p:spPr>
          <a:xfrm>
            <a:off x="685800" y="1965960"/>
            <a:ext cx="310896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DATA informs.</a:t>
            </a:r>
            <a:endParaRPr lang="en-US" sz="1800" dirty="0"/>
          </a:p>
        </p:txBody>
      </p:sp>
      <p:sp>
        <p:nvSpPr>
          <p:cNvPr id="9" name="Text 7"/>
          <p:cNvSpPr/>
          <p:nvPr/>
        </p:nvSpPr>
        <p:spPr>
          <a:xfrm>
            <a:off x="3931920" y="1965960"/>
            <a:ext cx="7498080" cy="68580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982 filings. 22 sectors. One effective sample. That is a start, not a model.</a:t>
            </a:r>
            <a:endParaRPr lang="en-US" sz="1600" dirty="0"/>
          </a:p>
        </p:txBody>
      </p:sp>
      <p:sp>
        <p:nvSpPr>
          <p:cNvPr id="10" name="Shape 8"/>
          <p:cNvSpPr/>
          <p:nvPr/>
        </p:nvSpPr>
        <p:spPr>
          <a:xfrm>
            <a:off x="457200" y="2880360"/>
            <a:ext cx="11247120" cy="960120"/>
          </a:xfrm>
          <a:prstGeom prst="roundRect">
            <a:avLst>
              <a:gd name="adj" fmla="val 3810"/>
            </a:avLst>
          </a:prstGeom>
          <a:solidFill>
            <a:srgbClr val="FFFFFF"/>
          </a:solidFill>
          <a:ln/>
        </p:spPr>
      </p:sp>
      <p:sp>
        <p:nvSpPr>
          <p:cNvPr id="11" name="Text 9"/>
          <p:cNvSpPr/>
          <p:nvPr/>
        </p:nvSpPr>
        <p:spPr>
          <a:xfrm>
            <a:off x="685800" y="3017520"/>
            <a:ext cx="310896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FINANCE measures.</a:t>
            </a:r>
            <a:endParaRPr lang="en-US" sz="1800" dirty="0"/>
          </a:p>
        </p:txBody>
      </p:sp>
      <p:sp>
        <p:nvSpPr>
          <p:cNvPr id="12" name="Text 10"/>
          <p:cNvSpPr/>
          <p:nvPr/>
        </p:nvSpPr>
        <p:spPr>
          <a:xfrm>
            <a:off x="3931920" y="3017520"/>
            <a:ext cx="7498080" cy="68580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Tonnes become covenants, spreads, and residual value of plant.</a:t>
            </a:r>
            <a:endParaRPr lang="en-US" sz="1600" dirty="0"/>
          </a:p>
        </p:txBody>
      </p:sp>
      <p:sp>
        <p:nvSpPr>
          <p:cNvPr id="13" name="Shape 11"/>
          <p:cNvSpPr/>
          <p:nvPr/>
        </p:nvSpPr>
        <p:spPr>
          <a:xfrm>
            <a:off x="457200" y="3931920"/>
            <a:ext cx="11247120" cy="960120"/>
          </a:xfrm>
          <a:prstGeom prst="roundRect">
            <a:avLst>
              <a:gd name="adj" fmla="val 3810"/>
            </a:avLst>
          </a:prstGeom>
          <a:solidFill>
            <a:srgbClr val="FFFFFF"/>
          </a:solidFill>
          <a:ln/>
        </p:spPr>
      </p:sp>
      <p:sp>
        <p:nvSpPr>
          <p:cNvPr id="14" name="Text 12"/>
          <p:cNvSpPr/>
          <p:nvPr/>
        </p:nvSpPr>
        <p:spPr>
          <a:xfrm>
            <a:off x="685800" y="4069080"/>
            <a:ext cx="3108960" cy="685800"/>
          </a:xfrm>
          <a:prstGeom prst="rect">
            <a:avLst/>
          </a:prstGeom>
          <a:noFill/>
          <a:ln/>
        </p:spPr>
        <p:txBody>
          <a:bodyPr wrap="square" rtlCol="0" anchor="ctr"/>
          <a:lstStyle/>
          <a:p>
            <a:pPr indent="0" marL="0">
              <a:buNone/>
            </a:pPr>
            <a:r>
              <a:rPr lang="en-US" sz="1800" b="1" dirty="0">
                <a:solidFill>
                  <a:srgbClr val="0B1F3A"/>
                </a:solidFill>
                <a:latin typeface="Calibri" pitchFamily="34" charset="0"/>
                <a:ea typeface="Calibri" pitchFamily="34" charset="-122"/>
                <a:cs typeface="Calibri" pitchFamily="34" charset="-120"/>
              </a:rPr>
              <a:t>ACCOUNTING verifies.</a:t>
            </a:r>
            <a:endParaRPr lang="en-US" sz="1800" dirty="0"/>
          </a:p>
        </p:txBody>
      </p:sp>
      <p:sp>
        <p:nvSpPr>
          <p:cNvPr id="15" name="Text 13"/>
          <p:cNvSpPr/>
          <p:nvPr/>
        </p:nvSpPr>
        <p:spPr>
          <a:xfrm>
            <a:off x="3931920" y="4069080"/>
            <a:ext cx="7498080" cy="685800"/>
          </a:xfrm>
          <a:prstGeom prst="rect">
            <a:avLst/>
          </a:prstGeom>
          <a:noFill/>
          <a:ln/>
        </p:spPr>
        <p:txBody>
          <a:bodyPr wrap="square" rtlCol="0" anchor="ctr"/>
          <a:lstStyle/>
          <a:p>
            <a:pPr indent="0" marL="0">
              <a:buNone/>
            </a:pPr>
            <a:r>
              <a:rPr lang="en-US" sz="1600" dirty="0">
                <a:solidFill>
                  <a:srgbClr val="1C2B3A"/>
                </a:solidFill>
                <a:latin typeface="Calibri" pitchFamily="34" charset="0"/>
                <a:ea typeface="Calibri" pitchFamily="34" charset="-122"/>
                <a:cs typeface="Calibri" pitchFamily="34" charset="-120"/>
              </a:rPr>
              <a:t>Assessment or assurance is a control, not a press release.</a:t>
            </a:r>
            <a:endParaRPr lang="en-US" sz="1600" dirty="0"/>
          </a:p>
        </p:txBody>
      </p:sp>
      <p:sp>
        <p:nvSpPr>
          <p:cNvPr id="16" name="Shape 14"/>
          <p:cNvSpPr/>
          <p:nvPr/>
        </p:nvSpPr>
        <p:spPr>
          <a:xfrm>
            <a:off x="457200" y="4983480"/>
            <a:ext cx="11247120" cy="960120"/>
          </a:xfrm>
          <a:prstGeom prst="roundRect">
            <a:avLst>
              <a:gd name="adj" fmla="val 3810"/>
            </a:avLst>
          </a:prstGeom>
          <a:solidFill>
            <a:srgbClr val="0B1F3A"/>
          </a:solidFill>
          <a:ln/>
        </p:spPr>
      </p:sp>
      <p:sp>
        <p:nvSpPr>
          <p:cNvPr id="17" name="Text 15"/>
          <p:cNvSpPr/>
          <p:nvPr/>
        </p:nvSpPr>
        <p:spPr>
          <a:xfrm>
            <a:off x="685800" y="5120640"/>
            <a:ext cx="3108960" cy="685800"/>
          </a:xfrm>
          <a:prstGeom prst="rect">
            <a:avLst/>
          </a:prstGeom>
          <a:noFill/>
          <a:ln/>
        </p:spPr>
        <p:txBody>
          <a:bodyPr wrap="square" rtlCol="0" anchor="ctr"/>
          <a:lstStyle/>
          <a:p>
            <a:pPr indent="0" marL="0">
              <a:buNone/>
            </a:pPr>
            <a:r>
              <a:rPr lang="en-US" sz="1800" b="1" dirty="0">
                <a:solidFill>
                  <a:srgbClr val="C9A227"/>
                </a:solidFill>
                <a:latin typeface="Calibri" pitchFamily="34" charset="0"/>
                <a:ea typeface="Calibri" pitchFamily="34" charset="-122"/>
                <a:cs typeface="Calibri" pitchFamily="34" charset="-120"/>
              </a:rPr>
              <a:t>HUMAN JUDGMENT decides.</a:t>
            </a:r>
            <a:endParaRPr lang="en-US" sz="1800" dirty="0"/>
          </a:p>
        </p:txBody>
      </p:sp>
      <p:sp>
        <p:nvSpPr>
          <p:cNvPr id="18" name="Text 16"/>
          <p:cNvSpPr/>
          <p:nvPr/>
        </p:nvSpPr>
        <p:spPr>
          <a:xfrm>
            <a:off x="3931920" y="5120640"/>
            <a:ext cx="7498080" cy="68580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The board still signs. The CFO still recommends.</a:t>
            </a:r>
            <a:endParaRPr lang="en-US" sz="1600" dirty="0"/>
          </a:p>
        </p:txBody>
      </p:sp>
      <p:sp>
        <p:nvSpPr>
          <p:cNvPr id="19" name="Shape 17"/>
          <p:cNvSpPr/>
          <p:nvPr/>
        </p:nvSpPr>
        <p:spPr>
          <a:xfrm>
            <a:off x="0" y="6537960"/>
            <a:ext cx="12188952" cy="320040"/>
          </a:xfrm>
          <a:prstGeom prst="rect">
            <a:avLst/>
          </a:prstGeom>
          <a:solidFill>
            <a:srgbClr val="0B1F3A"/>
          </a:solidFill>
          <a:ln/>
        </p:spPr>
      </p:sp>
      <p:sp>
        <p:nvSpPr>
          <p:cNvPr id="20" name="Text 18"/>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10/12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EFE4"/>
          </a:solidFill>
          <a:ln/>
        </p:spPr>
      </p:sp>
      <p:sp>
        <p:nvSpPr>
          <p:cNvPr id="3" name="Text 1"/>
          <p:cNvSpPr/>
          <p:nvPr/>
        </p:nvSpPr>
        <p:spPr>
          <a:xfrm>
            <a:off x="457200" y="256032"/>
            <a:ext cx="10972800" cy="256032"/>
          </a:xfrm>
          <a:prstGeom prst="rect">
            <a:avLst/>
          </a:prstGeom>
          <a:noFill/>
          <a:ln/>
        </p:spPr>
        <p:txBody>
          <a:bodyPr wrap="square"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PRIMARY PUBLIC SOURCES</a:t>
            </a:r>
            <a:endParaRPr lang="en-US" sz="1200" dirty="0"/>
          </a:p>
        </p:txBody>
      </p:sp>
      <p:sp>
        <p:nvSpPr>
          <p:cNvPr id="4" name="Text 2"/>
          <p:cNvSpPr/>
          <p:nvPr/>
        </p:nvSpPr>
        <p:spPr>
          <a:xfrm>
            <a:off x="457200" y="502920"/>
            <a:ext cx="10972800" cy="320040"/>
          </a:xfrm>
          <a:prstGeom prst="rect">
            <a:avLst/>
          </a:prstGeom>
          <a:noFill/>
          <a:ln/>
        </p:spPr>
        <p:txBody>
          <a:bodyPr wrap="square" rtlCol="0" anchor="ctr"/>
          <a:lstStyle/>
          <a:p>
            <a:pPr indent="0" marL="0">
              <a:buNone/>
            </a:pPr>
            <a:r>
              <a:rPr lang="en-US" sz="2000" b="1" dirty="0">
                <a:solidFill>
                  <a:srgbClr val="0B1F3A"/>
                </a:solidFill>
                <a:latin typeface="Calibri" pitchFamily="34" charset="0"/>
                <a:ea typeface="Calibri" pitchFamily="34" charset="-122"/>
                <a:cs typeface="Calibri" pitchFamily="34" charset="-120"/>
              </a:rPr>
              <a:t>No figure in this briefing is invented.</a:t>
            </a:r>
            <a:endParaRPr lang="en-US" sz="2000" dirty="0"/>
          </a:p>
        </p:txBody>
      </p:sp>
      <p:sp>
        <p:nvSpPr>
          <p:cNvPr id="5" name="Text 3"/>
          <p:cNvSpPr/>
          <p:nvPr/>
        </p:nvSpPr>
        <p:spPr>
          <a:xfrm>
            <a:off x="457200" y="96012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1.  IIM Bangalore, Supply Chain Management Centre. Business Responsibility and Sustainability in India — BRSR disclosures of India’s top 1,000 listed companies, FY 2024–25. Publication dated 1 August 2026; press coverage 30 August 2026.</a:t>
            </a:r>
            <a:endParaRPr lang="en-US" sz="1400" dirty="0"/>
          </a:p>
        </p:txBody>
      </p:sp>
      <p:sp>
        <p:nvSpPr>
          <p:cNvPr id="6" name="Text 4"/>
          <p:cNvSpPr/>
          <p:nvPr/>
        </p:nvSpPr>
        <p:spPr>
          <a:xfrm>
            <a:off x="457200" y="178308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2.  Business Today / Richa Sharma, 30 August 2026 — operational numbers used in this deck (Scope totals, 53.1%, water, renewables).</a:t>
            </a:r>
            <a:endParaRPr lang="en-US" sz="1400" dirty="0"/>
          </a:p>
        </p:txBody>
      </p:sp>
      <p:sp>
        <p:nvSpPr>
          <p:cNvPr id="7" name="Text 5"/>
          <p:cNvSpPr/>
          <p:nvPr/>
        </p:nvSpPr>
        <p:spPr>
          <a:xfrm>
            <a:off x="457200" y="260604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3.  SEBI circular 12 July 2023 (SEBI/HO/CFD/CFD-SEC-2/P/CIR/2023/122) — original BRSR Core glide path.</a:t>
            </a:r>
            <a:endParaRPr lang="en-US" sz="1400" dirty="0"/>
          </a:p>
        </p:txBody>
      </p:sp>
      <p:sp>
        <p:nvSpPr>
          <p:cNvPr id="8" name="Text 6"/>
          <p:cNvSpPr/>
          <p:nvPr/>
        </p:nvSpPr>
        <p:spPr>
          <a:xfrm>
            <a:off x="457200" y="342900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4.  NSE ESG circular language following SEBI Board, 18 December 2024 — assessment or assurance; value-chain voluntary from FY 2025–26.</a:t>
            </a:r>
            <a:endParaRPr lang="en-US" sz="1400" dirty="0"/>
          </a:p>
        </p:txBody>
      </p:sp>
      <p:sp>
        <p:nvSpPr>
          <p:cNvPr id="9" name="Text 7"/>
          <p:cNvSpPr/>
          <p:nvPr/>
        </p:nvSpPr>
        <p:spPr>
          <a:xfrm>
            <a:off x="457200" y="425196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5.  Climate Risk Horizons study of 35 Indian banks, reported May 2026 (BW Businessworld).</a:t>
            </a:r>
            <a:endParaRPr lang="en-US" sz="1400" dirty="0"/>
          </a:p>
        </p:txBody>
      </p:sp>
      <p:sp>
        <p:nvSpPr>
          <p:cNvPr id="10" name="Text 8"/>
          <p:cNvSpPr/>
          <p:nvPr/>
        </p:nvSpPr>
        <p:spPr>
          <a:xfrm>
            <a:off x="457200" y="5074920"/>
            <a:ext cx="11247120" cy="777240"/>
          </a:xfrm>
          <a:prstGeom prst="rect">
            <a:avLst/>
          </a:prstGeom>
          <a:noFill/>
          <a:ln/>
        </p:spPr>
        <p:txBody>
          <a:bodyPr wrap="square" rtlCol="0" anchor="ctr"/>
          <a:lstStyle/>
          <a:p>
            <a:pPr indent="0" marL="0">
              <a:buNone/>
            </a:pPr>
            <a:r>
              <a:rPr lang="en-US" sz="1400" dirty="0">
                <a:solidFill>
                  <a:srgbClr val="1C2B3A"/>
                </a:solidFill>
                <a:latin typeface="Calibri" pitchFamily="34" charset="0"/>
                <a:ea typeface="Calibri" pitchFamily="34" charset="-122"/>
                <a:cs typeface="Calibri" pitchFamily="34" charset="-120"/>
              </a:rPr>
              <a:t>6.  RBI Climate Risk Information System (RB-CRIS). ISSB IFRS S1/S2 adoption trackers, 2026.</a:t>
            </a:r>
            <a:endParaRPr lang="en-US" sz="1400" dirty="0"/>
          </a:p>
        </p:txBody>
      </p:sp>
      <p:sp>
        <p:nvSpPr>
          <p:cNvPr id="11" name="Shape 9"/>
          <p:cNvSpPr/>
          <p:nvPr/>
        </p:nvSpPr>
        <p:spPr>
          <a:xfrm>
            <a:off x="0" y="6537960"/>
            <a:ext cx="12188952" cy="320040"/>
          </a:xfrm>
          <a:prstGeom prst="rect">
            <a:avLst/>
          </a:prstGeom>
          <a:solidFill>
            <a:srgbClr val="0B1F3A"/>
          </a:solidFill>
          <a:ln/>
        </p:spPr>
      </p:sp>
      <p:sp>
        <p:nvSpPr>
          <p:cNvPr id="12" name="Text 10"/>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11/12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Shape 1"/>
          <p:cNvSpPr/>
          <p:nvPr/>
        </p:nvSpPr>
        <p:spPr>
          <a:xfrm>
            <a:off x="0" y="0"/>
            <a:ext cx="164592" cy="6858000"/>
          </a:xfrm>
          <a:prstGeom prst="rect">
            <a:avLst/>
          </a:prstGeom>
          <a:solidFill>
            <a:srgbClr val="C9A227"/>
          </a:solidFill>
          <a:ln/>
        </p:spPr>
      </p:sp>
      <p:sp>
        <p:nvSpPr>
          <p:cNvPr id="4" name="Text 2"/>
          <p:cNvSpPr/>
          <p:nvPr/>
        </p:nvSpPr>
        <p:spPr>
          <a:xfrm>
            <a:off x="548640" y="411480"/>
            <a:ext cx="10972800" cy="256032"/>
          </a:xfrm>
          <a:prstGeom prst="rect">
            <a:avLst/>
          </a:prstGeom>
          <a:noFill/>
          <a:ln/>
        </p:spPr>
        <p:txBody>
          <a:bodyPr wrap="square"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CONTINUE THE CONVERSATION</a:t>
            </a:r>
            <a:endParaRPr lang="en-US" sz="1200" dirty="0"/>
          </a:p>
        </p:txBody>
      </p:sp>
      <p:sp>
        <p:nvSpPr>
          <p:cNvPr id="5" name="Text 3"/>
          <p:cNvSpPr/>
          <p:nvPr/>
        </p:nvSpPr>
        <p:spPr>
          <a:xfrm>
            <a:off x="548640" y="914400"/>
            <a:ext cx="10972800" cy="4572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Dr. Debasis Pahi</a:t>
            </a:r>
            <a:endParaRPr lang="en-US" sz="3200" dirty="0"/>
          </a:p>
        </p:txBody>
      </p:sp>
      <p:sp>
        <p:nvSpPr>
          <p:cNvPr id="6" name="Text 4"/>
          <p:cNvSpPr/>
          <p:nvPr/>
        </p:nvSpPr>
        <p:spPr>
          <a:xfrm>
            <a:off x="548640" y="1463040"/>
            <a:ext cx="10972800" cy="109728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Assistant Professor, Model Degree College Malkangiri</a:t>
            </a:r>
            <a:endParaRPr lang="en-US" sz="1600" dirty="0"/>
          </a:p>
          <a:p>
            <a:pPr indent="0" marL="0">
              <a:buNone/>
            </a:pPr>
            <a:r>
              <a:rPr lang="en-US" sz="1600" dirty="0">
                <a:solidFill>
                  <a:srgbClr val="F4EFE4"/>
                </a:solidFill>
                <a:latin typeface="Calibri" pitchFamily="34" charset="0"/>
                <a:ea typeface="Calibri" pitchFamily="34" charset="-122"/>
                <a:cs typeface="Calibri" pitchFamily="34" charset="-120"/>
              </a:rPr>
              <a:t>Ph.D., IIT Kharagpur</a:t>
            </a:r>
            <a:endParaRPr lang="en-US" sz="1600" dirty="0"/>
          </a:p>
          <a:p>
            <a:pPr indent="0" marL="0">
              <a:buNone/>
            </a:pPr>
            <a:r>
              <a:rPr lang="en-US" sz="1600" dirty="0">
                <a:solidFill>
                  <a:srgbClr val="F4EFE4"/>
                </a:solidFill>
                <a:latin typeface="Calibri" pitchFamily="34" charset="0"/>
                <a:ea typeface="Calibri" pitchFamily="34" charset="-122"/>
                <a:cs typeface="Calibri" pitchFamily="34" charset="-120"/>
              </a:rPr>
              <a:t>Research: Corporate Governance · Capital Structure · ESG &amp; Sustainable Finance</a:t>
            </a:r>
            <a:endParaRPr lang="en-US" sz="1600" dirty="0"/>
          </a:p>
        </p:txBody>
      </p:sp>
      <p:sp>
        <p:nvSpPr>
          <p:cNvPr id="7" name="Text 5"/>
          <p:cNvSpPr/>
          <p:nvPr/>
        </p:nvSpPr>
        <p:spPr>
          <a:xfrm>
            <a:off x="548640" y="2834640"/>
            <a:ext cx="10972800" cy="2377440"/>
          </a:xfrm>
          <a:prstGeom prst="rect">
            <a:avLst/>
          </a:prstGeom>
          <a:noFill/>
          <a:ln/>
        </p:spPr>
        <p:txBody>
          <a:bodyPr wrap="square" rtlCol="0" anchor="ctr"/>
          <a:lstStyle/>
          <a:p>
            <a:pPr indent="0" marL="0">
              <a:buNone/>
            </a:pPr>
            <a:r>
              <a:rPr lang="en-US" sz="1600" dirty="0">
                <a:solidFill>
                  <a:srgbClr val="F4EFE4"/>
                </a:solidFill>
                <a:latin typeface="Calibri" pitchFamily="34" charset="0"/>
                <a:ea typeface="Calibri" pitchFamily="34" charset="-122"/>
                <a:cs typeface="Calibri" pitchFamily="34" charset="-120"/>
              </a:rPr>
              <a:t>FUTURE CFO 2035  ·  Daily classroom series</a:t>
            </a:r>
            <a:endParaRPr lang="en-US" sz="1600" dirty="0"/>
          </a:p>
          <a:p>
            <a:pPr indent="0" marL="0">
              <a:buNone/>
            </a:pPr>
            <a:r>
              <a:rPr lang="en-US" sz="1600" dirty="0">
                <a:solidFill>
                  <a:srgbClr val="F4EFE4"/>
                </a:solidFill>
                <a:latin typeface="Calibri" pitchFamily="34" charset="0"/>
                <a:ea typeface="Calibri" pitchFamily="34" charset="-122"/>
                <a:cs typeface="Calibri" pitchFamily="34" charset="-120"/>
              </a:rPr>
              <a:t>Created and Copyright by Dr. Debasis Pahi</a:t>
            </a:r>
            <a:endParaRPr lang="en-US" sz="1600" dirty="0"/>
          </a:p>
          <a:p>
            <a:pPr indent="0" marL="0">
              <a:buNone/>
            </a:pPr>
            <a:endParaRPr lang="en-US" sz="1600" dirty="0"/>
          </a:p>
          <a:p>
            <a:pPr indent="0" marL="0">
              <a:buNone/>
            </a:pPr>
            <a:r>
              <a:rPr lang="en-US" sz="1600" dirty="0">
                <a:solidFill>
                  <a:srgbClr val="F4EFE4"/>
                </a:solidFill>
                <a:latin typeface="Calibri" pitchFamily="34" charset="0"/>
                <a:ea typeface="Calibri" pitchFamily="34" charset="-122"/>
                <a:cs typeface="Calibri" pitchFamily="34" charset="-120"/>
              </a:rPr>
              <a:t>Read the 12–15 page case. Answer the assignment questions. Bring a number, not a slogan, to the next seminar.</a:t>
            </a:r>
            <a:endParaRPr lang="en-US" sz="1600" dirty="0"/>
          </a:p>
          <a:p>
            <a:pPr indent="0" marL="0">
              <a:buNone/>
            </a:pPr>
            <a:endParaRPr lang="en-US" sz="1600" dirty="0"/>
          </a:p>
          <a:p>
            <a:pPr indent="0" marL="0">
              <a:buNone/>
            </a:pPr>
            <a:r>
              <a:rPr lang="en-US" sz="1600" dirty="0">
                <a:solidFill>
                  <a:srgbClr val="F4EFE4"/>
                </a:solidFill>
                <a:latin typeface="Calibri" pitchFamily="34" charset="0"/>
                <a:ea typeface="Calibri" pitchFamily="34" charset="-122"/>
                <a:cs typeface="Calibri" pitchFamily="34" charset="-120"/>
              </a:rPr>
              <a:t>AI generates. DATA informs. FINANCE measures. ACCOUNTING verifies. HUMAN JUDGMENT decides.</a:t>
            </a:r>
            <a:endParaRPr lang="en-US" sz="1600" dirty="0"/>
          </a:p>
        </p:txBody>
      </p:sp>
      <p:sp>
        <p:nvSpPr>
          <p:cNvPr id="8" name="Shape 6"/>
          <p:cNvSpPr/>
          <p:nvPr/>
        </p:nvSpPr>
        <p:spPr>
          <a:xfrm>
            <a:off x="0" y="6537960"/>
            <a:ext cx="12188952" cy="320040"/>
          </a:xfrm>
          <a:prstGeom prst="rect">
            <a:avLst/>
          </a:prstGeom>
          <a:solidFill>
            <a:srgbClr val="0B1F3A"/>
          </a:solidFill>
          <a:ln/>
        </p:spPr>
      </p:sp>
      <p:sp>
        <p:nvSpPr>
          <p:cNvPr id="9" name="Text 7"/>
          <p:cNvSpPr/>
          <p:nvPr/>
        </p:nvSpPr>
        <p:spPr>
          <a:xfrm>
            <a:off x="274320" y="6556248"/>
            <a:ext cx="11612880" cy="274320"/>
          </a:xfrm>
          <a:prstGeom prst="rect">
            <a:avLst/>
          </a:prstGeom>
          <a:noFill/>
          <a:ln/>
        </p:spPr>
        <p:txBody>
          <a:bodyPr wrap="square" lIns="0" tIns="0" rIns="0" bIns="0" rtlCol="0" anchor="ctr"/>
          <a:lstStyle/>
          <a:p>
            <a:pPr indent="0" marL="0">
              <a:buNone/>
            </a:pPr>
            <a:r>
              <a:rPr lang="en-US" sz="1000" dirty="0">
                <a:solidFill>
                  <a:srgbClr val="F4EFE4"/>
                </a:solidFill>
                <a:latin typeface="Calibri" pitchFamily="34" charset="0"/>
                <a:ea typeface="Calibri" pitchFamily="34" charset="-122"/>
                <a:cs typeface="Calibri" pitchFamily="34" charset="-120"/>
              </a:rPr>
              <a:t>Dr. Debasis Pahi | When Scope 3 Outruns the P&amp;L | 02 September 2026  ·  12/12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CFO 2035 — When Scope 3 Outruns the P&amp;L</dc:title>
  <dc:subject>BRSR Core, IIMB FY25 emissions study, and the FY 2026-27 assurance glide path</dc:subject>
  <dc:creator>Dr. Debasis Pahi</dc:creator>
  <cp:lastModifiedBy>Dr. Debasis Pahi</cp:lastModifiedBy>
  <cp:revision>1</cp:revision>
  <dcterms:created xsi:type="dcterms:W3CDTF">2026-09-02T00:10:14Z</dcterms:created>
  <dcterms:modified xsi:type="dcterms:W3CDTF">2026-09-02T00:10:14Z</dcterms:modified>
</cp:coreProperties>
</file>